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84" r:id="rId2"/>
    <p:sldId id="385" r:id="rId3"/>
    <p:sldId id="414" r:id="rId4"/>
    <p:sldId id="386" r:id="rId5"/>
    <p:sldId id="388" r:id="rId6"/>
    <p:sldId id="415" r:id="rId7"/>
    <p:sldId id="296" r:id="rId8"/>
    <p:sldId id="297" r:id="rId9"/>
    <p:sldId id="298" r:id="rId10"/>
    <p:sldId id="395" r:id="rId11"/>
    <p:sldId id="397" r:id="rId12"/>
    <p:sldId id="398" r:id="rId13"/>
    <p:sldId id="399" r:id="rId14"/>
    <p:sldId id="400" r:id="rId15"/>
    <p:sldId id="401" r:id="rId16"/>
    <p:sldId id="421" r:id="rId17"/>
    <p:sldId id="402" r:id="rId18"/>
    <p:sldId id="403" r:id="rId19"/>
    <p:sldId id="404" r:id="rId20"/>
    <p:sldId id="405" r:id="rId21"/>
    <p:sldId id="406" r:id="rId22"/>
    <p:sldId id="407" r:id="rId23"/>
    <p:sldId id="408" r:id="rId24"/>
    <p:sldId id="409" r:id="rId25"/>
    <p:sldId id="410" r:id="rId26"/>
    <p:sldId id="411" r:id="rId27"/>
    <p:sldId id="412" r:id="rId28"/>
    <p:sldId id="413" r:id="rId29"/>
    <p:sldId id="416" r:id="rId30"/>
    <p:sldId id="417" r:id="rId31"/>
    <p:sldId id="418" r:id="rId32"/>
    <p:sldId id="419" r:id="rId33"/>
    <p:sldId id="420" r:id="rId34"/>
    <p:sldId id="422" r:id="rId35"/>
    <p:sldId id="423" r:id="rId36"/>
    <p:sldId id="424" r:id="rId37"/>
    <p:sldId id="425" r:id="rId38"/>
    <p:sldId id="426" r:id="rId39"/>
    <p:sldId id="427" r:id="rId40"/>
    <p:sldId id="428" r:id="rId41"/>
    <p:sldId id="429" r:id="rId42"/>
    <p:sldId id="451" r:id="rId43"/>
    <p:sldId id="452" r:id="rId44"/>
    <p:sldId id="453" r:id="rId45"/>
    <p:sldId id="430" r:id="rId46"/>
    <p:sldId id="431" r:id="rId47"/>
    <p:sldId id="432" r:id="rId48"/>
    <p:sldId id="433" r:id="rId49"/>
    <p:sldId id="454" r:id="rId50"/>
    <p:sldId id="434" r:id="rId51"/>
    <p:sldId id="435" r:id="rId52"/>
    <p:sldId id="436" r:id="rId53"/>
    <p:sldId id="437" r:id="rId54"/>
    <p:sldId id="438" r:id="rId55"/>
    <p:sldId id="439" r:id="rId56"/>
    <p:sldId id="440" r:id="rId57"/>
    <p:sldId id="441" r:id="rId58"/>
    <p:sldId id="443" r:id="rId59"/>
    <p:sldId id="541" r:id="rId60"/>
    <p:sldId id="542" r:id="rId61"/>
    <p:sldId id="543" r:id="rId62"/>
    <p:sldId id="544" r:id="rId63"/>
    <p:sldId id="527" r:id="rId64"/>
    <p:sldId id="528" r:id="rId65"/>
    <p:sldId id="529" r:id="rId66"/>
    <p:sldId id="530" r:id="rId67"/>
    <p:sldId id="532" r:id="rId68"/>
    <p:sldId id="545" r:id="rId69"/>
    <p:sldId id="546" r:id="rId70"/>
    <p:sldId id="533" r:id="rId71"/>
    <p:sldId id="534" r:id="rId72"/>
    <p:sldId id="535" r:id="rId73"/>
    <p:sldId id="540" r:id="rId74"/>
    <p:sldId id="536" r:id="rId75"/>
    <p:sldId id="537" r:id="rId76"/>
    <p:sldId id="538" r:id="rId77"/>
    <p:sldId id="539" r:id="rId78"/>
    <p:sldId id="549" r:id="rId79"/>
    <p:sldId id="548" r:id="rId80"/>
    <p:sldId id="552" r:id="rId81"/>
    <p:sldId id="550" r:id="rId82"/>
    <p:sldId id="551" r:id="rId83"/>
    <p:sldId id="553" r:id="rId84"/>
    <p:sldId id="554" r:id="rId85"/>
    <p:sldId id="555" r:id="rId86"/>
    <p:sldId id="556" r:id="rId87"/>
    <p:sldId id="557" r:id="rId88"/>
    <p:sldId id="558" r:id="rId89"/>
    <p:sldId id="559" r:id="rId90"/>
    <p:sldId id="560" r:id="rId91"/>
    <p:sldId id="561" r:id="rId92"/>
    <p:sldId id="562" r:id="rId93"/>
    <p:sldId id="563" r:id="rId94"/>
    <p:sldId id="564" r:id="rId95"/>
    <p:sldId id="565" r:id="rId96"/>
    <p:sldId id="566" r:id="rId97"/>
    <p:sldId id="567" r:id="rId98"/>
    <p:sldId id="568" r:id="rId99"/>
    <p:sldId id="569" r:id="rId100"/>
    <p:sldId id="570" r:id="rId101"/>
    <p:sldId id="571" r:id="rId102"/>
    <p:sldId id="572"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33"/>
            <a:ext cx="12192000" cy="2282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1" name="Google Shape;11;p2"/>
          <p:cNvCxnSpPr/>
          <p:nvPr/>
        </p:nvCxnSpPr>
        <p:spPr>
          <a:xfrm>
            <a:off x="855912" y="4796667"/>
            <a:ext cx="5204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683600" y="2524400"/>
            <a:ext cx="10824800" cy="2030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5600">
                <a:solidFill>
                  <a:schemeClr val="accent1"/>
                </a:solidFill>
              </a:defRPr>
            </a:lvl1pPr>
            <a:lvl2pPr lvl="1">
              <a:spcBef>
                <a:spcPts val="0"/>
              </a:spcBef>
              <a:spcAft>
                <a:spcPts val="0"/>
              </a:spcAft>
              <a:buClr>
                <a:schemeClr val="accent1"/>
              </a:buClr>
              <a:buSzPts val="4200"/>
              <a:buNone/>
              <a:defRPr sz="5600">
                <a:solidFill>
                  <a:schemeClr val="accent1"/>
                </a:solidFill>
              </a:defRPr>
            </a:lvl2pPr>
            <a:lvl3pPr lvl="2">
              <a:spcBef>
                <a:spcPts val="0"/>
              </a:spcBef>
              <a:spcAft>
                <a:spcPts val="0"/>
              </a:spcAft>
              <a:buClr>
                <a:schemeClr val="accent1"/>
              </a:buClr>
              <a:buSzPts val="4200"/>
              <a:buNone/>
              <a:defRPr sz="5600">
                <a:solidFill>
                  <a:schemeClr val="accent1"/>
                </a:solidFill>
              </a:defRPr>
            </a:lvl3pPr>
            <a:lvl4pPr lvl="3">
              <a:spcBef>
                <a:spcPts val="0"/>
              </a:spcBef>
              <a:spcAft>
                <a:spcPts val="0"/>
              </a:spcAft>
              <a:buClr>
                <a:schemeClr val="accent1"/>
              </a:buClr>
              <a:buSzPts val="4200"/>
              <a:buNone/>
              <a:defRPr sz="5600">
                <a:solidFill>
                  <a:schemeClr val="accent1"/>
                </a:solidFill>
              </a:defRPr>
            </a:lvl4pPr>
            <a:lvl5pPr lvl="4">
              <a:spcBef>
                <a:spcPts val="0"/>
              </a:spcBef>
              <a:spcAft>
                <a:spcPts val="0"/>
              </a:spcAft>
              <a:buClr>
                <a:schemeClr val="accent1"/>
              </a:buClr>
              <a:buSzPts val="4200"/>
              <a:buNone/>
              <a:defRPr sz="5600">
                <a:solidFill>
                  <a:schemeClr val="accent1"/>
                </a:solidFill>
              </a:defRPr>
            </a:lvl5pPr>
            <a:lvl6pPr lvl="5">
              <a:spcBef>
                <a:spcPts val="0"/>
              </a:spcBef>
              <a:spcAft>
                <a:spcPts val="0"/>
              </a:spcAft>
              <a:buClr>
                <a:schemeClr val="accent1"/>
              </a:buClr>
              <a:buSzPts val="4200"/>
              <a:buNone/>
              <a:defRPr sz="5600">
                <a:solidFill>
                  <a:schemeClr val="accent1"/>
                </a:solidFill>
              </a:defRPr>
            </a:lvl6pPr>
            <a:lvl7pPr lvl="6">
              <a:spcBef>
                <a:spcPts val="0"/>
              </a:spcBef>
              <a:spcAft>
                <a:spcPts val="0"/>
              </a:spcAft>
              <a:buClr>
                <a:schemeClr val="accent1"/>
              </a:buClr>
              <a:buSzPts val="4200"/>
              <a:buNone/>
              <a:defRPr sz="5600">
                <a:solidFill>
                  <a:schemeClr val="accent1"/>
                </a:solidFill>
              </a:defRPr>
            </a:lvl7pPr>
            <a:lvl8pPr lvl="7">
              <a:spcBef>
                <a:spcPts val="0"/>
              </a:spcBef>
              <a:spcAft>
                <a:spcPts val="0"/>
              </a:spcAft>
              <a:buClr>
                <a:schemeClr val="accent1"/>
              </a:buClr>
              <a:buSzPts val="4200"/>
              <a:buNone/>
              <a:defRPr sz="5600">
                <a:solidFill>
                  <a:schemeClr val="accent1"/>
                </a:solidFill>
              </a:defRPr>
            </a:lvl8pPr>
            <a:lvl9pPr lvl="8">
              <a:spcBef>
                <a:spcPts val="0"/>
              </a:spcBef>
              <a:spcAft>
                <a:spcPts val="0"/>
              </a:spcAft>
              <a:buClr>
                <a:schemeClr val="accent1"/>
              </a:buClr>
              <a:buSzPts val="4200"/>
              <a:buNone/>
              <a:defRPr sz="5600">
                <a:solidFill>
                  <a:schemeClr val="accent1"/>
                </a:solidFill>
              </a:defRPr>
            </a:lvl9pPr>
          </a:lstStyle>
          <a:p>
            <a:endParaRPr/>
          </a:p>
        </p:txBody>
      </p:sp>
      <p:sp>
        <p:nvSpPr>
          <p:cNvPr id="13" name="Google Shape;13;p2"/>
          <p:cNvSpPr txBox="1">
            <a:spLocks noGrp="1"/>
          </p:cNvSpPr>
          <p:nvPr>
            <p:ph type="subTitle" idx="1"/>
          </p:nvPr>
        </p:nvSpPr>
        <p:spPr>
          <a:xfrm>
            <a:off x="683600" y="5120852"/>
            <a:ext cx="10824800" cy="105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3200">
                <a:solidFill>
                  <a:schemeClr val="accent2"/>
                </a:solidFill>
              </a:defRPr>
            </a:lvl1pPr>
            <a:lvl2pPr lvl="1">
              <a:lnSpc>
                <a:spcPct val="100000"/>
              </a:lnSpc>
              <a:spcBef>
                <a:spcPts val="0"/>
              </a:spcBef>
              <a:spcAft>
                <a:spcPts val="0"/>
              </a:spcAft>
              <a:buClr>
                <a:schemeClr val="accent2"/>
              </a:buClr>
              <a:buSzPts val="2400"/>
              <a:buNone/>
              <a:defRPr sz="3200">
                <a:solidFill>
                  <a:schemeClr val="accent2"/>
                </a:solidFill>
              </a:defRPr>
            </a:lvl2pPr>
            <a:lvl3pPr lvl="2">
              <a:lnSpc>
                <a:spcPct val="100000"/>
              </a:lnSpc>
              <a:spcBef>
                <a:spcPts val="0"/>
              </a:spcBef>
              <a:spcAft>
                <a:spcPts val="0"/>
              </a:spcAft>
              <a:buClr>
                <a:schemeClr val="accent2"/>
              </a:buClr>
              <a:buSzPts val="2400"/>
              <a:buNone/>
              <a:defRPr sz="3200">
                <a:solidFill>
                  <a:schemeClr val="accent2"/>
                </a:solidFill>
              </a:defRPr>
            </a:lvl3pPr>
            <a:lvl4pPr lvl="3">
              <a:lnSpc>
                <a:spcPct val="100000"/>
              </a:lnSpc>
              <a:spcBef>
                <a:spcPts val="0"/>
              </a:spcBef>
              <a:spcAft>
                <a:spcPts val="0"/>
              </a:spcAft>
              <a:buClr>
                <a:schemeClr val="accent2"/>
              </a:buClr>
              <a:buSzPts val="2400"/>
              <a:buNone/>
              <a:defRPr sz="3200">
                <a:solidFill>
                  <a:schemeClr val="accent2"/>
                </a:solidFill>
              </a:defRPr>
            </a:lvl4pPr>
            <a:lvl5pPr lvl="4">
              <a:lnSpc>
                <a:spcPct val="100000"/>
              </a:lnSpc>
              <a:spcBef>
                <a:spcPts val="0"/>
              </a:spcBef>
              <a:spcAft>
                <a:spcPts val="0"/>
              </a:spcAft>
              <a:buClr>
                <a:schemeClr val="accent2"/>
              </a:buClr>
              <a:buSzPts val="2400"/>
              <a:buNone/>
              <a:defRPr sz="3200">
                <a:solidFill>
                  <a:schemeClr val="accent2"/>
                </a:solidFill>
              </a:defRPr>
            </a:lvl5pPr>
            <a:lvl6pPr lvl="5">
              <a:lnSpc>
                <a:spcPct val="100000"/>
              </a:lnSpc>
              <a:spcBef>
                <a:spcPts val="0"/>
              </a:spcBef>
              <a:spcAft>
                <a:spcPts val="0"/>
              </a:spcAft>
              <a:buClr>
                <a:schemeClr val="accent2"/>
              </a:buClr>
              <a:buSzPts val="2400"/>
              <a:buNone/>
              <a:defRPr sz="3200">
                <a:solidFill>
                  <a:schemeClr val="accent2"/>
                </a:solidFill>
              </a:defRPr>
            </a:lvl6pPr>
            <a:lvl7pPr lvl="6">
              <a:lnSpc>
                <a:spcPct val="100000"/>
              </a:lnSpc>
              <a:spcBef>
                <a:spcPts val="0"/>
              </a:spcBef>
              <a:spcAft>
                <a:spcPts val="0"/>
              </a:spcAft>
              <a:buClr>
                <a:schemeClr val="accent2"/>
              </a:buClr>
              <a:buSzPts val="2400"/>
              <a:buNone/>
              <a:defRPr sz="3200">
                <a:solidFill>
                  <a:schemeClr val="accent2"/>
                </a:solidFill>
              </a:defRPr>
            </a:lvl7pPr>
            <a:lvl8pPr lvl="7">
              <a:lnSpc>
                <a:spcPct val="100000"/>
              </a:lnSpc>
              <a:spcBef>
                <a:spcPts val="0"/>
              </a:spcBef>
              <a:spcAft>
                <a:spcPts val="0"/>
              </a:spcAft>
              <a:buClr>
                <a:schemeClr val="accent2"/>
              </a:buClr>
              <a:buSzPts val="2400"/>
              <a:buNone/>
              <a:defRPr sz="3200">
                <a:solidFill>
                  <a:schemeClr val="accent2"/>
                </a:solidFill>
              </a:defRPr>
            </a:lvl8pPr>
            <a:lvl9pPr lvl="8">
              <a:lnSpc>
                <a:spcPct val="100000"/>
              </a:lnSpc>
              <a:spcBef>
                <a:spcPts val="0"/>
              </a:spcBef>
              <a:spcAft>
                <a:spcPts val="0"/>
              </a:spcAft>
              <a:buClr>
                <a:schemeClr val="accent2"/>
              </a:buClr>
              <a:buSzPts val="2400"/>
              <a:buNone/>
              <a:defRPr sz="3200">
                <a:solidFill>
                  <a:schemeClr val="accent2"/>
                </a:solidFill>
              </a:defRPr>
            </a:lvl9pPr>
          </a:lstStyle>
          <a:p>
            <a:endParaRPr/>
          </a:p>
        </p:txBody>
      </p:sp>
      <p:sp>
        <p:nvSpPr>
          <p:cNvPr id="14" name="Google Shape;14;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07928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855912" y="4796667"/>
            <a:ext cx="5204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683600" y="2524400"/>
            <a:ext cx="10824800" cy="2030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6000"/>
              <a:buNone/>
              <a:defRPr sz="8000">
                <a:solidFill>
                  <a:schemeClr val="accent1"/>
                </a:solidFill>
              </a:defRPr>
            </a:lvl1pPr>
            <a:lvl2pPr lvl="1">
              <a:spcBef>
                <a:spcPts val="0"/>
              </a:spcBef>
              <a:spcAft>
                <a:spcPts val="0"/>
              </a:spcAft>
              <a:buClr>
                <a:schemeClr val="accent1"/>
              </a:buClr>
              <a:buSzPts val="6000"/>
              <a:buNone/>
              <a:defRPr sz="8000">
                <a:solidFill>
                  <a:schemeClr val="accent1"/>
                </a:solidFill>
              </a:defRPr>
            </a:lvl2pPr>
            <a:lvl3pPr lvl="2">
              <a:spcBef>
                <a:spcPts val="0"/>
              </a:spcBef>
              <a:spcAft>
                <a:spcPts val="0"/>
              </a:spcAft>
              <a:buClr>
                <a:schemeClr val="accent1"/>
              </a:buClr>
              <a:buSzPts val="6000"/>
              <a:buNone/>
              <a:defRPr sz="8000">
                <a:solidFill>
                  <a:schemeClr val="accent1"/>
                </a:solidFill>
              </a:defRPr>
            </a:lvl3pPr>
            <a:lvl4pPr lvl="3">
              <a:spcBef>
                <a:spcPts val="0"/>
              </a:spcBef>
              <a:spcAft>
                <a:spcPts val="0"/>
              </a:spcAft>
              <a:buClr>
                <a:schemeClr val="accent1"/>
              </a:buClr>
              <a:buSzPts val="6000"/>
              <a:buNone/>
              <a:defRPr sz="8000">
                <a:solidFill>
                  <a:schemeClr val="accent1"/>
                </a:solidFill>
              </a:defRPr>
            </a:lvl4pPr>
            <a:lvl5pPr lvl="4">
              <a:spcBef>
                <a:spcPts val="0"/>
              </a:spcBef>
              <a:spcAft>
                <a:spcPts val="0"/>
              </a:spcAft>
              <a:buClr>
                <a:schemeClr val="accent1"/>
              </a:buClr>
              <a:buSzPts val="6000"/>
              <a:buNone/>
              <a:defRPr sz="8000">
                <a:solidFill>
                  <a:schemeClr val="accent1"/>
                </a:solidFill>
              </a:defRPr>
            </a:lvl5pPr>
            <a:lvl6pPr lvl="5">
              <a:spcBef>
                <a:spcPts val="0"/>
              </a:spcBef>
              <a:spcAft>
                <a:spcPts val="0"/>
              </a:spcAft>
              <a:buClr>
                <a:schemeClr val="accent1"/>
              </a:buClr>
              <a:buSzPts val="6000"/>
              <a:buNone/>
              <a:defRPr sz="8000">
                <a:solidFill>
                  <a:schemeClr val="accent1"/>
                </a:solidFill>
              </a:defRPr>
            </a:lvl6pPr>
            <a:lvl7pPr lvl="6">
              <a:spcBef>
                <a:spcPts val="0"/>
              </a:spcBef>
              <a:spcAft>
                <a:spcPts val="0"/>
              </a:spcAft>
              <a:buClr>
                <a:schemeClr val="accent1"/>
              </a:buClr>
              <a:buSzPts val="6000"/>
              <a:buNone/>
              <a:defRPr sz="8000">
                <a:solidFill>
                  <a:schemeClr val="accent1"/>
                </a:solidFill>
              </a:defRPr>
            </a:lvl7pPr>
            <a:lvl8pPr lvl="7">
              <a:spcBef>
                <a:spcPts val="0"/>
              </a:spcBef>
              <a:spcAft>
                <a:spcPts val="0"/>
              </a:spcAft>
              <a:buClr>
                <a:schemeClr val="accent1"/>
              </a:buClr>
              <a:buSzPts val="6000"/>
              <a:buNone/>
              <a:defRPr sz="8000">
                <a:solidFill>
                  <a:schemeClr val="accent1"/>
                </a:solidFill>
              </a:defRPr>
            </a:lvl8pPr>
            <a:lvl9pPr lvl="8">
              <a:spcBef>
                <a:spcPts val="0"/>
              </a:spcBef>
              <a:spcAft>
                <a:spcPts val="0"/>
              </a:spcAft>
              <a:buClr>
                <a:schemeClr val="accent1"/>
              </a:buClr>
              <a:buSzPts val="6000"/>
              <a:buNone/>
              <a:defRPr sz="8000">
                <a:solidFill>
                  <a:schemeClr val="accent1"/>
                </a:solidFill>
              </a:defRPr>
            </a:lvl9pPr>
          </a:lstStyle>
          <a:p>
            <a:endParaRPr/>
          </a:p>
        </p:txBody>
      </p:sp>
      <p:sp>
        <p:nvSpPr>
          <p:cNvPr id="18" name="Google Shape;18;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44287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415600" y="1562133"/>
            <a:ext cx="11360800" cy="4529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12327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415600" y="1562233"/>
            <a:ext cx="5333200" cy="4529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7" name="Google Shape;27;p5"/>
          <p:cNvSpPr txBox="1">
            <a:spLocks noGrp="1"/>
          </p:cNvSpPr>
          <p:nvPr>
            <p:ph type="body" idx="2"/>
          </p:nvPr>
        </p:nvSpPr>
        <p:spPr>
          <a:xfrm>
            <a:off x="6443200" y="1562233"/>
            <a:ext cx="5333200" cy="4529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8" name="Google Shape;28;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84529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766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4" name="Google Shape;34;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5" name="Google Shape;35;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30232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653667" y="701800"/>
            <a:ext cx="7472000" cy="5454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7200">
                <a:solidFill>
                  <a:schemeClr val="accent1"/>
                </a:solidFill>
              </a:defRPr>
            </a:lvl1pPr>
            <a:lvl2pPr lvl="1">
              <a:spcBef>
                <a:spcPts val="0"/>
              </a:spcBef>
              <a:spcAft>
                <a:spcPts val="0"/>
              </a:spcAft>
              <a:buClr>
                <a:schemeClr val="accent1"/>
              </a:buClr>
              <a:buSzPts val="5400"/>
              <a:buNone/>
              <a:defRPr sz="7200">
                <a:solidFill>
                  <a:schemeClr val="accent1"/>
                </a:solidFill>
              </a:defRPr>
            </a:lvl2pPr>
            <a:lvl3pPr lvl="2">
              <a:spcBef>
                <a:spcPts val="0"/>
              </a:spcBef>
              <a:spcAft>
                <a:spcPts val="0"/>
              </a:spcAft>
              <a:buClr>
                <a:schemeClr val="accent1"/>
              </a:buClr>
              <a:buSzPts val="5400"/>
              <a:buNone/>
              <a:defRPr sz="7200">
                <a:solidFill>
                  <a:schemeClr val="accent1"/>
                </a:solidFill>
              </a:defRPr>
            </a:lvl3pPr>
            <a:lvl4pPr lvl="3">
              <a:spcBef>
                <a:spcPts val="0"/>
              </a:spcBef>
              <a:spcAft>
                <a:spcPts val="0"/>
              </a:spcAft>
              <a:buClr>
                <a:schemeClr val="accent1"/>
              </a:buClr>
              <a:buSzPts val="5400"/>
              <a:buNone/>
              <a:defRPr sz="7200">
                <a:solidFill>
                  <a:schemeClr val="accent1"/>
                </a:solidFill>
              </a:defRPr>
            </a:lvl4pPr>
            <a:lvl5pPr lvl="4">
              <a:spcBef>
                <a:spcPts val="0"/>
              </a:spcBef>
              <a:spcAft>
                <a:spcPts val="0"/>
              </a:spcAft>
              <a:buClr>
                <a:schemeClr val="accent1"/>
              </a:buClr>
              <a:buSzPts val="5400"/>
              <a:buNone/>
              <a:defRPr sz="7200">
                <a:solidFill>
                  <a:schemeClr val="accent1"/>
                </a:solidFill>
              </a:defRPr>
            </a:lvl5pPr>
            <a:lvl6pPr lvl="5">
              <a:spcBef>
                <a:spcPts val="0"/>
              </a:spcBef>
              <a:spcAft>
                <a:spcPts val="0"/>
              </a:spcAft>
              <a:buClr>
                <a:schemeClr val="accent1"/>
              </a:buClr>
              <a:buSzPts val="5400"/>
              <a:buNone/>
              <a:defRPr sz="7200">
                <a:solidFill>
                  <a:schemeClr val="accent1"/>
                </a:solidFill>
              </a:defRPr>
            </a:lvl6pPr>
            <a:lvl7pPr lvl="6">
              <a:spcBef>
                <a:spcPts val="0"/>
              </a:spcBef>
              <a:spcAft>
                <a:spcPts val="0"/>
              </a:spcAft>
              <a:buClr>
                <a:schemeClr val="accent1"/>
              </a:buClr>
              <a:buSzPts val="5400"/>
              <a:buNone/>
              <a:defRPr sz="7200">
                <a:solidFill>
                  <a:schemeClr val="accent1"/>
                </a:solidFill>
              </a:defRPr>
            </a:lvl7pPr>
            <a:lvl8pPr lvl="7">
              <a:spcBef>
                <a:spcPts val="0"/>
              </a:spcBef>
              <a:spcAft>
                <a:spcPts val="0"/>
              </a:spcAft>
              <a:buClr>
                <a:schemeClr val="accent1"/>
              </a:buClr>
              <a:buSzPts val="5400"/>
              <a:buNone/>
              <a:defRPr sz="7200">
                <a:solidFill>
                  <a:schemeClr val="accent1"/>
                </a:solidFill>
              </a:defRPr>
            </a:lvl8pPr>
            <a:lvl9pPr lvl="8">
              <a:spcBef>
                <a:spcPts val="0"/>
              </a:spcBef>
              <a:spcAft>
                <a:spcPts val="0"/>
              </a:spcAft>
              <a:buClr>
                <a:schemeClr val="accent1"/>
              </a:buClr>
              <a:buSzPts val="5400"/>
              <a:buNone/>
              <a:defRPr sz="7200">
                <a:solidFill>
                  <a:schemeClr val="accent1"/>
                </a:solidFill>
              </a:defRPr>
            </a:lvl9pPr>
          </a:lstStyle>
          <a:p>
            <a:endParaRPr/>
          </a:p>
        </p:txBody>
      </p:sp>
      <p:sp>
        <p:nvSpPr>
          <p:cNvPr id="38" name="Google Shape;38;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56859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
        <p:cNvGrpSpPr/>
        <p:nvPr/>
      </p:nvGrpSpPr>
      <p:grpSpPr>
        <a:xfrm>
          <a:off x="0" y="0"/>
          <a:ext cx="0" cy="0"/>
          <a:chOff x="0" y="0"/>
          <a:chExt cx="0" cy="0"/>
        </a:xfrm>
      </p:grpSpPr>
      <p:sp>
        <p:nvSpPr>
          <p:cNvPr id="40" name="Google Shape;40;p9"/>
          <p:cNvSpPr/>
          <p:nvPr/>
        </p:nvSpPr>
        <p:spPr>
          <a:xfrm>
            <a:off x="6096000" y="-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1" name="Google Shape;41;p9"/>
          <p:cNvCxnSpPr/>
          <p:nvPr/>
        </p:nvCxnSpPr>
        <p:spPr>
          <a:xfrm>
            <a:off x="6706233" y="5994000"/>
            <a:ext cx="9152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354000" y="1843133"/>
            <a:ext cx="5393600" cy="1777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sz="5600">
                <a:solidFill>
                  <a:schemeClr val="lt2"/>
                </a:solidFill>
              </a:defRPr>
            </a:lvl1pPr>
            <a:lvl2pPr lvl="1" algn="ctr">
              <a:spcBef>
                <a:spcPts val="0"/>
              </a:spcBef>
              <a:spcAft>
                <a:spcPts val="0"/>
              </a:spcAft>
              <a:buClr>
                <a:schemeClr val="lt2"/>
              </a:buClr>
              <a:buSzPts val="4200"/>
              <a:buNone/>
              <a:defRPr sz="5600">
                <a:solidFill>
                  <a:schemeClr val="lt2"/>
                </a:solidFill>
              </a:defRPr>
            </a:lvl2pPr>
            <a:lvl3pPr lvl="2" algn="ctr">
              <a:spcBef>
                <a:spcPts val="0"/>
              </a:spcBef>
              <a:spcAft>
                <a:spcPts val="0"/>
              </a:spcAft>
              <a:buClr>
                <a:schemeClr val="lt2"/>
              </a:buClr>
              <a:buSzPts val="4200"/>
              <a:buNone/>
              <a:defRPr sz="5600">
                <a:solidFill>
                  <a:schemeClr val="lt2"/>
                </a:solidFill>
              </a:defRPr>
            </a:lvl3pPr>
            <a:lvl4pPr lvl="3" algn="ctr">
              <a:spcBef>
                <a:spcPts val="0"/>
              </a:spcBef>
              <a:spcAft>
                <a:spcPts val="0"/>
              </a:spcAft>
              <a:buClr>
                <a:schemeClr val="lt2"/>
              </a:buClr>
              <a:buSzPts val="4200"/>
              <a:buNone/>
              <a:defRPr sz="5600">
                <a:solidFill>
                  <a:schemeClr val="lt2"/>
                </a:solidFill>
              </a:defRPr>
            </a:lvl4pPr>
            <a:lvl5pPr lvl="4" algn="ctr">
              <a:spcBef>
                <a:spcPts val="0"/>
              </a:spcBef>
              <a:spcAft>
                <a:spcPts val="0"/>
              </a:spcAft>
              <a:buClr>
                <a:schemeClr val="lt2"/>
              </a:buClr>
              <a:buSzPts val="4200"/>
              <a:buNone/>
              <a:defRPr sz="5600">
                <a:solidFill>
                  <a:schemeClr val="lt2"/>
                </a:solidFill>
              </a:defRPr>
            </a:lvl5pPr>
            <a:lvl6pPr lvl="5" algn="ctr">
              <a:spcBef>
                <a:spcPts val="0"/>
              </a:spcBef>
              <a:spcAft>
                <a:spcPts val="0"/>
              </a:spcAft>
              <a:buClr>
                <a:schemeClr val="lt2"/>
              </a:buClr>
              <a:buSzPts val="4200"/>
              <a:buNone/>
              <a:defRPr sz="5600">
                <a:solidFill>
                  <a:schemeClr val="lt2"/>
                </a:solidFill>
              </a:defRPr>
            </a:lvl6pPr>
            <a:lvl7pPr lvl="6" algn="ctr">
              <a:spcBef>
                <a:spcPts val="0"/>
              </a:spcBef>
              <a:spcAft>
                <a:spcPts val="0"/>
              </a:spcAft>
              <a:buClr>
                <a:schemeClr val="lt2"/>
              </a:buClr>
              <a:buSzPts val="4200"/>
              <a:buNone/>
              <a:defRPr sz="5600">
                <a:solidFill>
                  <a:schemeClr val="lt2"/>
                </a:solidFill>
              </a:defRPr>
            </a:lvl7pPr>
            <a:lvl8pPr lvl="7" algn="ctr">
              <a:spcBef>
                <a:spcPts val="0"/>
              </a:spcBef>
              <a:spcAft>
                <a:spcPts val="0"/>
              </a:spcAft>
              <a:buClr>
                <a:schemeClr val="lt2"/>
              </a:buClr>
              <a:buSzPts val="4200"/>
              <a:buNone/>
              <a:defRPr sz="5600">
                <a:solidFill>
                  <a:schemeClr val="lt2"/>
                </a:solidFill>
              </a:defRPr>
            </a:lvl8pPr>
            <a:lvl9pPr lvl="8" algn="ctr">
              <a:spcBef>
                <a:spcPts val="0"/>
              </a:spcBef>
              <a:spcAft>
                <a:spcPts val="0"/>
              </a:spcAft>
              <a:buClr>
                <a:schemeClr val="lt2"/>
              </a:buClr>
              <a:buSzPts val="4200"/>
              <a:buNone/>
              <a:defRPr sz="5600">
                <a:solidFill>
                  <a:schemeClr val="lt2"/>
                </a:solidFill>
              </a:defRPr>
            </a:lvl9pPr>
          </a:lstStyle>
          <a:p>
            <a:endParaRPr/>
          </a:p>
        </p:txBody>
      </p:sp>
      <p:sp>
        <p:nvSpPr>
          <p:cNvPr id="43" name="Google Shape;43;p9"/>
          <p:cNvSpPr txBox="1">
            <a:spLocks noGrp="1"/>
          </p:cNvSpPr>
          <p:nvPr>
            <p:ph type="subTitle" idx="1"/>
          </p:nvPr>
        </p:nvSpPr>
        <p:spPr>
          <a:xfrm>
            <a:off x="354000" y="3692001"/>
            <a:ext cx="5393600" cy="1794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4" name="Google Shape;44;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accent1"/>
              </a:buClr>
              <a:buSzPts val="1800"/>
              <a:buChar char="●"/>
              <a:defRPr>
                <a:solidFill>
                  <a:schemeClr val="accent1"/>
                </a:solidFill>
              </a:defRPr>
            </a:lvl1pPr>
            <a:lvl2pPr marL="1219170" lvl="1" indent="-423323">
              <a:spcBef>
                <a:spcPts val="0"/>
              </a:spcBef>
              <a:spcAft>
                <a:spcPts val="0"/>
              </a:spcAft>
              <a:buClr>
                <a:schemeClr val="accent1"/>
              </a:buClr>
              <a:buSzPts val="1400"/>
              <a:buChar char="○"/>
              <a:defRPr>
                <a:solidFill>
                  <a:schemeClr val="accent1"/>
                </a:solidFill>
              </a:defRPr>
            </a:lvl2pPr>
            <a:lvl3pPr marL="1828754" lvl="2" indent="-423323">
              <a:spcBef>
                <a:spcPts val="0"/>
              </a:spcBef>
              <a:spcAft>
                <a:spcPts val="0"/>
              </a:spcAft>
              <a:buClr>
                <a:schemeClr val="accent1"/>
              </a:buClr>
              <a:buSzPts val="1400"/>
              <a:buChar char="■"/>
              <a:defRPr>
                <a:solidFill>
                  <a:schemeClr val="accent1"/>
                </a:solidFill>
              </a:defRPr>
            </a:lvl3pPr>
            <a:lvl4pPr marL="2438339" lvl="3" indent="-423323">
              <a:spcBef>
                <a:spcPts val="0"/>
              </a:spcBef>
              <a:spcAft>
                <a:spcPts val="0"/>
              </a:spcAft>
              <a:buClr>
                <a:schemeClr val="accent1"/>
              </a:buClr>
              <a:buSzPts val="1400"/>
              <a:buChar char="●"/>
              <a:defRPr>
                <a:solidFill>
                  <a:schemeClr val="accent1"/>
                </a:solidFill>
              </a:defRPr>
            </a:lvl4pPr>
            <a:lvl5pPr marL="3047924" lvl="4" indent="-423323">
              <a:spcBef>
                <a:spcPts val="0"/>
              </a:spcBef>
              <a:spcAft>
                <a:spcPts val="0"/>
              </a:spcAft>
              <a:buClr>
                <a:schemeClr val="accent1"/>
              </a:buClr>
              <a:buSzPts val="1400"/>
              <a:buChar char="○"/>
              <a:defRPr>
                <a:solidFill>
                  <a:schemeClr val="accent1"/>
                </a:solidFill>
              </a:defRPr>
            </a:lvl5pPr>
            <a:lvl6pPr marL="3657509" lvl="5" indent="-423323">
              <a:spcBef>
                <a:spcPts val="0"/>
              </a:spcBef>
              <a:spcAft>
                <a:spcPts val="0"/>
              </a:spcAft>
              <a:buClr>
                <a:schemeClr val="accent1"/>
              </a:buClr>
              <a:buSzPts val="1400"/>
              <a:buChar char="■"/>
              <a:defRPr>
                <a:solidFill>
                  <a:schemeClr val="accent1"/>
                </a:solidFill>
              </a:defRPr>
            </a:lvl6pPr>
            <a:lvl7pPr marL="4267093" lvl="6" indent="-423323">
              <a:spcBef>
                <a:spcPts val="0"/>
              </a:spcBef>
              <a:spcAft>
                <a:spcPts val="0"/>
              </a:spcAft>
              <a:buClr>
                <a:schemeClr val="accent1"/>
              </a:buClr>
              <a:buSzPts val="1400"/>
              <a:buChar char="●"/>
              <a:defRPr>
                <a:solidFill>
                  <a:schemeClr val="accent1"/>
                </a:solidFill>
              </a:defRPr>
            </a:lvl7pPr>
            <a:lvl8pPr marL="4876678" lvl="7" indent="-423323">
              <a:spcBef>
                <a:spcPts val="0"/>
              </a:spcBef>
              <a:spcAft>
                <a:spcPts val="0"/>
              </a:spcAft>
              <a:buClr>
                <a:schemeClr val="accent1"/>
              </a:buClr>
              <a:buSzPts val="1400"/>
              <a:buChar char="○"/>
              <a:defRPr>
                <a:solidFill>
                  <a:schemeClr val="accent1"/>
                </a:solidFill>
              </a:defRPr>
            </a:lvl8pPr>
            <a:lvl9pPr marL="5486263" lvl="8" indent="-423323">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32276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0182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415600" y="1386200"/>
            <a:ext cx="11360800" cy="2808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4000"/>
              <a:buNone/>
              <a:defRPr sz="18666" b="1"/>
            </a:lvl1pPr>
            <a:lvl2pPr lvl="1" algn="ctr">
              <a:spcBef>
                <a:spcPts val="0"/>
              </a:spcBef>
              <a:spcAft>
                <a:spcPts val="0"/>
              </a:spcAft>
              <a:buSzPts val="14000"/>
              <a:buNone/>
              <a:defRPr sz="18666" b="1"/>
            </a:lvl2pPr>
            <a:lvl3pPr lvl="2" algn="ctr">
              <a:spcBef>
                <a:spcPts val="0"/>
              </a:spcBef>
              <a:spcAft>
                <a:spcPts val="0"/>
              </a:spcAft>
              <a:buSzPts val="14000"/>
              <a:buNone/>
              <a:defRPr sz="18666" b="1"/>
            </a:lvl3pPr>
            <a:lvl4pPr lvl="3" algn="ctr">
              <a:spcBef>
                <a:spcPts val="0"/>
              </a:spcBef>
              <a:spcAft>
                <a:spcPts val="0"/>
              </a:spcAft>
              <a:buSzPts val="14000"/>
              <a:buNone/>
              <a:defRPr sz="18666" b="1"/>
            </a:lvl4pPr>
            <a:lvl5pPr lvl="4" algn="ctr">
              <a:spcBef>
                <a:spcPts val="0"/>
              </a:spcBef>
              <a:spcAft>
                <a:spcPts val="0"/>
              </a:spcAft>
              <a:buSzPts val="14000"/>
              <a:buNone/>
              <a:defRPr sz="18666" b="1"/>
            </a:lvl5pPr>
            <a:lvl6pPr lvl="5" algn="ctr">
              <a:spcBef>
                <a:spcPts val="0"/>
              </a:spcBef>
              <a:spcAft>
                <a:spcPts val="0"/>
              </a:spcAft>
              <a:buSzPts val="14000"/>
              <a:buNone/>
              <a:defRPr sz="18666" b="1"/>
            </a:lvl6pPr>
            <a:lvl7pPr lvl="6" algn="ctr">
              <a:spcBef>
                <a:spcPts val="0"/>
              </a:spcBef>
              <a:spcAft>
                <a:spcPts val="0"/>
              </a:spcAft>
              <a:buSzPts val="14000"/>
              <a:buNone/>
              <a:defRPr sz="18666" b="1"/>
            </a:lvl7pPr>
            <a:lvl8pPr lvl="7" algn="ctr">
              <a:spcBef>
                <a:spcPts val="0"/>
              </a:spcBef>
              <a:spcAft>
                <a:spcPts val="0"/>
              </a:spcAft>
              <a:buSzPts val="14000"/>
              <a:buNone/>
              <a:defRPr sz="18666" b="1"/>
            </a:lvl8pPr>
            <a:lvl9pPr lvl="8" algn="ctr">
              <a:spcBef>
                <a:spcPts val="0"/>
              </a:spcBef>
              <a:spcAft>
                <a:spcPts val="0"/>
              </a:spcAft>
              <a:buSzPts val="14000"/>
              <a:buNone/>
              <a:defRPr sz="18666" b="1"/>
            </a:lvl9pPr>
          </a:lstStyle>
          <a:p>
            <a:r>
              <a:t>xx%</a:t>
            </a:r>
          </a:p>
        </p:txBody>
      </p:sp>
      <p:sp>
        <p:nvSpPr>
          <p:cNvPr id="51" name="Google Shape;51;p11"/>
          <p:cNvSpPr txBox="1">
            <a:spLocks noGrp="1"/>
          </p:cNvSpPr>
          <p:nvPr>
            <p:ph type="body" idx="1"/>
          </p:nvPr>
        </p:nvSpPr>
        <p:spPr>
          <a:xfrm>
            <a:off x="415600" y="43045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79298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22655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817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415600" y="1562133"/>
            <a:ext cx="11360800" cy="4529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1"/>
                </a:solidFill>
                <a:latin typeface="Old Standard TT"/>
                <a:ea typeface="Old Standard TT"/>
                <a:cs typeface="Old Standard TT"/>
                <a:sym typeface="Old Standard TT"/>
              </a:defRPr>
            </a:lvl1pPr>
            <a:lvl2pPr lvl="1" algn="r">
              <a:buNone/>
              <a:defRPr sz="1333">
                <a:solidFill>
                  <a:schemeClr val="dk1"/>
                </a:solidFill>
                <a:latin typeface="Old Standard TT"/>
                <a:ea typeface="Old Standard TT"/>
                <a:cs typeface="Old Standard TT"/>
                <a:sym typeface="Old Standard TT"/>
              </a:defRPr>
            </a:lvl2pPr>
            <a:lvl3pPr lvl="2" algn="r">
              <a:buNone/>
              <a:defRPr sz="1333">
                <a:solidFill>
                  <a:schemeClr val="dk1"/>
                </a:solidFill>
                <a:latin typeface="Old Standard TT"/>
                <a:ea typeface="Old Standard TT"/>
                <a:cs typeface="Old Standard TT"/>
                <a:sym typeface="Old Standard TT"/>
              </a:defRPr>
            </a:lvl3pPr>
            <a:lvl4pPr lvl="3" algn="r">
              <a:buNone/>
              <a:defRPr sz="1333">
                <a:solidFill>
                  <a:schemeClr val="dk1"/>
                </a:solidFill>
                <a:latin typeface="Old Standard TT"/>
                <a:ea typeface="Old Standard TT"/>
                <a:cs typeface="Old Standard TT"/>
                <a:sym typeface="Old Standard TT"/>
              </a:defRPr>
            </a:lvl4pPr>
            <a:lvl5pPr lvl="4" algn="r">
              <a:buNone/>
              <a:defRPr sz="1333">
                <a:solidFill>
                  <a:schemeClr val="dk1"/>
                </a:solidFill>
                <a:latin typeface="Old Standard TT"/>
                <a:ea typeface="Old Standard TT"/>
                <a:cs typeface="Old Standard TT"/>
                <a:sym typeface="Old Standard TT"/>
              </a:defRPr>
            </a:lvl5pPr>
            <a:lvl6pPr lvl="5" algn="r">
              <a:buNone/>
              <a:defRPr sz="1333">
                <a:solidFill>
                  <a:schemeClr val="dk1"/>
                </a:solidFill>
                <a:latin typeface="Old Standard TT"/>
                <a:ea typeface="Old Standard TT"/>
                <a:cs typeface="Old Standard TT"/>
                <a:sym typeface="Old Standard TT"/>
              </a:defRPr>
            </a:lvl6pPr>
            <a:lvl7pPr lvl="6" algn="r">
              <a:buNone/>
              <a:defRPr sz="1333">
                <a:solidFill>
                  <a:schemeClr val="dk1"/>
                </a:solidFill>
                <a:latin typeface="Old Standard TT"/>
                <a:ea typeface="Old Standard TT"/>
                <a:cs typeface="Old Standard TT"/>
                <a:sym typeface="Old Standard TT"/>
              </a:defRPr>
            </a:lvl7pPr>
            <a:lvl8pPr lvl="7" algn="r">
              <a:buNone/>
              <a:defRPr sz="1333">
                <a:solidFill>
                  <a:schemeClr val="dk1"/>
                </a:solidFill>
                <a:latin typeface="Old Standard TT"/>
                <a:ea typeface="Old Standard TT"/>
                <a:cs typeface="Old Standard TT"/>
                <a:sym typeface="Old Standard TT"/>
              </a:defRPr>
            </a:lvl8pPr>
            <a:lvl9pPr lvl="8" algn="r">
              <a:buNone/>
              <a:defRPr sz="1333">
                <a:solidFill>
                  <a:schemeClr val="dk1"/>
                </a:solidFill>
                <a:latin typeface="Old Standard TT"/>
                <a:ea typeface="Old Standard TT"/>
                <a:cs typeface="Old Standard TT"/>
                <a:sym typeface="Old Standard T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8952426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D2A7-054D-9804-9DF3-0D666A2C6E3E}"/>
              </a:ext>
            </a:extLst>
          </p:cNvPr>
          <p:cNvSpPr>
            <a:spLocks noGrp="1"/>
          </p:cNvSpPr>
          <p:nvPr>
            <p:ph type="title"/>
          </p:nvPr>
        </p:nvSpPr>
        <p:spPr>
          <a:xfrm>
            <a:off x="415600" y="2611400"/>
            <a:ext cx="11360800" cy="1263176"/>
          </a:xfrm>
        </p:spPr>
        <p:txBody>
          <a:bodyPr>
            <a:noAutofit/>
          </a:bodyPr>
          <a:lstStyle/>
          <a:p>
            <a:pPr algn="ctr"/>
            <a:r>
              <a:rPr lang="en-US" sz="5333" dirty="0"/>
              <a:t>MODULE-3</a:t>
            </a:r>
            <a:br>
              <a:rPr lang="en-US" sz="5333" dirty="0"/>
            </a:br>
            <a:r>
              <a:rPr lang="en-US" sz="7200" dirty="0"/>
              <a:t> </a:t>
            </a:r>
            <a:r>
              <a:rPr lang="en-US" sz="3733" b="1" dirty="0">
                <a:latin typeface="ITCBaileyQuadCom-Bold"/>
              </a:rPr>
              <a:t>Identity and Access Management</a:t>
            </a:r>
            <a:endParaRPr lang="en-US" sz="5333" dirty="0"/>
          </a:p>
        </p:txBody>
      </p:sp>
    </p:spTree>
    <p:extLst>
      <p:ext uri="{BB962C8B-B14F-4D97-AF65-F5344CB8AC3E}">
        <p14:creationId xmlns:p14="http://schemas.microsoft.com/office/powerpoint/2010/main" val="36284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23230-2397-455D-9372-9A72DB002688}"/>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CEA3094C-FF4F-654E-9A2E-804F7040CBDA}"/>
              </a:ext>
            </a:extLst>
          </p:cNvPr>
          <p:cNvSpPr>
            <a:spLocks noGrp="1"/>
          </p:cNvSpPr>
          <p:nvPr>
            <p:ph type="body" idx="1"/>
          </p:nvPr>
        </p:nvSpPr>
        <p:spPr/>
        <p:txBody>
          <a:bodyPr/>
          <a:lstStyle/>
          <a:p>
            <a:pPr algn="l">
              <a:lnSpc>
                <a:spcPct val="250000"/>
              </a:lnSpc>
            </a:pPr>
            <a:r>
              <a:rPr lang="en-US" sz="2400" b="1" dirty="0">
                <a:latin typeface="ITCBaileySansCom-Bold"/>
              </a:rPr>
              <a:t>THIS CHAPTER PRESENTS THE CURRENT STATE OF THE PRACTICE OF</a:t>
            </a:r>
          </a:p>
          <a:p>
            <a:pPr algn="l">
              <a:lnSpc>
                <a:spcPct val="250000"/>
              </a:lnSpc>
            </a:pPr>
            <a:r>
              <a:rPr lang="en-US" sz="2400" b="1" dirty="0">
                <a:latin typeface="ITCBaileySansCom-Bold"/>
              </a:rPr>
              <a:t> IDENTITY AND ACCESS </a:t>
            </a:r>
            <a:r>
              <a:rPr lang="en-US" sz="2400" dirty="0">
                <a:latin typeface="MeridienLTStd-Roman"/>
              </a:rPr>
              <a:t>management (IAM) and support for IAM features that aid in Authentication, Authorization, and Auditing (AAA) of users accessing cloud services.</a:t>
            </a:r>
            <a:endParaRPr lang="en-US" dirty="0"/>
          </a:p>
        </p:txBody>
      </p:sp>
    </p:spTree>
    <p:extLst>
      <p:ext uri="{BB962C8B-B14F-4D97-AF65-F5344CB8AC3E}">
        <p14:creationId xmlns:p14="http://schemas.microsoft.com/office/powerpoint/2010/main" val="71059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293A2-D437-2A24-6139-9ABA83BAC7C5}"/>
              </a:ext>
            </a:extLst>
          </p:cNvPr>
          <p:cNvSpPr>
            <a:spLocks noGrp="1"/>
          </p:cNvSpPr>
          <p:nvPr>
            <p:ph type="title"/>
          </p:nvPr>
        </p:nvSpPr>
        <p:spPr/>
        <p:txBody>
          <a:bodyPr/>
          <a:lstStyle/>
          <a:p>
            <a:r>
              <a:rPr lang="en-US" sz="2400" b="1" dirty="0">
                <a:latin typeface="ITCBaileySansCom-Bold"/>
              </a:rPr>
              <a:t>Trust Boundaries and IAM</a:t>
            </a:r>
            <a:endParaRPr lang="en-US" dirty="0"/>
          </a:p>
        </p:txBody>
      </p:sp>
      <p:sp>
        <p:nvSpPr>
          <p:cNvPr id="3" name="Text Placeholder 2">
            <a:extLst>
              <a:ext uri="{FF2B5EF4-FFF2-40B4-BE49-F238E27FC236}">
                <a16:creationId xmlns:a16="http://schemas.microsoft.com/office/drawing/2014/main" id="{EE87C692-9A83-3E7A-CF1F-EED48462826B}"/>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0FA08D22-56B2-449A-4F49-1C8C5AB1A06E}"/>
              </a:ext>
            </a:extLst>
          </p:cNvPr>
          <p:cNvPicPr>
            <a:picLocks noChangeAspect="1"/>
          </p:cNvPicPr>
          <p:nvPr/>
        </p:nvPicPr>
        <p:blipFill>
          <a:blip r:embed="rId2"/>
          <a:stretch>
            <a:fillRect/>
          </a:stretch>
        </p:blipFill>
        <p:spPr>
          <a:xfrm>
            <a:off x="415600" y="1704735"/>
            <a:ext cx="10600840" cy="3946981"/>
          </a:xfrm>
          <a:prstGeom prst="rect">
            <a:avLst/>
          </a:prstGeom>
        </p:spPr>
      </p:pic>
    </p:spTree>
    <p:extLst>
      <p:ext uri="{BB962C8B-B14F-4D97-AF65-F5344CB8AC3E}">
        <p14:creationId xmlns:p14="http://schemas.microsoft.com/office/powerpoint/2010/main" val="151053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5403-7E67-4B8A-80DF-9CBE7BD980EF}"/>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99D4ADB2-B078-6830-D7FC-E88F49565875}"/>
              </a:ext>
            </a:extLst>
          </p:cNvPr>
          <p:cNvSpPr>
            <a:spLocks noGrp="1"/>
          </p:cNvSpPr>
          <p:nvPr>
            <p:ph type="body" idx="1"/>
          </p:nvPr>
        </p:nvSpPr>
        <p:spPr/>
        <p:txBody>
          <a:bodyPr/>
          <a:lstStyle/>
          <a:p>
            <a:endParaRPr lang="en-US" dirty="0"/>
          </a:p>
        </p:txBody>
      </p:sp>
      <p:pic>
        <p:nvPicPr>
          <p:cNvPr id="7" name="Picture 6">
            <a:extLst>
              <a:ext uri="{FF2B5EF4-FFF2-40B4-BE49-F238E27FC236}">
                <a16:creationId xmlns:a16="http://schemas.microsoft.com/office/drawing/2014/main" id="{F858CF5E-9658-DE0D-0E51-BE3D6E207919}"/>
              </a:ext>
            </a:extLst>
          </p:cNvPr>
          <p:cNvPicPr>
            <a:picLocks noChangeAspect="1"/>
          </p:cNvPicPr>
          <p:nvPr/>
        </p:nvPicPr>
        <p:blipFill>
          <a:blip r:embed="rId2"/>
          <a:stretch>
            <a:fillRect/>
          </a:stretch>
        </p:blipFill>
        <p:spPr>
          <a:xfrm>
            <a:off x="415599" y="1272553"/>
            <a:ext cx="10960156" cy="4643523"/>
          </a:xfrm>
          <a:prstGeom prst="rect">
            <a:avLst/>
          </a:prstGeom>
        </p:spPr>
      </p:pic>
    </p:spTree>
    <p:extLst>
      <p:ext uri="{BB962C8B-B14F-4D97-AF65-F5344CB8AC3E}">
        <p14:creationId xmlns:p14="http://schemas.microsoft.com/office/powerpoint/2010/main" val="2087689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EAA9-D666-B45C-C041-CE1745140CA2}"/>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6BCFE94D-B50A-D0DE-83E2-3EB9F3E83CA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CC7D1570-084C-A52B-14DE-D5F902BB4400}"/>
              </a:ext>
            </a:extLst>
          </p:cNvPr>
          <p:cNvPicPr>
            <a:picLocks noChangeAspect="1"/>
          </p:cNvPicPr>
          <p:nvPr/>
        </p:nvPicPr>
        <p:blipFill>
          <a:blip r:embed="rId2"/>
          <a:stretch>
            <a:fillRect/>
          </a:stretch>
        </p:blipFill>
        <p:spPr>
          <a:xfrm>
            <a:off x="1137490" y="1086918"/>
            <a:ext cx="9917020" cy="4684165"/>
          </a:xfrm>
          <a:prstGeom prst="rect">
            <a:avLst/>
          </a:prstGeom>
        </p:spPr>
      </p:pic>
    </p:spTree>
    <p:extLst>
      <p:ext uri="{BB962C8B-B14F-4D97-AF65-F5344CB8AC3E}">
        <p14:creationId xmlns:p14="http://schemas.microsoft.com/office/powerpoint/2010/main" val="130389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743C-CFD1-4FD8-51AF-20DFF36712F6}"/>
              </a:ext>
            </a:extLst>
          </p:cNvPr>
          <p:cNvSpPr>
            <a:spLocks noGrp="1"/>
          </p:cNvSpPr>
          <p:nvPr>
            <p:ph type="title"/>
          </p:nvPr>
        </p:nvSpPr>
        <p:spPr/>
        <p:txBody>
          <a:bodyPr>
            <a:normAutofit/>
          </a:bodyPr>
          <a:lstStyle/>
          <a:p>
            <a:r>
              <a:rPr lang="en-US" dirty="0"/>
              <a:t>SAML (Security Assertion Markup Language)</a:t>
            </a:r>
          </a:p>
        </p:txBody>
      </p:sp>
      <p:sp>
        <p:nvSpPr>
          <p:cNvPr id="3" name="Text Placeholder 2">
            <a:extLst>
              <a:ext uri="{FF2B5EF4-FFF2-40B4-BE49-F238E27FC236}">
                <a16:creationId xmlns:a16="http://schemas.microsoft.com/office/drawing/2014/main" id="{6DF8CCB3-1DCA-63A3-E948-DC63E84B7D0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11F0D9C6-2C7B-87C3-AB40-C1325416295F}"/>
              </a:ext>
            </a:extLst>
          </p:cNvPr>
          <p:cNvPicPr>
            <a:picLocks noChangeAspect="1"/>
          </p:cNvPicPr>
          <p:nvPr/>
        </p:nvPicPr>
        <p:blipFill>
          <a:blip r:embed="rId2"/>
          <a:stretch>
            <a:fillRect/>
          </a:stretch>
        </p:blipFill>
        <p:spPr>
          <a:xfrm>
            <a:off x="776087" y="2382033"/>
            <a:ext cx="10041731" cy="3271804"/>
          </a:xfrm>
          <a:prstGeom prst="rect">
            <a:avLst/>
          </a:prstGeom>
        </p:spPr>
      </p:pic>
    </p:spTree>
    <p:extLst>
      <p:ext uri="{BB962C8B-B14F-4D97-AF65-F5344CB8AC3E}">
        <p14:creationId xmlns:p14="http://schemas.microsoft.com/office/powerpoint/2010/main" val="3820830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23935-D195-F1FF-3F19-7936871DFD27}"/>
              </a:ext>
            </a:extLst>
          </p:cNvPr>
          <p:cNvSpPr>
            <a:spLocks noGrp="1"/>
          </p:cNvSpPr>
          <p:nvPr>
            <p:ph type="title"/>
          </p:nvPr>
        </p:nvSpPr>
        <p:spPr/>
        <p:txBody>
          <a:bodyPr>
            <a:normAutofit/>
          </a:bodyPr>
          <a:lstStyle/>
          <a:p>
            <a:r>
              <a:rPr lang="en-US" sz="2400" b="1" dirty="0">
                <a:latin typeface="ITCBaileySansCom-Bold"/>
              </a:rPr>
              <a:t>Why IAM?</a:t>
            </a:r>
            <a:endParaRPr lang="en-US" dirty="0"/>
          </a:p>
        </p:txBody>
      </p:sp>
      <p:sp>
        <p:nvSpPr>
          <p:cNvPr id="3" name="Text Placeholder 2">
            <a:extLst>
              <a:ext uri="{FF2B5EF4-FFF2-40B4-BE49-F238E27FC236}">
                <a16:creationId xmlns:a16="http://schemas.microsoft.com/office/drawing/2014/main" id="{BE0956C7-AEE5-3AE2-42DE-72E76E03A8AF}"/>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DF91AB7-8168-F869-ECCE-8F23E7C2C980}"/>
              </a:ext>
            </a:extLst>
          </p:cNvPr>
          <p:cNvPicPr>
            <a:picLocks noChangeAspect="1"/>
          </p:cNvPicPr>
          <p:nvPr/>
        </p:nvPicPr>
        <p:blipFill>
          <a:blip r:embed="rId2"/>
          <a:stretch>
            <a:fillRect/>
          </a:stretch>
        </p:blipFill>
        <p:spPr>
          <a:xfrm>
            <a:off x="415599" y="1570307"/>
            <a:ext cx="11104807" cy="4694327"/>
          </a:xfrm>
          <a:prstGeom prst="rect">
            <a:avLst/>
          </a:prstGeom>
        </p:spPr>
      </p:pic>
    </p:spTree>
    <p:extLst>
      <p:ext uri="{BB962C8B-B14F-4D97-AF65-F5344CB8AC3E}">
        <p14:creationId xmlns:p14="http://schemas.microsoft.com/office/powerpoint/2010/main" val="174345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CEDC8-CB6D-07E4-FD8E-8A77AC2354F7}"/>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D808B3B1-DA98-1711-2E59-774C4EB2886E}"/>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001F154B-E186-9668-EE9B-5E30019E9DF7}"/>
              </a:ext>
            </a:extLst>
          </p:cNvPr>
          <p:cNvPicPr>
            <a:picLocks noChangeAspect="1"/>
          </p:cNvPicPr>
          <p:nvPr/>
        </p:nvPicPr>
        <p:blipFill>
          <a:blip r:embed="rId2"/>
          <a:stretch>
            <a:fillRect/>
          </a:stretch>
        </p:blipFill>
        <p:spPr>
          <a:xfrm>
            <a:off x="415600" y="2184292"/>
            <a:ext cx="11053145" cy="2981809"/>
          </a:xfrm>
          <a:prstGeom prst="rect">
            <a:avLst/>
          </a:prstGeom>
        </p:spPr>
      </p:pic>
    </p:spTree>
    <p:extLst>
      <p:ext uri="{BB962C8B-B14F-4D97-AF65-F5344CB8AC3E}">
        <p14:creationId xmlns:p14="http://schemas.microsoft.com/office/powerpoint/2010/main" val="191288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9AFE3-D1B5-ADA6-F342-1BE4171FED69}"/>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FAAF86F9-1842-4F3E-775A-7FDE1CEBBB3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94D87134-0B4D-D5C5-D1DC-4B8F774802DB}"/>
              </a:ext>
            </a:extLst>
          </p:cNvPr>
          <p:cNvPicPr>
            <a:picLocks noChangeAspect="1"/>
          </p:cNvPicPr>
          <p:nvPr/>
        </p:nvPicPr>
        <p:blipFill>
          <a:blip r:embed="rId2"/>
          <a:stretch>
            <a:fillRect/>
          </a:stretch>
        </p:blipFill>
        <p:spPr>
          <a:xfrm>
            <a:off x="712923" y="1970913"/>
            <a:ext cx="10092645" cy="3324953"/>
          </a:xfrm>
          <a:prstGeom prst="rect">
            <a:avLst/>
          </a:prstGeom>
        </p:spPr>
      </p:pic>
    </p:spTree>
    <p:extLst>
      <p:ext uri="{BB962C8B-B14F-4D97-AF65-F5344CB8AC3E}">
        <p14:creationId xmlns:p14="http://schemas.microsoft.com/office/powerpoint/2010/main" val="91550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F0E1-E513-C192-1954-1CAA5F6022FE}"/>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C38E3994-2DF2-FA27-C33D-FB0640DCA252}"/>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C00AD91-71EA-6267-B275-3BE3A7FA280F}"/>
              </a:ext>
            </a:extLst>
          </p:cNvPr>
          <p:cNvPicPr>
            <a:picLocks noChangeAspect="1"/>
          </p:cNvPicPr>
          <p:nvPr/>
        </p:nvPicPr>
        <p:blipFill>
          <a:blip r:embed="rId2"/>
          <a:stretch>
            <a:fillRect/>
          </a:stretch>
        </p:blipFill>
        <p:spPr>
          <a:xfrm>
            <a:off x="415601" y="1410968"/>
            <a:ext cx="11032480" cy="3806795"/>
          </a:xfrm>
          <a:prstGeom prst="rect">
            <a:avLst/>
          </a:prstGeom>
        </p:spPr>
      </p:pic>
    </p:spTree>
    <p:extLst>
      <p:ext uri="{BB962C8B-B14F-4D97-AF65-F5344CB8AC3E}">
        <p14:creationId xmlns:p14="http://schemas.microsoft.com/office/powerpoint/2010/main" val="2421053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D92B2-CC9B-1E6C-1780-3D62AD5D6704}"/>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B87BBDF6-6BAC-D580-D033-069C70CBA59C}"/>
              </a:ext>
            </a:extLst>
          </p:cNvPr>
          <p:cNvSpPr>
            <a:spLocks noGrp="1"/>
          </p:cNvSpPr>
          <p:nvPr>
            <p:ph type="body" idx="1"/>
          </p:nvPr>
        </p:nvSpPr>
        <p:spPr/>
        <p:txBody>
          <a:bodyPr/>
          <a:lstStyle/>
          <a:p>
            <a:r>
              <a:rPr lang="en-US" b="1" dirty="0"/>
              <a:t>Web Single Sign-On (Web SSO)</a:t>
            </a:r>
            <a:r>
              <a:rPr lang="en-US" dirty="0"/>
              <a:t> is a user authentication process that allows users to log in once and gain access to multiple related applications or services without needing to re-enter credentials for each one.</a:t>
            </a:r>
          </a:p>
        </p:txBody>
      </p:sp>
    </p:spTree>
    <p:extLst>
      <p:ext uri="{BB962C8B-B14F-4D97-AF65-F5344CB8AC3E}">
        <p14:creationId xmlns:p14="http://schemas.microsoft.com/office/powerpoint/2010/main" val="1001308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4A165-1D65-9AF1-D023-89517381AC1C}"/>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6A1662E0-58B2-2BF4-90A8-D5FB64359F0A}"/>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B255B9F-6A7C-D2E0-DBA2-6800CE04C681}"/>
              </a:ext>
            </a:extLst>
          </p:cNvPr>
          <p:cNvPicPr>
            <a:picLocks noChangeAspect="1"/>
          </p:cNvPicPr>
          <p:nvPr/>
        </p:nvPicPr>
        <p:blipFill>
          <a:blip r:embed="rId2"/>
          <a:stretch>
            <a:fillRect/>
          </a:stretch>
        </p:blipFill>
        <p:spPr>
          <a:xfrm>
            <a:off x="702964" y="483288"/>
            <a:ext cx="10356627" cy="5069337"/>
          </a:xfrm>
          <a:prstGeom prst="rect">
            <a:avLst/>
          </a:prstGeom>
        </p:spPr>
      </p:pic>
    </p:spTree>
    <p:extLst>
      <p:ext uri="{BB962C8B-B14F-4D97-AF65-F5344CB8AC3E}">
        <p14:creationId xmlns:p14="http://schemas.microsoft.com/office/powerpoint/2010/main" val="4150013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72B9-BC07-2CE4-86C1-EFA412ACB69B}"/>
              </a:ext>
            </a:extLst>
          </p:cNvPr>
          <p:cNvSpPr>
            <a:spLocks noGrp="1"/>
          </p:cNvSpPr>
          <p:nvPr>
            <p:ph type="title"/>
          </p:nvPr>
        </p:nvSpPr>
        <p:spPr>
          <a:xfrm>
            <a:off x="541761" y="378131"/>
            <a:ext cx="11360800" cy="817600"/>
          </a:xfrm>
        </p:spPr>
        <p:txBody>
          <a:bodyPr>
            <a:normAutofit/>
          </a:bodyPr>
          <a:lstStyle/>
          <a:p>
            <a:r>
              <a:rPr lang="en-US" dirty="0"/>
              <a:t>IAM Challenges</a:t>
            </a:r>
          </a:p>
        </p:txBody>
      </p:sp>
      <p:sp>
        <p:nvSpPr>
          <p:cNvPr id="3" name="Text Placeholder 2">
            <a:extLst>
              <a:ext uri="{FF2B5EF4-FFF2-40B4-BE49-F238E27FC236}">
                <a16:creationId xmlns:a16="http://schemas.microsoft.com/office/drawing/2014/main" id="{509F81D6-66F5-5C63-2EFD-2230F9C0F745}"/>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307E3EF8-5726-F1D5-CC03-B675730F0483}"/>
              </a:ext>
            </a:extLst>
          </p:cNvPr>
          <p:cNvPicPr>
            <a:picLocks noChangeAspect="1"/>
          </p:cNvPicPr>
          <p:nvPr/>
        </p:nvPicPr>
        <p:blipFill>
          <a:blip r:embed="rId2"/>
          <a:stretch>
            <a:fillRect/>
          </a:stretch>
        </p:blipFill>
        <p:spPr>
          <a:xfrm>
            <a:off x="541761" y="1562134"/>
            <a:ext cx="9723963" cy="4145639"/>
          </a:xfrm>
          <a:prstGeom prst="rect">
            <a:avLst/>
          </a:prstGeom>
        </p:spPr>
      </p:pic>
    </p:spTree>
    <p:extLst>
      <p:ext uri="{BB962C8B-B14F-4D97-AF65-F5344CB8AC3E}">
        <p14:creationId xmlns:p14="http://schemas.microsoft.com/office/powerpoint/2010/main" val="1494621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701D-C2C0-EEBC-A012-B9B3BABAC5C3}"/>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2ED6B703-EFE4-7496-EF9C-B15DCD9196D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329D38F0-7F9D-B513-96AF-ECE182C7ED84}"/>
              </a:ext>
            </a:extLst>
          </p:cNvPr>
          <p:cNvPicPr>
            <a:picLocks noChangeAspect="1"/>
          </p:cNvPicPr>
          <p:nvPr/>
        </p:nvPicPr>
        <p:blipFill>
          <a:blip r:embed="rId2"/>
          <a:stretch>
            <a:fillRect/>
          </a:stretch>
        </p:blipFill>
        <p:spPr>
          <a:xfrm>
            <a:off x="516611" y="680482"/>
            <a:ext cx="11259789" cy="5497036"/>
          </a:xfrm>
          <a:prstGeom prst="rect">
            <a:avLst/>
          </a:prstGeom>
        </p:spPr>
      </p:pic>
    </p:spTree>
    <p:extLst>
      <p:ext uri="{BB962C8B-B14F-4D97-AF65-F5344CB8AC3E}">
        <p14:creationId xmlns:p14="http://schemas.microsoft.com/office/powerpoint/2010/main" val="243580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F6EF-51CC-CA95-FB04-7D27BB2F2800}"/>
              </a:ext>
            </a:extLst>
          </p:cNvPr>
          <p:cNvSpPr>
            <a:spLocks noGrp="1"/>
          </p:cNvSpPr>
          <p:nvPr>
            <p:ph type="title"/>
          </p:nvPr>
        </p:nvSpPr>
        <p:spPr/>
        <p:txBody>
          <a:bodyPr>
            <a:noAutofit/>
          </a:bodyPr>
          <a:lstStyle/>
          <a:p>
            <a:r>
              <a:rPr lang="en-US" sz="2400" b="1" dirty="0"/>
              <a:t>IAM (Identity and Access Management) definitions</a:t>
            </a:r>
            <a:r>
              <a:rPr lang="en-US" sz="2400" dirty="0"/>
              <a:t> for key functions:</a:t>
            </a:r>
          </a:p>
        </p:txBody>
      </p:sp>
      <p:sp>
        <p:nvSpPr>
          <p:cNvPr id="3" name="Text Placeholder 2">
            <a:extLst>
              <a:ext uri="{FF2B5EF4-FFF2-40B4-BE49-F238E27FC236}">
                <a16:creationId xmlns:a16="http://schemas.microsoft.com/office/drawing/2014/main" id="{B93F8447-6F1C-AC14-11CC-243AF770B71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9A2DF31-C182-CBFF-2E0C-043098D38B79}"/>
              </a:ext>
            </a:extLst>
          </p:cNvPr>
          <p:cNvPicPr>
            <a:picLocks noChangeAspect="1"/>
          </p:cNvPicPr>
          <p:nvPr/>
        </p:nvPicPr>
        <p:blipFill>
          <a:blip r:embed="rId2"/>
          <a:stretch>
            <a:fillRect/>
          </a:stretch>
        </p:blipFill>
        <p:spPr>
          <a:xfrm>
            <a:off x="415599" y="1562133"/>
            <a:ext cx="9916604" cy="4521592"/>
          </a:xfrm>
          <a:prstGeom prst="rect">
            <a:avLst/>
          </a:prstGeom>
        </p:spPr>
      </p:pic>
    </p:spTree>
    <p:extLst>
      <p:ext uri="{BB962C8B-B14F-4D97-AF65-F5344CB8AC3E}">
        <p14:creationId xmlns:p14="http://schemas.microsoft.com/office/powerpoint/2010/main" val="2969434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2C3AA-C317-930B-728D-52A7DB3B5404}"/>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F9F77A08-7FB0-B20E-D6A7-D1B8AE09CAEC}"/>
              </a:ext>
            </a:extLst>
          </p:cNvPr>
          <p:cNvSpPr>
            <a:spLocks noGrp="1"/>
          </p:cNvSpPr>
          <p:nvPr>
            <p:ph type="body" idx="1"/>
          </p:nvPr>
        </p:nvSpPr>
        <p:spPr/>
        <p:txBody>
          <a:bodyPr/>
          <a:lstStyle/>
          <a:p>
            <a:pPr algn="just">
              <a:lnSpc>
                <a:spcPct val="150000"/>
              </a:lnSpc>
            </a:pPr>
            <a:r>
              <a:rPr lang="en-US" b="1" dirty="0"/>
              <a:t>LDAP (Lightweight Directory Access Protocol)</a:t>
            </a:r>
            <a:r>
              <a:rPr lang="en-US" dirty="0"/>
              <a:t> is an open, vendor-neutral protocol used for accessing and maintaining distributed directory information services over an IP network. </a:t>
            </a:r>
          </a:p>
          <a:p>
            <a:pPr algn="just">
              <a:lnSpc>
                <a:spcPct val="150000"/>
              </a:lnSpc>
            </a:pPr>
            <a:r>
              <a:rPr lang="en-US" dirty="0"/>
              <a:t>Directory services provide a centralized way to store information about users, systems, networks, and applications in an organized, hierarchical manner.</a:t>
            </a:r>
          </a:p>
          <a:p>
            <a:pPr algn="just">
              <a:lnSpc>
                <a:spcPct val="150000"/>
              </a:lnSpc>
            </a:pPr>
            <a:r>
              <a:rPr lang="en-US" dirty="0"/>
              <a:t> LDAP is widely used for authentication and authorization, particularly in corporate environments.</a:t>
            </a:r>
          </a:p>
        </p:txBody>
      </p:sp>
    </p:spTree>
    <p:extLst>
      <p:ext uri="{BB962C8B-B14F-4D97-AF65-F5344CB8AC3E}">
        <p14:creationId xmlns:p14="http://schemas.microsoft.com/office/powerpoint/2010/main" val="213457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2E23-2BE4-CE9B-FCE4-888F623DE817}"/>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A7E5153B-EEE8-3326-3498-6CB8F86AE96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827D0345-A38B-632D-BB82-A5A95714D573}"/>
              </a:ext>
            </a:extLst>
          </p:cNvPr>
          <p:cNvPicPr>
            <a:picLocks noChangeAspect="1"/>
          </p:cNvPicPr>
          <p:nvPr/>
        </p:nvPicPr>
        <p:blipFill>
          <a:blip r:embed="rId2"/>
          <a:stretch>
            <a:fillRect/>
          </a:stretch>
        </p:blipFill>
        <p:spPr>
          <a:xfrm>
            <a:off x="503800" y="1562134"/>
            <a:ext cx="11272601" cy="3263005"/>
          </a:xfrm>
          <a:prstGeom prst="rect">
            <a:avLst/>
          </a:prstGeom>
        </p:spPr>
      </p:pic>
    </p:spTree>
    <p:extLst>
      <p:ext uri="{BB962C8B-B14F-4D97-AF65-F5344CB8AC3E}">
        <p14:creationId xmlns:p14="http://schemas.microsoft.com/office/powerpoint/2010/main" val="308176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4EB4-1652-9E26-6B79-22990540F16E}"/>
              </a:ext>
            </a:extLst>
          </p:cNvPr>
          <p:cNvSpPr>
            <a:spLocks noGrp="1"/>
          </p:cNvSpPr>
          <p:nvPr>
            <p:ph type="title"/>
          </p:nvPr>
        </p:nvSpPr>
        <p:spPr/>
        <p:txBody>
          <a:bodyPr/>
          <a:lstStyle/>
          <a:p>
            <a:pPr algn="ctr"/>
            <a:r>
              <a:rPr lang="en-US" sz="2400" b="1" dirty="0">
                <a:latin typeface="ITCBaileySansCom-Bold"/>
              </a:rPr>
              <a:t>IAM Architecture and Practice</a:t>
            </a:r>
            <a:endParaRPr lang="en-US" dirty="0"/>
          </a:p>
        </p:txBody>
      </p:sp>
      <p:sp>
        <p:nvSpPr>
          <p:cNvPr id="3" name="Text Placeholder 2">
            <a:extLst>
              <a:ext uri="{FF2B5EF4-FFF2-40B4-BE49-F238E27FC236}">
                <a16:creationId xmlns:a16="http://schemas.microsoft.com/office/drawing/2014/main" id="{BAF038DC-724E-2E59-87D1-FDBC07BB58C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2D8B522-DD6D-7591-C48B-A145A90C3764}"/>
              </a:ext>
            </a:extLst>
          </p:cNvPr>
          <p:cNvPicPr>
            <a:picLocks noChangeAspect="1"/>
          </p:cNvPicPr>
          <p:nvPr/>
        </p:nvPicPr>
        <p:blipFill>
          <a:blip r:embed="rId2"/>
          <a:stretch>
            <a:fillRect/>
          </a:stretch>
        </p:blipFill>
        <p:spPr>
          <a:xfrm>
            <a:off x="816243" y="1157208"/>
            <a:ext cx="10960156" cy="5147323"/>
          </a:xfrm>
          <a:prstGeom prst="rect">
            <a:avLst/>
          </a:prstGeom>
        </p:spPr>
      </p:pic>
    </p:spTree>
    <p:extLst>
      <p:ext uri="{BB962C8B-B14F-4D97-AF65-F5344CB8AC3E}">
        <p14:creationId xmlns:p14="http://schemas.microsoft.com/office/powerpoint/2010/main" val="1027700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953C-232C-4D19-5A74-6381CF72127F}"/>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A3A147F2-BF7F-421A-3F09-A0FBF671D095}"/>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2DA54F54-B288-DC59-7D82-60B13958C8EE}"/>
              </a:ext>
            </a:extLst>
          </p:cNvPr>
          <p:cNvPicPr>
            <a:picLocks noChangeAspect="1"/>
          </p:cNvPicPr>
          <p:nvPr/>
        </p:nvPicPr>
        <p:blipFill>
          <a:blip r:embed="rId2"/>
          <a:stretch>
            <a:fillRect/>
          </a:stretch>
        </p:blipFill>
        <p:spPr>
          <a:xfrm>
            <a:off x="537275" y="370575"/>
            <a:ext cx="10704163" cy="6116851"/>
          </a:xfrm>
          <a:prstGeom prst="rect">
            <a:avLst/>
          </a:prstGeom>
        </p:spPr>
      </p:pic>
    </p:spTree>
    <p:extLst>
      <p:ext uri="{BB962C8B-B14F-4D97-AF65-F5344CB8AC3E}">
        <p14:creationId xmlns:p14="http://schemas.microsoft.com/office/powerpoint/2010/main" val="2115100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610C7-3905-5CEA-F70C-4C3A926185CC}"/>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7CEDCDB3-8936-137F-4131-3F87E18BB1CF}"/>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75E9FB4-E6B0-E9D8-95AD-2A53E818BD40}"/>
              </a:ext>
            </a:extLst>
          </p:cNvPr>
          <p:cNvPicPr>
            <a:picLocks noChangeAspect="1"/>
          </p:cNvPicPr>
          <p:nvPr/>
        </p:nvPicPr>
        <p:blipFill>
          <a:blip r:embed="rId2"/>
          <a:stretch>
            <a:fillRect/>
          </a:stretch>
        </p:blipFill>
        <p:spPr>
          <a:xfrm>
            <a:off x="415601" y="329514"/>
            <a:ext cx="10996551" cy="6238789"/>
          </a:xfrm>
          <a:prstGeom prst="rect">
            <a:avLst/>
          </a:prstGeom>
        </p:spPr>
      </p:pic>
    </p:spTree>
    <p:extLst>
      <p:ext uri="{BB962C8B-B14F-4D97-AF65-F5344CB8AC3E}">
        <p14:creationId xmlns:p14="http://schemas.microsoft.com/office/powerpoint/2010/main" val="2678158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FE35B-F176-6BB7-BF61-0B1C4CFCC994}"/>
              </a:ext>
            </a:extLst>
          </p:cNvPr>
          <p:cNvSpPr>
            <a:spLocks noGrp="1"/>
          </p:cNvSpPr>
          <p:nvPr>
            <p:ph type="title"/>
          </p:nvPr>
        </p:nvSpPr>
        <p:spPr/>
        <p:txBody>
          <a:bodyPr>
            <a:noAutofit/>
          </a:bodyPr>
          <a:lstStyle/>
          <a:p>
            <a:r>
              <a:rPr lang="en-US" sz="2667" b="1" u="sng" dirty="0"/>
              <a:t>IAM processes support the following operational activities:</a:t>
            </a:r>
          </a:p>
        </p:txBody>
      </p:sp>
      <p:sp>
        <p:nvSpPr>
          <p:cNvPr id="3" name="Text Placeholder 2">
            <a:extLst>
              <a:ext uri="{FF2B5EF4-FFF2-40B4-BE49-F238E27FC236}">
                <a16:creationId xmlns:a16="http://schemas.microsoft.com/office/drawing/2014/main" id="{0619BC06-4A09-5D42-4146-06F0A9611F2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372A672-8DFB-6316-040B-BE8DCE5A99CC}"/>
              </a:ext>
            </a:extLst>
          </p:cNvPr>
          <p:cNvPicPr>
            <a:picLocks noChangeAspect="1"/>
          </p:cNvPicPr>
          <p:nvPr/>
        </p:nvPicPr>
        <p:blipFill>
          <a:blip r:embed="rId2"/>
          <a:stretch>
            <a:fillRect/>
          </a:stretch>
        </p:blipFill>
        <p:spPr>
          <a:xfrm>
            <a:off x="415600" y="1301955"/>
            <a:ext cx="11073811" cy="5049957"/>
          </a:xfrm>
          <a:prstGeom prst="rect">
            <a:avLst/>
          </a:prstGeom>
        </p:spPr>
      </p:pic>
    </p:spTree>
    <p:extLst>
      <p:ext uri="{BB962C8B-B14F-4D97-AF65-F5344CB8AC3E}">
        <p14:creationId xmlns:p14="http://schemas.microsoft.com/office/powerpoint/2010/main" val="323780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140B8-66B4-9D78-ADD4-81B3C23EB1AC}"/>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08597F38-9D07-C766-9A01-660E885C0061}"/>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6E220C0-C8D2-90F7-AEA4-4354FA3DC384}"/>
              </a:ext>
            </a:extLst>
          </p:cNvPr>
          <p:cNvPicPr>
            <a:picLocks noChangeAspect="1"/>
          </p:cNvPicPr>
          <p:nvPr/>
        </p:nvPicPr>
        <p:blipFill>
          <a:blip r:embed="rId2"/>
          <a:stretch>
            <a:fillRect/>
          </a:stretch>
        </p:blipFill>
        <p:spPr>
          <a:xfrm>
            <a:off x="415599" y="766267"/>
            <a:ext cx="11360799" cy="5325467"/>
          </a:xfrm>
          <a:prstGeom prst="rect">
            <a:avLst/>
          </a:prstGeom>
        </p:spPr>
      </p:pic>
    </p:spTree>
    <p:extLst>
      <p:ext uri="{BB962C8B-B14F-4D97-AF65-F5344CB8AC3E}">
        <p14:creationId xmlns:p14="http://schemas.microsoft.com/office/powerpoint/2010/main" val="1986609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F2A1-4279-B3F9-6D45-D6FEE2616F63}"/>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2A5E8B25-F633-81A2-726D-65B2C8103E4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524259B-625E-959C-8432-FC7BF3E08716}"/>
              </a:ext>
            </a:extLst>
          </p:cNvPr>
          <p:cNvPicPr>
            <a:picLocks noChangeAspect="1"/>
          </p:cNvPicPr>
          <p:nvPr/>
        </p:nvPicPr>
        <p:blipFill>
          <a:blip r:embed="rId2"/>
          <a:stretch>
            <a:fillRect/>
          </a:stretch>
        </p:blipFill>
        <p:spPr>
          <a:xfrm>
            <a:off x="415601" y="1320617"/>
            <a:ext cx="10784507" cy="4771116"/>
          </a:xfrm>
          <a:prstGeom prst="rect">
            <a:avLst/>
          </a:prstGeom>
        </p:spPr>
      </p:pic>
    </p:spTree>
    <p:extLst>
      <p:ext uri="{BB962C8B-B14F-4D97-AF65-F5344CB8AC3E}">
        <p14:creationId xmlns:p14="http://schemas.microsoft.com/office/powerpoint/2010/main" val="2197471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1561B-A2F9-993E-DD7F-EB2E4F353EBA}"/>
              </a:ext>
            </a:extLst>
          </p:cNvPr>
          <p:cNvSpPr>
            <a:spLocks noGrp="1"/>
          </p:cNvSpPr>
          <p:nvPr>
            <p:ph type="title"/>
          </p:nvPr>
        </p:nvSpPr>
        <p:spPr/>
        <p:txBody>
          <a:bodyPr>
            <a:normAutofit/>
          </a:bodyPr>
          <a:lstStyle/>
          <a:p>
            <a:r>
              <a:rPr lang="en-US" sz="3733" b="1" i="1" dirty="0">
                <a:latin typeface="ITCBaileySansCom-BookItalic"/>
              </a:rPr>
              <a:t>Identity life cycle</a:t>
            </a:r>
            <a:endParaRPr lang="en-US" sz="5333" b="1" dirty="0"/>
          </a:p>
        </p:txBody>
      </p:sp>
      <p:sp>
        <p:nvSpPr>
          <p:cNvPr id="3" name="Text Placeholder 2">
            <a:extLst>
              <a:ext uri="{FF2B5EF4-FFF2-40B4-BE49-F238E27FC236}">
                <a16:creationId xmlns:a16="http://schemas.microsoft.com/office/drawing/2014/main" id="{6F7A5D7D-55D5-3554-AFE3-D277D4D31EEA}"/>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2FAC197-E6AB-5431-2A8E-A39B59A937E4}"/>
              </a:ext>
            </a:extLst>
          </p:cNvPr>
          <p:cNvPicPr>
            <a:picLocks noChangeAspect="1"/>
          </p:cNvPicPr>
          <p:nvPr/>
        </p:nvPicPr>
        <p:blipFill>
          <a:blip r:embed="rId2"/>
          <a:stretch>
            <a:fillRect/>
          </a:stretch>
        </p:blipFill>
        <p:spPr>
          <a:xfrm>
            <a:off x="1467174" y="1780504"/>
            <a:ext cx="7873137" cy="4119184"/>
          </a:xfrm>
          <a:prstGeom prst="rect">
            <a:avLst/>
          </a:prstGeom>
        </p:spPr>
      </p:pic>
    </p:spTree>
    <p:extLst>
      <p:ext uri="{BB962C8B-B14F-4D97-AF65-F5344CB8AC3E}">
        <p14:creationId xmlns:p14="http://schemas.microsoft.com/office/powerpoint/2010/main" val="4244050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89668-87B1-E66C-9221-5E674401725C}"/>
              </a:ext>
            </a:extLst>
          </p:cNvPr>
          <p:cNvSpPr>
            <a:spLocks noGrp="1"/>
          </p:cNvSpPr>
          <p:nvPr>
            <p:ph type="title"/>
          </p:nvPr>
        </p:nvSpPr>
        <p:spPr/>
        <p:txBody>
          <a:bodyPr/>
          <a:lstStyle/>
          <a:p>
            <a:r>
              <a:rPr lang="en-US" sz="2400" b="1" dirty="0">
                <a:latin typeface="ITCBaileySansCom-Bold"/>
              </a:rPr>
              <a:t>Getting Ready for the Cloud</a:t>
            </a:r>
            <a:endParaRPr lang="en-US" dirty="0"/>
          </a:p>
        </p:txBody>
      </p:sp>
      <p:sp>
        <p:nvSpPr>
          <p:cNvPr id="3" name="Text Placeholder 2">
            <a:extLst>
              <a:ext uri="{FF2B5EF4-FFF2-40B4-BE49-F238E27FC236}">
                <a16:creationId xmlns:a16="http://schemas.microsoft.com/office/drawing/2014/main" id="{9EDF4BF3-F844-6C43-0DEB-6B992B9246F1}"/>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88CAC6E-ED42-E77A-71A4-25450027F235}"/>
              </a:ext>
            </a:extLst>
          </p:cNvPr>
          <p:cNvPicPr>
            <a:picLocks noChangeAspect="1"/>
          </p:cNvPicPr>
          <p:nvPr/>
        </p:nvPicPr>
        <p:blipFill>
          <a:blip r:embed="rId2"/>
          <a:stretch>
            <a:fillRect/>
          </a:stretch>
        </p:blipFill>
        <p:spPr>
          <a:xfrm>
            <a:off x="415600" y="1206680"/>
            <a:ext cx="10143912" cy="4795936"/>
          </a:xfrm>
          <a:prstGeom prst="rect">
            <a:avLst/>
          </a:prstGeom>
        </p:spPr>
      </p:pic>
    </p:spTree>
    <p:extLst>
      <p:ext uri="{BB962C8B-B14F-4D97-AF65-F5344CB8AC3E}">
        <p14:creationId xmlns:p14="http://schemas.microsoft.com/office/powerpoint/2010/main" val="3848392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DF8CA-CA03-C939-1CFD-2F4E2A5BF575}"/>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A3FF6080-4743-580C-80A0-E3B56350167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A911D2F-CFAC-029F-35F0-56EB8378C5E6}"/>
              </a:ext>
            </a:extLst>
          </p:cNvPr>
          <p:cNvPicPr>
            <a:picLocks noChangeAspect="1"/>
          </p:cNvPicPr>
          <p:nvPr/>
        </p:nvPicPr>
        <p:blipFill>
          <a:blip r:embed="rId2"/>
          <a:stretch>
            <a:fillRect/>
          </a:stretch>
        </p:blipFill>
        <p:spPr>
          <a:xfrm>
            <a:off x="415600" y="675402"/>
            <a:ext cx="10805173" cy="5507197"/>
          </a:xfrm>
          <a:prstGeom prst="rect">
            <a:avLst/>
          </a:prstGeom>
        </p:spPr>
      </p:pic>
    </p:spTree>
    <p:extLst>
      <p:ext uri="{BB962C8B-B14F-4D97-AF65-F5344CB8AC3E}">
        <p14:creationId xmlns:p14="http://schemas.microsoft.com/office/powerpoint/2010/main" val="1466757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61BF-D43A-4570-0C04-9354909B840F}"/>
              </a:ext>
            </a:extLst>
          </p:cNvPr>
          <p:cNvSpPr>
            <a:spLocks noGrp="1"/>
          </p:cNvSpPr>
          <p:nvPr>
            <p:ph type="title"/>
          </p:nvPr>
        </p:nvSpPr>
        <p:spPr/>
        <p:txBody>
          <a:bodyPr/>
          <a:lstStyle/>
          <a:p>
            <a:r>
              <a:rPr lang="en-US" sz="2400" b="1" dirty="0">
                <a:latin typeface="ITCBaileySansCom-Bold"/>
              </a:rPr>
              <a:t>Relevant IAM Standards and Protocols for Cloud Services</a:t>
            </a:r>
            <a:endParaRPr lang="en-US" dirty="0"/>
          </a:p>
        </p:txBody>
      </p:sp>
      <p:sp>
        <p:nvSpPr>
          <p:cNvPr id="3" name="Text Placeholder 2">
            <a:extLst>
              <a:ext uri="{FF2B5EF4-FFF2-40B4-BE49-F238E27FC236}">
                <a16:creationId xmlns:a16="http://schemas.microsoft.com/office/drawing/2014/main" id="{4483FE66-4870-B36E-EF3B-BE2FA3F7D43D}"/>
              </a:ext>
            </a:extLst>
          </p:cNvPr>
          <p:cNvSpPr>
            <a:spLocks noGrp="1"/>
          </p:cNvSpPr>
          <p:nvPr>
            <p:ph type="body" idx="1"/>
          </p:nvPr>
        </p:nvSpPr>
        <p:spPr/>
        <p:txBody>
          <a:bodyPr/>
          <a:lstStyle/>
          <a:p>
            <a:pPr>
              <a:lnSpc>
                <a:spcPct val="250000"/>
              </a:lnSpc>
            </a:pPr>
            <a:r>
              <a:rPr lang="en-US" sz="2400" b="1" dirty="0">
                <a:latin typeface="ITCBaileySansCom-Bold"/>
              </a:rPr>
              <a:t>IAM Standards and Specifications for Organizations</a:t>
            </a:r>
          </a:p>
          <a:p>
            <a:pPr lvl="1">
              <a:lnSpc>
                <a:spcPct val="250000"/>
              </a:lnSpc>
            </a:pPr>
            <a:r>
              <a:rPr lang="en-US" b="1" i="0" u="none" strike="noStrike" baseline="0" dirty="0">
                <a:latin typeface="ITCBaileySansCom-Bold"/>
              </a:rPr>
              <a:t>Security Assertion Markup Language (SAML)</a:t>
            </a:r>
            <a:endParaRPr lang="en-US" b="1" dirty="0">
              <a:latin typeface="ITCBaileySansCom-Bold"/>
            </a:endParaRPr>
          </a:p>
          <a:p>
            <a:pPr lvl="1">
              <a:lnSpc>
                <a:spcPct val="250000"/>
              </a:lnSpc>
            </a:pPr>
            <a:r>
              <a:rPr lang="en-US" b="1" i="0" u="none" strike="noStrike" baseline="0" dirty="0">
                <a:latin typeface="ITCBaileySansCom-Bold"/>
              </a:rPr>
              <a:t>Service Provisioning Markup Language (SPML)</a:t>
            </a:r>
          </a:p>
          <a:p>
            <a:pPr lvl="1">
              <a:lnSpc>
                <a:spcPct val="250000"/>
              </a:lnSpc>
            </a:pPr>
            <a:r>
              <a:rPr lang="en-US" b="1" i="0" u="none" strike="noStrike" baseline="0" dirty="0" err="1">
                <a:latin typeface="ITCBaileySansCom-Bold"/>
              </a:rPr>
              <a:t>eXensible</a:t>
            </a:r>
            <a:r>
              <a:rPr lang="en-US" b="1" i="0" u="none" strike="noStrike" baseline="0" dirty="0">
                <a:latin typeface="ITCBaileySansCom-Bold"/>
              </a:rPr>
              <a:t> Access Control Markup Language (XACML)</a:t>
            </a:r>
            <a:endParaRPr lang="en-US" b="1" dirty="0">
              <a:latin typeface="ITCBaileySansCom-Bold"/>
            </a:endParaRPr>
          </a:p>
          <a:p>
            <a:pPr lvl="1">
              <a:lnSpc>
                <a:spcPct val="250000"/>
              </a:lnSpc>
            </a:pPr>
            <a:r>
              <a:rPr lang="en-US" b="1" i="0" u="none" strike="noStrike" baseline="0" dirty="0">
                <a:latin typeface="ITCBaileySansCom-Bold"/>
              </a:rPr>
              <a:t>Open Authentication (OAuth)</a:t>
            </a:r>
            <a:endParaRPr lang="en-US" dirty="0"/>
          </a:p>
        </p:txBody>
      </p:sp>
    </p:spTree>
    <p:extLst>
      <p:ext uri="{BB962C8B-B14F-4D97-AF65-F5344CB8AC3E}">
        <p14:creationId xmlns:p14="http://schemas.microsoft.com/office/powerpoint/2010/main" val="2119410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3943-3410-2B2C-1114-CD3914A36A85}"/>
              </a:ext>
            </a:extLst>
          </p:cNvPr>
          <p:cNvSpPr>
            <a:spLocks noGrp="1"/>
          </p:cNvSpPr>
          <p:nvPr>
            <p:ph type="title"/>
          </p:nvPr>
        </p:nvSpPr>
        <p:spPr/>
        <p:txBody>
          <a:bodyPr/>
          <a:lstStyle/>
          <a:p>
            <a:r>
              <a:rPr lang="en-US" sz="2400" dirty="0">
                <a:latin typeface="MeridienLTStd-Roman"/>
              </a:rPr>
              <a:t>Four major challenges in user and access management faced by cloud users:</a:t>
            </a:r>
            <a:endParaRPr lang="en-US" dirty="0"/>
          </a:p>
        </p:txBody>
      </p:sp>
      <p:sp>
        <p:nvSpPr>
          <p:cNvPr id="3" name="Text Placeholder 2">
            <a:extLst>
              <a:ext uri="{FF2B5EF4-FFF2-40B4-BE49-F238E27FC236}">
                <a16:creationId xmlns:a16="http://schemas.microsoft.com/office/drawing/2014/main" id="{EA7D0DF9-53F9-EF20-2978-7B257C75BD7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14BB585-B424-4DEF-F4A2-7C67C7E3CC51}"/>
              </a:ext>
            </a:extLst>
          </p:cNvPr>
          <p:cNvPicPr>
            <a:picLocks noChangeAspect="1"/>
          </p:cNvPicPr>
          <p:nvPr/>
        </p:nvPicPr>
        <p:blipFill>
          <a:blip r:embed="rId2"/>
          <a:stretch>
            <a:fillRect/>
          </a:stretch>
        </p:blipFill>
        <p:spPr>
          <a:xfrm>
            <a:off x="415601" y="1562134"/>
            <a:ext cx="11084143" cy="4192903"/>
          </a:xfrm>
          <a:prstGeom prst="rect">
            <a:avLst/>
          </a:prstGeom>
        </p:spPr>
      </p:pic>
    </p:spTree>
    <p:extLst>
      <p:ext uri="{BB962C8B-B14F-4D97-AF65-F5344CB8AC3E}">
        <p14:creationId xmlns:p14="http://schemas.microsoft.com/office/powerpoint/2010/main" val="1994040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7356-5C73-4D23-95D0-6A650B6540CD}"/>
              </a:ext>
            </a:extLst>
          </p:cNvPr>
          <p:cNvSpPr>
            <a:spLocks noGrp="1"/>
          </p:cNvSpPr>
          <p:nvPr>
            <p:ph type="title"/>
          </p:nvPr>
        </p:nvSpPr>
        <p:spPr/>
        <p:txBody>
          <a:bodyPr>
            <a:normAutofit fontScale="90000"/>
          </a:bodyPr>
          <a:lstStyle/>
          <a:p>
            <a:r>
              <a:rPr lang="en-US" b="1" i="0" u="none" strike="noStrike" baseline="0" dirty="0">
                <a:latin typeface="ITCBaileySansCom-Bold"/>
              </a:rPr>
              <a:t>Security Assertion Markup Language (SAML)</a:t>
            </a:r>
            <a:br>
              <a:rPr lang="en-US" b="1" dirty="0">
                <a:latin typeface="ITCBaileySansCom-Bold"/>
              </a:rPr>
            </a:br>
            <a:endParaRPr lang="en-US" dirty="0"/>
          </a:p>
        </p:txBody>
      </p:sp>
      <p:sp>
        <p:nvSpPr>
          <p:cNvPr id="3" name="Text Placeholder 2">
            <a:extLst>
              <a:ext uri="{FF2B5EF4-FFF2-40B4-BE49-F238E27FC236}">
                <a16:creationId xmlns:a16="http://schemas.microsoft.com/office/drawing/2014/main" id="{C81AE553-F676-B5E7-CA13-C54A39CEC408}"/>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6AD4FA08-6E7D-B132-0514-C7D7A061A9F9}"/>
              </a:ext>
            </a:extLst>
          </p:cNvPr>
          <p:cNvPicPr>
            <a:picLocks noChangeAspect="1"/>
          </p:cNvPicPr>
          <p:nvPr/>
        </p:nvPicPr>
        <p:blipFill>
          <a:blip r:embed="rId2"/>
          <a:stretch>
            <a:fillRect/>
          </a:stretch>
        </p:blipFill>
        <p:spPr>
          <a:xfrm>
            <a:off x="415601" y="1416754"/>
            <a:ext cx="11156468" cy="5334463"/>
          </a:xfrm>
          <a:prstGeom prst="rect">
            <a:avLst/>
          </a:prstGeom>
        </p:spPr>
      </p:pic>
    </p:spTree>
    <p:extLst>
      <p:ext uri="{BB962C8B-B14F-4D97-AF65-F5344CB8AC3E}">
        <p14:creationId xmlns:p14="http://schemas.microsoft.com/office/powerpoint/2010/main" val="177697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3DC13-FF09-6DE0-8DF4-595EC806CE1D}"/>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1479AB2E-6C8B-BF27-CFE0-95A6828DD22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8CA5E1DC-DFE0-03E4-DE01-8DCA4B818A33}"/>
              </a:ext>
            </a:extLst>
          </p:cNvPr>
          <p:cNvPicPr>
            <a:picLocks noChangeAspect="1"/>
          </p:cNvPicPr>
          <p:nvPr/>
        </p:nvPicPr>
        <p:blipFill>
          <a:blip r:embed="rId2"/>
          <a:stretch>
            <a:fillRect/>
          </a:stretch>
        </p:blipFill>
        <p:spPr>
          <a:xfrm>
            <a:off x="415599" y="2184747"/>
            <a:ext cx="10546868" cy="2278765"/>
          </a:xfrm>
          <a:prstGeom prst="rect">
            <a:avLst/>
          </a:prstGeom>
        </p:spPr>
      </p:pic>
    </p:spTree>
    <p:extLst>
      <p:ext uri="{BB962C8B-B14F-4D97-AF65-F5344CB8AC3E}">
        <p14:creationId xmlns:p14="http://schemas.microsoft.com/office/powerpoint/2010/main" val="3930268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C537F-CEB2-30D7-1E98-A540CAE9EEF4}"/>
              </a:ext>
            </a:extLst>
          </p:cNvPr>
          <p:cNvSpPr>
            <a:spLocks noGrp="1"/>
          </p:cNvSpPr>
          <p:nvPr>
            <p:ph type="title"/>
          </p:nvPr>
        </p:nvSpPr>
        <p:spPr/>
        <p:txBody>
          <a:bodyPr>
            <a:normAutofit/>
          </a:bodyPr>
          <a:lstStyle/>
          <a:p>
            <a:r>
              <a:rPr lang="en-US" dirty="0"/>
              <a:t>SSO transaction steps using SAML</a:t>
            </a:r>
          </a:p>
        </p:txBody>
      </p:sp>
      <p:sp>
        <p:nvSpPr>
          <p:cNvPr id="3" name="Text Placeholder 2">
            <a:extLst>
              <a:ext uri="{FF2B5EF4-FFF2-40B4-BE49-F238E27FC236}">
                <a16:creationId xmlns:a16="http://schemas.microsoft.com/office/drawing/2014/main" id="{81102CB1-4CC6-5643-AE6D-A73DF09ECBC1}"/>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D8581CA-1BAD-EDA9-265B-D131883CDA57}"/>
              </a:ext>
            </a:extLst>
          </p:cNvPr>
          <p:cNvPicPr>
            <a:picLocks noChangeAspect="1"/>
          </p:cNvPicPr>
          <p:nvPr/>
        </p:nvPicPr>
        <p:blipFill>
          <a:blip r:embed="rId2"/>
          <a:stretch>
            <a:fillRect/>
          </a:stretch>
        </p:blipFill>
        <p:spPr>
          <a:xfrm>
            <a:off x="1260530" y="1562134"/>
            <a:ext cx="7976461" cy="5082861"/>
          </a:xfrm>
          <a:prstGeom prst="rect">
            <a:avLst/>
          </a:prstGeom>
        </p:spPr>
      </p:pic>
    </p:spTree>
    <p:extLst>
      <p:ext uri="{BB962C8B-B14F-4D97-AF65-F5344CB8AC3E}">
        <p14:creationId xmlns:p14="http://schemas.microsoft.com/office/powerpoint/2010/main" val="1205678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29E1-1DBB-2CD7-1127-03336EAE94B5}"/>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BD334773-FA1A-3E4E-E912-509AEC26C3E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AA9ED374-A474-8716-E647-F785408030AC}"/>
              </a:ext>
            </a:extLst>
          </p:cNvPr>
          <p:cNvPicPr>
            <a:picLocks noChangeAspect="1"/>
          </p:cNvPicPr>
          <p:nvPr/>
        </p:nvPicPr>
        <p:blipFill>
          <a:blip r:embed="rId2"/>
          <a:stretch>
            <a:fillRect/>
          </a:stretch>
        </p:blipFill>
        <p:spPr>
          <a:xfrm>
            <a:off x="415600" y="574540"/>
            <a:ext cx="11187464" cy="5690093"/>
          </a:xfrm>
          <a:prstGeom prst="rect">
            <a:avLst/>
          </a:prstGeom>
        </p:spPr>
      </p:pic>
    </p:spTree>
    <p:extLst>
      <p:ext uri="{BB962C8B-B14F-4D97-AF65-F5344CB8AC3E}">
        <p14:creationId xmlns:p14="http://schemas.microsoft.com/office/powerpoint/2010/main" val="1751513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ED24-6688-FA3A-16B8-995380A8DBC3}"/>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F4A24DB1-652C-0EA1-D094-B526BD0D169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EF45C79-C8C5-B845-41D5-7278B1F979B5}"/>
              </a:ext>
            </a:extLst>
          </p:cNvPr>
          <p:cNvPicPr>
            <a:picLocks noChangeAspect="1"/>
          </p:cNvPicPr>
          <p:nvPr/>
        </p:nvPicPr>
        <p:blipFill>
          <a:blip r:embed="rId2"/>
          <a:stretch>
            <a:fillRect/>
          </a:stretch>
        </p:blipFill>
        <p:spPr>
          <a:xfrm>
            <a:off x="415600" y="599195"/>
            <a:ext cx="11360800" cy="5659611"/>
          </a:xfrm>
          <a:prstGeom prst="rect">
            <a:avLst/>
          </a:prstGeom>
        </p:spPr>
      </p:pic>
    </p:spTree>
    <p:extLst>
      <p:ext uri="{BB962C8B-B14F-4D97-AF65-F5344CB8AC3E}">
        <p14:creationId xmlns:p14="http://schemas.microsoft.com/office/powerpoint/2010/main" val="1469243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47A85-4ADD-CF77-B065-107808F428C2}"/>
              </a:ext>
            </a:extLst>
          </p:cNvPr>
          <p:cNvSpPr>
            <a:spLocks noGrp="1"/>
          </p:cNvSpPr>
          <p:nvPr>
            <p:ph type="title"/>
          </p:nvPr>
        </p:nvSpPr>
        <p:spPr>
          <a:xfrm>
            <a:off x="415600" y="593367"/>
            <a:ext cx="11360800" cy="439853"/>
          </a:xfrm>
        </p:spPr>
        <p:txBody>
          <a:bodyPr>
            <a:normAutofit fontScale="90000"/>
          </a:bodyPr>
          <a:lstStyle/>
          <a:p>
            <a:r>
              <a:rPr lang="en-US" dirty="0"/>
              <a:t>SPML </a:t>
            </a:r>
            <a:r>
              <a:rPr lang="en-US" sz="2400" b="1" dirty="0">
                <a:latin typeface="ITCBaileySansCom-Bold"/>
              </a:rPr>
              <a:t>Service Provisioning Markup Language</a:t>
            </a:r>
            <a:endParaRPr lang="en-US" dirty="0"/>
          </a:p>
        </p:txBody>
      </p:sp>
      <p:sp>
        <p:nvSpPr>
          <p:cNvPr id="3" name="Text Placeholder 2">
            <a:extLst>
              <a:ext uri="{FF2B5EF4-FFF2-40B4-BE49-F238E27FC236}">
                <a16:creationId xmlns:a16="http://schemas.microsoft.com/office/drawing/2014/main" id="{E9894C38-331A-FD7A-47D7-8A0DC207FF6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0B2B35F9-9559-9425-A140-D5F0BE925703}"/>
              </a:ext>
            </a:extLst>
          </p:cNvPr>
          <p:cNvPicPr>
            <a:picLocks noChangeAspect="1"/>
          </p:cNvPicPr>
          <p:nvPr/>
        </p:nvPicPr>
        <p:blipFill>
          <a:blip r:embed="rId2"/>
          <a:stretch>
            <a:fillRect/>
          </a:stretch>
        </p:blipFill>
        <p:spPr>
          <a:xfrm>
            <a:off x="613625" y="1374184"/>
            <a:ext cx="10596816" cy="4890451"/>
          </a:xfrm>
          <a:prstGeom prst="rect">
            <a:avLst/>
          </a:prstGeom>
        </p:spPr>
      </p:pic>
    </p:spTree>
    <p:extLst>
      <p:ext uri="{BB962C8B-B14F-4D97-AF65-F5344CB8AC3E}">
        <p14:creationId xmlns:p14="http://schemas.microsoft.com/office/powerpoint/2010/main" val="670222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02A1-ED80-8D72-6075-BEE28CD12830}"/>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B61EA3A0-3BDB-620A-AEFC-732F825EEABF}"/>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FEA0ACB-A5EB-6396-038F-368F259BB350}"/>
              </a:ext>
            </a:extLst>
          </p:cNvPr>
          <p:cNvPicPr>
            <a:picLocks noChangeAspect="1"/>
          </p:cNvPicPr>
          <p:nvPr/>
        </p:nvPicPr>
        <p:blipFill>
          <a:blip r:embed="rId2"/>
          <a:stretch>
            <a:fillRect/>
          </a:stretch>
        </p:blipFill>
        <p:spPr>
          <a:xfrm>
            <a:off x="309966" y="1410967"/>
            <a:ext cx="10569844" cy="3739012"/>
          </a:xfrm>
          <a:prstGeom prst="rect">
            <a:avLst/>
          </a:prstGeom>
        </p:spPr>
      </p:pic>
    </p:spTree>
    <p:extLst>
      <p:ext uri="{BB962C8B-B14F-4D97-AF65-F5344CB8AC3E}">
        <p14:creationId xmlns:p14="http://schemas.microsoft.com/office/powerpoint/2010/main" val="758836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93A78-E2E7-5198-8C2A-91CA5C266EF4}"/>
              </a:ext>
            </a:extLst>
          </p:cNvPr>
          <p:cNvSpPr>
            <a:spLocks noGrp="1"/>
          </p:cNvSpPr>
          <p:nvPr>
            <p:ph type="title"/>
          </p:nvPr>
        </p:nvSpPr>
        <p:spPr>
          <a:xfrm>
            <a:off x="415600" y="593367"/>
            <a:ext cx="11360800" cy="625327"/>
          </a:xfrm>
        </p:spPr>
        <p:txBody>
          <a:bodyPr>
            <a:normAutofit fontScale="90000"/>
          </a:bodyPr>
          <a:lstStyle/>
          <a:p>
            <a:r>
              <a:rPr lang="en-US" dirty="0"/>
              <a:t>SPML USE CASE</a:t>
            </a:r>
          </a:p>
        </p:txBody>
      </p:sp>
      <p:sp>
        <p:nvSpPr>
          <p:cNvPr id="3" name="Text Placeholder 2">
            <a:extLst>
              <a:ext uri="{FF2B5EF4-FFF2-40B4-BE49-F238E27FC236}">
                <a16:creationId xmlns:a16="http://schemas.microsoft.com/office/drawing/2014/main" id="{1D25F473-471E-669B-198C-4D3BF33FF53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234B6F80-7B62-8A56-4914-8032FACC86BD}"/>
              </a:ext>
            </a:extLst>
          </p:cNvPr>
          <p:cNvPicPr>
            <a:picLocks noChangeAspect="1"/>
          </p:cNvPicPr>
          <p:nvPr/>
        </p:nvPicPr>
        <p:blipFill>
          <a:blip r:embed="rId2"/>
          <a:stretch>
            <a:fillRect/>
          </a:stretch>
        </p:blipFill>
        <p:spPr>
          <a:xfrm>
            <a:off x="661261" y="1410967"/>
            <a:ext cx="9918915" cy="4873040"/>
          </a:xfrm>
          <a:prstGeom prst="rect">
            <a:avLst/>
          </a:prstGeom>
        </p:spPr>
      </p:pic>
    </p:spTree>
    <p:extLst>
      <p:ext uri="{BB962C8B-B14F-4D97-AF65-F5344CB8AC3E}">
        <p14:creationId xmlns:p14="http://schemas.microsoft.com/office/powerpoint/2010/main" val="3812286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21BF92-998A-4583-96EF-83935456503D}"/>
              </a:ext>
            </a:extLst>
          </p:cNvPr>
          <p:cNvSpPr>
            <a:spLocks noGrp="1"/>
          </p:cNvSpPr>
          <p:nvPr>
            <p:ph type="body" idx="1"/>
          </p:nvPr>
        </p:nvSpPr>
        <p:spPr>
          <a:xfrm>
            <a:off x="415600" y="361627"/>
            <a:ext cx="11360800" cy="5730107"/>
          </a:xfrm>
        </p:spPr>
        <p:txBody>
          <a:bodyPr/>
          <a:lstStyle/>
          <a:p>
            <a:r>
              <a:rPr lang="en-US" b="1" dirty="0"/>
              <a:t>HR System of Record</a:t>
            </a:r>
            <a:r>
              <a:rPr lang="en-US" dirty="0"/>
              <a:t>:</a:t>
            </a:r>
          </a:p>
          <a:p>
            <a:pPr lvl="1">
              <a:buFont typeface="Arial" panose="020B0604020202020204" pitchFamily="34" charset="0"/>
              <a:buChar char="•"/>
            </a:pPr>
            <a:r>
              <a:rPr lang="en-US" sz="2400" dirty="0"/>
              <a:t>Acts as the </a:t>
            </a:r>
            <a:r>
              <a:rPr lang="en-US" sz="2400" b="1" dirty="0"/>
              <a:t>requesting authority</a:t>
            </a:r>
            <a:r>
              <a:rPr lang="en-US" sz="2400" dirty="0"/>
              <a:t>.</a:t>
            </a:r>
          </a:p>
          <a:p>
            <a:pPr lvl="1">
              <a:buFont typeface="Arial" panose="020B0604020202020204" pitchFamily="34" charset="0"/>
              <a:buChar char="•"/>
            </a:pPr>
            <a:r>
              <a:rPr lang="en-US" sz="2400" dirty="0"/>
              <a:t>It is an SPML web services client that initiates the provisioning request for a user account (e.g., a new employee or an update to an existing user’s account).</a:t>
            </a:r>
          </a:p>
          <a:p>
            <a:endParaRPr lang="en-US" dirty="0"/>
          </a:p>
        </p:txBody>
      </p:sp>
      <p:pic>
        <p:nvPicPr>
          <p:cNvPr id="5" name="Picture 4">
            <a:extLst>
              <a:ext uri="{FF2B5EF4-FFF2-40B4-BE49-F238E27FC236}">
                <a16:creationId xmlns:a16="http://schemas.microsoft.com/office/drawing/2014/main" id="{55F9065B-BCF7-0D04-B03A-8B2B17DE14DB}"/>
              </a:ext>
            </a:extLst>
          </p:cNvPr>
          <p:cNvPicPr>
            <a:picLocks noChangeAspect="1"/>
          </p:cNvPicPr>
          <p:nvPr/>
        </p:nvPicPr>
        <p:blipFill>
          <a:blip r:embed="rId2"/>
          <a:stretch>
            <a:fillRect/>
          </a:stretch>
        </p:blipFill>
        <p:spPr>
          <a:xfrm>
            <a:off x="864279" y="3061441"/>
            <a:ext cx="10687124" cy="2662600"/>
          </a:xfrm>
          <a:prstGeom prst="rect">
            <a:avLst/>
          </a:prstGeom>
        </p:spPr>
      </p:pic>
    </p:spTree>
    <p:extLst>
      <p:ext uri="{BB962C8B-B14F-4D97-AF65-F5344CB8AC3E}">
        <p14:creationId xmlns:p14="http://schemas.microsoft.com/office/powerpoint/2010/main" val="3719764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3BF57-2981-467A-8DF4-94C90FA8667B}"/>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98372796-0697-9E25-648E-AB5B78C4B073}"/>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9FF106E-E215-B4FB-84EB-D4EFC50CCEE5}"/>
              </a:ext>
            </a:extLst>
          </p:cNvPr>
          <p:cNvPicPr>
            <a:picLocks noChangeAspect="1"/>
          </p:cNvPicPr>
          <p:nvPr/>
        </p:nvPicPr>
        <p:blipFill>
          <a:blip r:embed="rId2"/>
          <a:stretch>
            <a:fillRect/>
          </a:stretch>
        </p:blipFill>
        <p:spPr>
          <a:xfrm>
            <a:off x="692258" y="1686408"/>
            <a:ext cx="10828149" cy="4068629"/>
          </a:xfrm>
          <a:prstGeom prst="rect">
            <a:avLst/>
          </a:prstGeom>
        </p:spPr>
      </p:pic>
    </p:spTree>
    <p:extLst>
      <p:ext uri="{BB962C8B-B14F-4D97-AF65-F5344CB8AC3E}">
        <p14:creationId xmlns:p14="http://schemas.microsoft.com/office/powerpoint/2010/main" val="796501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A1EF-5131-E919-C84B-262F40B17D89}"/>
              </a:ext>
            </a:extLst>
          </p:cNvPr>
          <p:cNvSpPr>
            <a:spLocks noGrp="1"/>
          </p:cNvSpPr>
          <p:nvPr>
            <p:ph type="title"/>
          </p:nvPr>
        </p:nvSpPr>
        <p:spPr/>
        <p:txBody>
          <a:bodyPr>
            <a:normAutofit/>
          </a:bodyPr>
          <a:lstStyle/>
          <a:p>
            <a:r>
              <a:rPr lang="en-US" dirty="0"/>
              <a:t>XAML-</a:t>
            </a:r>
            <a:r>
              <a:rPr lang="en-US" dirty="0" err="1"/>
              <a:t>eXtensible</a:t>
            </a:r>
            <a:r>
              <a:rPr lang="en-US" dirty="0"/>
              <a:t> Access Control Markup Language</a:t>
            </a:r>
          </a:p>
        </p:txBody>
      </p:sp>
      <p:sp>
        <p:nvSpPr>
          <p:cNvPr id="3" name="Text Placeholder 2">
            <a:extLst>
              <a:ext uri="{FF2B5EF4-FFF2-40B4-BE49-F238E27FC236}">
                <a16:creationId xmlns:a16="http://schemas.microsoft.com/office/drawing/2014/main" id="{3C3A1CCF-D852-7829-3B3B-1A07D77F2E3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909F4558-DB22-34B8-8815-2AF562D66954}"/>
              </a:ext>
            </a:extLst>
          </p:cNvPr>
          <p:cNvPicPr>
            <a:picLocks noChangeAspect="1"/>
          </p:cNvPicPr>
          <p:nvPr/>
        </p:nvPicPr>
        <p:blipFill>
          <a:blip r:embed="rId2"/>
          <a:stretch>
            <a:fillRect/>
          </a:stretch>
        </p:blipFill>
        <p:spPr>
          <a:xfrm>
            <a:off x="698397" y="1314113"/>
            <a:ext cx="10708355" cy="5283657"/>
          </a:xfrm>
          <a:prstGeom prst="rect">
            <a:avLst/>
          </a:prstGeom>
        </p:spPr>
      </p:pic>
    </p:spTree>
    <p:extLst>
      <p:ext uri="{BB962C8B-B14F-4D97-AF65-F5344CB8AC3E}">
        <p14:creationId xmlns:p14="http://schemas.microsoft.com/office/powerpoint/2010/main" val="593241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2906-C2B7-27EB-EB30-77898A08818C}"/>
              </a:ext>
            </a:extLst>
          </p:cNvPr>
          <p:cNvSpPr>
            <a:spLocks noGrp="1"/>
          </p:cNvSpPr>
          <p:nvPr>
            <p:ph type="title"/>
          </p:nvPr>
        </p:nvSpPr>
        <p:spPr/>
        <p:txBody>
          <a:bodyPr/>
          <a:lstStyle/>
          <a:p>
            <a:r>
              <a:rPr lang="en-US" sz="2400" b="1" dirty="0" err="1">
                <a:latin typeface="ITCBaileySansCom-Bold"/>
              </a:rPr>
              <a:t>eXensible</a:t>
            </a:r>
            <a:r>
              <a:rPr lang="en-US" sz="2400" b="1" dirty="0">
                <a:latin typeface="ITCBaileySansCom-Bold"/>
              </a:rPr>
              <a:t> Access Control Markup Language (XACML)</a:t>
            </a:r>
            <a:endParaRPr lang="en-US" dirty="0"/>
          </a:p>
        </p:txBody>
      </p:sp>
      <p:sp>
        <p:nvSpPr>
          <p:cNvPr id="3" name="Text Placeholder 2">
            <a:extLst>
              <a:ext uri="{FF2B5EF4-FFF2-40B4-BE49-F238E27FC236}">
                <a16:creationId xmlns:a16="http://schemas.microsoft.com/office/drawing/2014/main" id="{1F13071A-FDDD-133D-044D-2EBC5531FCDF}"/>
              </a:ext>
            </a:extLst>
          </p:cNvPr>
          <p:cNvSpPr>
            <a:spLocks noGrp="1"/>
          </p:cNvSpPr>
          <p:nvPr>
            <p:ph type="body" idx="1"/>
          </p:nvPr>
        </p:nvSpPr>
        <p:spPr/>
        <p:txBody>
          <a:bodyPr/>
          <a:lstStyle/>
          <a:p>
            <a:pPr algn="l"/>
            <a:r>
              <a:rPr lang="en-US" sz="2400" dirty="0">
                <a:latin typeface="MeridienLTStd-Roman"/>
              </a:rPr>
              <a:t>XACML is an OASIS-ratified, general-purpose, XML-based access control language for policy management and access decisions.</a:t>
            </a:r>
          </a:p>
          <a:p>
            <a:pPr algn="l"/>
            <a:endParaRPr lang="en-US" sz="2400" dirty="0">
              <a:latin typeface="MeridienLTStd-Roman"/>
            </a:endParaRPr>
          </a:p>
          <a:p>
            <a:pPr algn="l"/>
            <a:r>
              <a:rPr lang="en-US" sz="2400" dirty="0">
                <a:latin typeface="MeridienLTStd-Roman"/>
              </a:rPr>
              <a:t> It provides an XML schema for a general policy language which is used to protect any kind of resource and make access decisions over these resources.</a:t>
            </a:r>
          </a:p>
          <a:p>
            <a:pPr algn="l"/>
            <a:endParaRPr lang="en-US" sz="2400" dirty="0">
              <a:latin typeface="MeridienLTStd-Roman"/>
            </a:endParaRPr>
          </a:p>
          <a:p>
            <a:pPr algn="l"/>
            <a:r>
              <a:rPr lang="en-US" sz="2400" dirty="0">
                <a:latin typeface="MeridienLTStd-Roman"/>
              </a:rPr>
              <a:t>The XACML standard not only gives the model of the policy language, but also proposes a processing environment model to manage the policies and to conclude the access decisions.</a:t>
            </a:r>
            <a:endParaRPr lang="en-US" dirty="0"/>
          </a:p>
        </p:txBody>
      </p:sp>
    </p:spTree>
    <p:extLst>
      <p:ext uri="{BB962C8B-B14F-4D97-AF65-F5344CB8AC3E}">
        <p14:creationId xmlns:p14="http://schemas.microsoft.com/office/powerpoint/2010/main" val="708449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D99F-356D-AAC7-C844-9088084A1005}"/>
              </a:ext>
            </a:extLst>
          </p:cNvPr>
          <p:cNvSpPr>
            <a:spLocks noGrp="1"/>
          </p:cNvSpPr>
          <p:nvPr>
            <p:ph type="title"/>
          </p:nvPr>
        </p:nvSpPr>
        <p:spPr>
          <a:xfrm>
            <a:off x="415600" y="376391"/>
            <a:ext cx="11360800" cy="222877"/>
          </a:xfrm>
        </p:spPr>
        <p:txBody>
          <a:bodyPr>
            <a:normAutofit fontScale="90000"/>
          </a:bodyPr>
          <a:lstStyle/>
          <a:p>
            <a:r>
              <a:rPr lang="en-US" dirty="0"/>
              <a:t>XACML</a:t>
            </a:r>
          </a:p>
        </p:txBody>
      </p:sp>
      <p:sp>
        <p:nvSpPr>
          <p:cNvPr id="3" name="Text Placeholder 2">
            <a:extLst>
              <a:ext uri="{FF2B5EF4-FFF2-40B4-BE49-F238E27FC236}">
                <a16:creationId xmlns:a16="http://schemas.microsoft.com/office/drawing/2014/main" id="{ADE5AF35-19D5-FB47-E247-943F0E33E8F3}"/>
              </a:ext>
            </a:extLst>
          </p:cNvPr>
          <p:cNvSpPr>
            <a:spLocks noGrp="1"/>
          </p:cNvSpPr>
          <p:nvPr>
            <p:ph type="body" idx="1"/>
          </p:nvPr>
        </p:nvSpPr>
        <p:spPr>
          <a:xfrm>
            <a:off x="415600" y="1157207"/>
            <a:ext cx="11360800" cy="4934527"/>
          </a:xfrm>
        </p:spPr>
        <p:txBody>
          <a:bodyPr>
            <a:normAutofit lnSpcReduction="10000"/>
          </a:bodyPr>
          <a:lstStyle/>
          <a:p>
            <a:pPr algn="just"/>
            <a:r>
              <a:rPr lang="en-US" sz="2400" dirty="0">
                <a:latin typeface="MeridienLTStd-Roman"/>
              </a:rPr>
              <a:t>The XACML context also specifies the </a:t>
            </a:r>
            <a:r>
              <a:rPr lang="en-US" sz="2400" b="1" dirty="0">
                <a:solidFill>
                  <a:srgbClr val="FF0000"/>
                </a:solidFill>
                <a:latin typeface="MeridienLTStd-Roman"/>
              </a:rPr>
              <a:t>request/response protocol </a:t>
            </a:r>
            <a:r>
              <a:rPr lang="en-US" sz="2400" dirty="0">
                <a:latin typeface="MeridienLTStd-Roman"/>
              </a:rPr>
              <a:t>that the application environment can use to </a:t>
            </a:r>
            <a:r>
              <a:rPr lang="en-US" sz="2400" dirty="0">
                <a:solidFill>
                  <a:srgbClr val="FF0000"/>
                </a:solidFill>
                <a:latin typeface="MeridienLTStd-Roman"/>
              </a:rPr>
              <a:t>communicate with the decision point. </a:t>
            </a:r>
          </a:p>
          <a:p>
            <a:pPr algn="just"/>
            <a:r>
              <a:rPr lang="en-US" sz="2400" dirty="0">
                <a:latin typeface="MeridienLTStd-Roman"/>
              </a:rPr>
              <a:t>The response to an access request is also specified using XML.</a:t>
            </a:r>
          </a:p>
          <a:p>
            <a:pPr algn="just"/>
            <a:r>
              <a:rPr lang="en-US" sz="2400" dirty="0">
                <a:latin typeface="MeridienLTStd-Roman"/>
              </a:rPr>
              <a:t>In a centrally </a:t>
            </a:r>
            <a:r>
              <a:rPr lang="en-US" sz="2400" dirty="0">
                <a:solidFill>
                  <a:srgbClr val="FF0000"/>
                </a:solidFill>
                <a:latin typeface="MeridienLTStd-Roman"/>
              </a:rPr>
              <a:t>managed IAM architecture</a:t>
            </a:r>
            <a:r>
              <a:rPr lang="en-US" sz="2400" dirty="0">
                <a:latin typeface="MeridienLTStd-Roman"/>
              </a:rPr>
              <a:t>, application-specific authorization models  (silos) make it difficult to state the </a:t>
            </a:r>
            <a:r>
              <a:rPr lang="en-US" sz="2400" dirty="0">
                <a:solidFill>
                  <a:srgbClr val="FF0000"/>
                </a:solidFill>
                <a:latin typeface="MeridienLTStd-Roman"/>
              </a:rPr>
              <a:t>access rights of individual users </a:t>
            </a:r>
            <a:r>
              <a:rPr lang="en-US" sz="2400" dirty="0">
                <a:latin typeface="MeridienLTStd-Roman"/>
              </a:rPr>
              <a:t>across all applications. </a:t>
            </a:r>
          </a:p>
          <a:p>
            <a:pPr algn="just"/>
            <a:r>
              <a:rPr lang="en-US" sz="2400" dirty="0" err="1">
                <a:latin typeface="MeridienLTStd-Roman"/>
              </a:rPr>
              <a:t>Hence,</a:t>
            </a:r>
            <a:r>
              <a:rPr lang="en-US" sz="2400" dirty="0" err="1">
                <a:solidFill>
                  <a:srgbClr val="FF0000"/>
                </a:solidFill>
                <a:latin typeface="MeridienLTStd-Roman"/>
              </a:rPr>
              <a:t>the</a:t>
            </a:r>
            <a:r>
              <a:rPr lang="en-US" sz="2400" dirty="0">
                <a:solidFill>
                  <a:srgbClr val="FF0000"/>
                </a:solidFill>
                <a:latin typeface="MeridienLTStd-Roman"/>
              </a:rPr>
              <a:t> goal of XACML is to provide a standardized language, a method of access control, and policy enforcement across all applications that implement a common authorization standard.</a:t>
            </a:r>
          </a:p>
          <a:p>
            <a:pPr algn="just"/>
            <a:r>
              <a:rPr lang="en-US" sz="2400" dirty="0">
                <a:latin typeface="MeridienLTStd-Roman"/>
              </a:rPr>
              <a:t> These authorization decisions are based on various authorization policies and rules centered on the user role and job function. In short, XACML allows for unified authorization policies.</a:t>
            </a:r>
            <a:endParaRPr lang="en-US" dirty="0">
              <a:latin typeface="MeridienLTStd-Roman"/>
            </a:endParaRPr>
          </a:p>
        </p:txBody>
      </p:sp>
      <p:sp>
        <p:nvSpPr>
          <p:cNvPr id="5" name="TextBox 4">
            <a:extLst>
              <a:ext uri="{FF2B5EF4-FFF2-40B4-BE49-F238E27FC236}">
                <a16:creationId xmlns:a16="http://schemas.microsoft.com/office/drawing/2014/main" id="{4A6FAC4E-9FC0-6E6E-8956-D3CEE99B3C6B}"/>
              </a:ext>
            </a:extLst>
          </p:cNvPr>
          <p:cNvSpPr txBox="1"/>
          <p:nvPr/>
        </p:nvSpPr>
        <p:spPr>
          <a:xfrm>
            <a:off x="2552053" y="561082"/>
            <a:ext cx="7428855" cy="379656"/>
          </a:xfrm>
          <a:prstGeom prst="rect">
            <a:avLst/>
          </a:prstGeom>
          <a:noFill/>
        </p:spPr>
        <p:txBody>
          <a:bodyPr wrap="square">
            <a:spAutoFit/>
          </a:bodyPr>
          <a:lstStyle/>
          <a:p>
            <a:pPr defTabSz="1219170">
              <a:buClr>
                <a:srgbClr val="000000"/>
              </a:buClr>
            </a:pPr>
            <a:r>
              <a:rPr lang="en-US" sz="1867" b="1" kern="0" dirty="0">
                <a:solidFill>
                  <a:srgbClr val="000000"/>
                </a:solidFill>
                <a:latin typeface="Arial"/>
                <a:cs typeface="Arial"/>
                <a:sym typeface="Arial"/>
              </a:rPr>
              <a:t>XACML-</a:t>
            </a:r>
            <a:r>
              <a:rPr lang="en-US" sz="1867" b="1" kern="0" dirty="0" err="1">
                <a:solidFill>
                  <a:srgbClr val="000000"/>
                </a:solidFill>
                <a:latin typeface="Arial"/>
                <a:cs typeface="Arial"/>
                <a:sym typeface="Arial"/>
              </a:rPr>
              <a:t>eXtensible</a:t>
            </a:r>
            <a:r>
              <a:rPr lang="en-US" sz="1867" b="1" kern="0" dirty="0">
                <a:solidFill>
                  <a:srgbClr val="000000"/>
                </a:solidFill>
                <a:latin typeface="Arial"/>
                <a:cs typeface="Arial"/>
                <a:sym typeface="Arial"/>
              </a:rPr>
              <a:t> Access Control Markup Language</a:t>
            </a:r>
          </a:p>
        </p:txBody>
      </p:sp>
    </p:spTree>
    <p:extLst>
      <p:ext uri="{BB962C8B-B14F-4D97-AF65-F5344CB8AC3E}">
        <p14:creationId xmlns:p14="http://schemas.microsoft.com/office/powerpoint/2010/main" val="650556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E6194-4A9B-238F-4A7E-FCA5C37AB34A}"/>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EFEF27E3-C2DC-DB9D-9CE5-AD23315FF715}"/>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4A94885-5020-6638-E43A-F9FF3681F17D}"/>
              </a:ext>
            </a:extLst>
          </p:cNvPr>
          <p:cNvPicPr>
            <a:picLocks noChangeAspect="1"/>
          </p:cNvPicPr>
          <p:nvPr/>
        </p:nvPicPr>
        <p:blipFill>
          <a:blip r:embed="rId2"/>
          <a:stretch>
            <a:fillRect/>
          </a:stretch>
        </p:blipFill>
        <p:spPr>
          <a:xfrm>
            <a:off x="1792868" y="319771"/>
            <a:ext cx="8606265" cy="6218459"/>
          </a:xfrm>
          <a:prstGeom prst="rect">
            <a:avLst/>
          </a:prstGeom>
        </p:spPr>
      </p:pic>
    </p:spTree>
    <p:extLst>
      <p:ext uri="{BB962C8B-B14F-4D97-AF65-F5344CB8AC3E}">
        <p14:creationId xmlns:p14="http://schemas.microsoft.com/office/powerpoint/2010/main" val="1033516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C80F-CA7E-F866-5E24-828963F9D165}"/>
              </a:ext>
            </a:extLst>
          </p:cNvPr>
          <p:cNvSpPr>
            <a:spLocks noGrp="1"/>
          </p:cNvSpPr>
          <p:nvPr>
            <p:ph type="title"/>
          </p:nvPr>
        </p:nvSpPr>
        <p:spPr/>
        <p:txBody>
          <a:bodyPr>
            <a:normAutofit/>
          </a:bodyPr>
          <a:lstStyle/>
          <a:p>
            <a:r>
              <a:rPr lang="en-US" dirty="0"/>
              <a:t>STEPS-</a:t>
            </a:r>
          </a:p>
        </p:txBody>
      </p:sp>
      <p:sp>
        <p:nvSpPr>
          <p:cNvPr id="3" name="Text Placeholder 2">
            <a:extLst>
              <a:ext uri="{FF2B5EF4-FFF2-40B4-BE49-F238E27FC236}">
                <a16:creationId xmlns:a16="http://schemas.microsoft.com/office/drawing/2014/main" id="{4ADB9950-3DC5-2718-7D3B-C5E1C0D6BEE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5292C3C-02AF-2F7B-09EF-86ED7DBFF69A}"/>
              </a:ext>
            </a:extLst>
          </p:cNvPr>
          <p:cNvPicPr>
            <a:picLocks noChangeAspect="1"/>
          </p:cNvPicPr>
          <p:nvPr/>
        </p:nvPicPr>
        <p:blipFill>
          <a:blip r:embed="rId2"/>
          <a:stretch>
            <a:fillRect/>
          </a:stretch>
        </p:blipFill>
        <p:spPr>
          <a:xfrm>
            <a:off x="603866" y="1410967"/>
            <a:ext cx="9124471" cy="5303980"/>
          </a:xfrm>
          <a:prstGeom prst="rect">
            <a:avLst/>
          </a:prstGeom>
        </p:spPr>
      </p:pic>
    </p:spTree>
    <p:extLst>
      <p:ext uri="{BB962C8B-B14F-4D97-AF65-F5344CB8AC3E}">
        <p14:creationId xmlns:p14="http://schemas.microsoft.com/office/powerpoint/2010/main" val="3805654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97DE7-2914-66CC-43C2-D18CE8DFE487}"/>
              </a:ext>
            </a:extLst>
          </p:cNvPr>
          <p:cNvSpPr>
            <a:spLocks noGrp="1"/>
          </p:cNvSpPr>
          <p:nvPr>
            <p:ph type="title"/>
          </p:nvPr>
        </p:nvSpPr>
        <p:spPr/>
        <p:txBody>
          <a:bodyPr>
            <a:normAutofit/>
          </a:bodyPr>
          <a:lstStyle/>
          <a:p>
            <a:r>
              <a:rPr lang="en-US" dirty="0"/>
              <a:t>XACML Architecture Diagram</a:t>
            </a:r>
          </a:p>
        </p:txBody>
      </p:sp>
      <p:sp>
        <p:nvSpPr>
          <p:cNvPr id="3" name="Text Placeholder 2">
            <a:extLst>
              <a:ext uri="{FF2B5EF4-FFF2-40B4-BE49-F238E27FC236}">
                <a16:creationId xmlns:a16="http://schemas.microsoft.com/office/drawing/2014/main" id="{A8A9730D-CD78-4E05-C684-4A962F79D2B4}"/>
              </a:ext>
            </a:extLst>
          </p:cNvPr>
          <p:cNvSpPr>
            <a:spLocks noGrp="1"/>
          </p:cNvSpPr>
          <p:nvPr>
            <p:ph type="body" idx="1"/>
          </p:nvPr>
        </p:nvSpPr>
        <p:spPr/>
        <p:txBody>
          <a:bodyPr/>
          <a:lstStyle/>
          <a:p>
            <a:endParaRPr lang="en-US" dirty="0"/>
          </a:p>
        </p:txBody>
      </p:sp>
      <p:pic>
        <p:nvPicPr>
          <p:cNvPr id="1026" name="Picture 2">
            <a:extLst>
              <a:ext uri="{FF2B5EF4-FFF2-40B4-BE49-F238E27FC236}">
                <a16:creationId xmlns:a16="http://schemas.microsoft.com/office/drawing/2014/main" id="{ED37920A-D531-FB77-9B68-47A163757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0967"/>
            <a:ext cx="12192000" cy="4475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944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2A7D3-AF38-510C-9027-34F796E90E64}"/>
              </a:ext>
            </a:extLst>
          </p:cNvPr>
          <p:cNvSpPr>
            <a:spLocks noGrp="1"/>
          </p:cNvSpPr>
          <p:nvPr>
            <p:ph type="title"/>
          </p:nvPr>
        </p:nvSpPr>
        <p:spPr/>
        <p:txBody>
          <a:bodyPr>
            <a:normAutofit fontScale="90000"/>
          </a:bodyPr>
          <a:lstStyle/>
          <a:p>
            <a:pPr algn="just"/>
            <a:r>
              <a:rPr lang="en-US" sz="2400" dirty="0">
                <a:latin typeface="MeridienLTStd-Roman"/>
              </a:rPr>
              <a:t>Illustrates the interaction among various health care participants with unique roles</a:t>
            </a:r>
            <a:br>
              <a:rPr lang="en-US" sz="2400" dirty="0">
                <a:latin typeface="MeridienLTStd-Roman"/>
              </a:rPr>
            </a:br>
            <a:r>
              <a:rPr lang="en-US" sz="2400" dirty="0">
                <a:latin typeface="MeridienLTStd-Roman"/>
              </a:rPr>
              <a:t>(authorization privileges) accessing sensitive patient records stored in a health care application</a:t>
            </a:r>
            <a:br>
              <a:rPr lang="en-US" sz="2400" i="1" dirty="0">
                <a:latin typeface="ITCBaileySansCom-BookItalic"/>
              </a:rPr>
            </a:br>
            <a:endParaRPr lang="en-US" dirty="0"/>
          </a:p>
        </p:txBody>
      </p:sp>
      <p:sp>
        <p:nvSpPr>
          <p:cNvPr id="3" name="Text Placeholder 2">
            <a:extLst>
              <a:ext uri="{FF2B5EF4-FFF2-40B4-BE49-F238E27FC236}">
                <a16:creationId xmlns:a16="http://schemas.microsoft.com/office/drawing/2014/main" id="{0D21767F-D557-2F40-34D8-85EDE0E003B1}"/>
              </a:ext>
            </a:extLst>
          </p:cNvPr>
          <p:cNvSpPr>
            <a:spLocks noGrp="1"/>
          </p:cNvSpPr>
          <p:nvPr>
            <p:ph type="body" idx="1"/>
          </p:nvPr>
        </p:nvSpPr>
        <p:spPr>
          <a:xfrm>
            <a:off x="415600" y="2159430"/>
            <a:ext cx="11360800" cy="3932303"/>
          </a:xfrm>
        </p:spPr>
        <p:txBody>
          <a:bodyPr/>
          <a:lstStyle/>
          <a:p>
            <a:pPr marL="152396" indent="0">
              <a:buNone/>
            </a:pPr>
            <a:endParaRPr lang="en-US" dirty="0"/>
          </a:p>
        </p:txBody>
      </p:sp>
      <p:pic>
        <p:nvPicPr>
          <p:cNvPr id="5" name="Picture 4">
            <a:extLst>
              <a:ext uri="{FF2B5EF4-FFF2-40B4-BE49-F238E27FC236}">
                <a16:creationId xmlns:a16="http://schemas.microsoft.com/office/drawing/2014/main" id="{D7934262-D944-72CE-7C08-546B0516FAE6}"/>
              </a:ext>
            </a:extLst>
          </p:cNvPr>
          <p:cNvPicPr>
            <a:picLocks noChangeAspect="1"/>
          </p:cNvPicPr>
          <p:nvPr/>
        </p:nvPicPr>
        <p:blipFill>
          <a:blip r:embed="rId2"/>
          <a:stretch>
            <a:fillRect/>
          </a:stretch>
        </p:blipFill>
        <p:spPr>
          <a:xfrm>
            <a:off x="2319580" y="1608484"/>
            <a:ext cx="6726264" cy="5034192"/>
          </a:xfrm>
          <a:prstGeom prst="rect">
            <a:avLst/>
          </a:prstGeom>
        </p:spPr>
      </p:pic>
    </p:spTree>
    <p:extLst>
      <p:ext uri="{BB962C8B-B14F-4D97-AF65-F5344CB8AC3E}">
        <p14:creationId xmlns:p14="http://schemas.microsoft.com/office/powerpoint/2010/main" val="15737172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4B4F-CCB7-85C5-0349-0C3F719B06CF}"/>
              </a:ext>
            </a:extLst>
          </p:cNvPr>
          <p:cNvSpPr>
            <a:spLocks noGrp="1"/>
          </p:cNvSpPr>
          <p:nvPr>
            <p:ph type="title"/>
          </p:nvPr>
        </p:nvSpPr>
        <p:spPr/>
        <p:txBody>
          <a:bodyPr/>
          <a:lstStyle/>
          <a:p>
            <a:r>
              <a:rPr lang="en-US" sz="2400" dirty="0">
                <a:latin typeface="MeridienLTStd-Roman"/>
              </a:rPr>
              <a:t>The figure illustrates the following steps involved in the XACML process:</a:t>
            </a:r>
            <a:endParaRPr lang="en-US" dirty="0"/>
          </a:p>
        </p:txBody>
      </p:sp>
      <p:sp>
        <p:nvSpPr>
          <p:cNvPr id="3" name="Text Placeholder 2">
            <a:extLst>
              <a:ext uri="{FF2B5EF4-FFF2-40B4-BE49-F238E27FC236}">
                <a16:creationId xmlns:a16="http://schemas.microsoft.com/office/drawing/2014/main" id="{5277170A-F3B0-1371-D9F3-FEB82821D4C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A6071C7F-770D-E90A-C89E-62074D929E51}"/>
              </a:ext>
            </a:extLst>
          </p:cNvPr>
          <p:cNvPicPr>
            <a:picLocks noChangeAspect="1"/>
          </p:cNvPicPr>
          <p:nvPr/>
        </p:nvPicPr>
        <p:blipFill>
          <a:blip r:embed="rId2"/>
          <a:stretch>
            <a:fillRect/>
          </a:stretch>
        </p:blipFill>
        <p:spPr>
          <a:xfrm>
            <a:off x="415599" y="1600752"/>
            <a:ext cx="11360799" cy="3203723"/>
          </a:xfrm>
          <a:prstGeom prst="rect">
            <a:avLst/>
          </a:prstGeom>
        </p:spPr>
      </p:pic>
    </p:spTree>
    <p:extLst>
      <p:ext uri="{BB962C8B-B14F-4D97-AF65-F5344CB8AC3E}">
        <p14:creationId xmlns:p14="http://schemas.microsoft.com/office/powerpoint/2010/main" val="25339578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5AF43-1A97-ED77-FD0E-175604C00566}"/>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079CDFBC-C4A6-2C7E-F6CB-0471FD6371B5}"/>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9FF9507-D7DC-54BA-8472-E541A180DB9E}"/>
              </a:ext>
            </a:extLst>
          </p:cNvPr>
          <p:cNvPicPr>
            <a:picLocks noChangeAspect="1"/>
          </p:cNvPicPr>
          <p:nvPr/>
        </p:nvPicPr>
        <p:blipFill>
          <a:blip r:embed="rId2"/>
          <a:stretch>
            <a:fillRect/>
          </a:stretch>
        </p:blipFill>
        <p:spPr>
          <a:xfrm>
            <a:off x="415600" y="2255418"/>
            <a:ext cx="11259789" cy="3210319"/>
          </a:xfrm>
          <a:prstGeom prst="rect">
            <a:avLst/>
          </a:prstGeom>
        </p:spPr>
      </p:pic>
    </p:spTree>
    <p:extLst>
      <p:ext uri="{BB962C8B-B14F-4D97-AF65-F5344CB8AC3E}">
        <p14:creationId xmlns:p14="http://schemas.microsoft.com/office/powerpoint/2010/main" val="1320780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3564-FE7D-311B-97FF-686366B4B902}"/>
              </a:ext>
            </a:extLst>
          </p:cNvPr>
          <p:cNvSpPr>
            <a:spLocks noGrp="1"/>
          </p:cNvSpPr>
          <p:nvPr>
            <p:ph type="title"/>
          </p:nvPr>
        </p:nvSpPr>
        <p:spPr/>
        <p:txBody>
          <a:bodyPr/>
          <a:lstStyle/>
          <a:p>
            <a:r>
              <a:rPr lang="en-US" sz="2400" b="1" dirty="0">
                <a:latin typeface="ITCBaileySansCom-Bold"/>
              </a:rPr>
              <a:t>Open Authentication (OAuth)</a:t>
            </a:r>
            <a:endParaRPr lang="en-US" dirty="0"/>
          </a:p>
        </p:txBody>
      </p:sp>
      <p:sp>
        <p:nvSpPr>
          <p:cNvPr id="3" name="Text Placeholder 2">
            <a:extLst>
              <a:ext uri="{FF2B5EF4-FFF2-40B4-BE49-F238E27FC236}">
                <a16:creationId xmlns:a16="http://schemas.microsoft.com/office/drawing/2014/main" id="{F31A3D74-5E8B-54E9-4824-456C7F6C66BA}"/>
              </a:ext>
            </a:extLst>
          </p:cNvPr>
          <p:cNvSpPr>
            <a:spLocks noGrp="1"/>
          </p:cNvSpPr>
          <p:nvPr>
            <p:ph type="body" idx="1"/>
          </p:nvPr>
        </p:nvSpPr>
        <p:spPr/>
        <p:txBody>
          <a:bodyPr>
            <a:normAutofit/>
          </a:bodyPr>
          <a:lstStyle/>
          <a:p>
            <a:pPr algn="l"/>
            <a:r>
              <a:rPr lang="en-US" sz="2400" dirty="0">
                <a:latin typeface="MeridienLTStd-Roman"/>
              </a:rPr>
              <a:t>OAuth is an emerging </a:t>
            </a:r>
            <a:r>
              <a:rPr lang="en-US" sz="2400" dirty="0">
                <a:solidFill>
                  <a:srgbClr val="FF0000"/>
                </a:solidFill>
                <a:latin typeface="MeridienLTStd-Roman"/>
              </a:rPr>
              <a:t>authentication standard that allows consumers to share their private resources (e.g., photos, videos, contact lists, bank accounts) stored on one CSP with another CSP without having to disclose the authentication information (e.g., username and password).</a:t>
            </a:r>
          </a:p>
          <a:p>
            <a:pPr algn="l"/>
            <a:endParaRPr lang="en-US" sz="2400" dirty="0">
              <a:solidFill>
                <a:srgbClr val="FF0000"/>
              </a:solidFill>
              <a:latin typeface="MeridienLTStd-Roman"/>
            </a:endParaRPr>
          </a:p>
          <a:p>
            <a:pPr algn="l"/>
            <a:r>
              <a:rPr lang="en-US" sz="2400" dirty="0">
                <a:latin typeface="MeridienLTStd-Roman"/>
              </a:rPr>
              <a:t>OAuth is an open protocol and it was created with the goal of enabling authorization via a </a:t>
            </a:r>
            <a:r>
              <a:rPr lang="en-US" sz="2400" dirty="0">
                <a:solidFill>
                  <a:srgbClr val="FF0000"/>
                </a:solidFill>
                <a:latin typeface="MeridienLTStd-Roman"/>
              </a:rPr>
              <a:t>secure application programming interface (API</a:t>
            </a:r>
            <a:r>
              <a:rPr lang="en-US" sz="2400" dirty="0">
                <a:latin typeface="MeridienLTStd-Roman"/>
              </a:rPr>
              <a:t>)—a simple and standard method for desktop, mobile, and web applications.</a:t>
            </a:r>
          </a:p>
          <a:p>
            <a:pPr algn="l"/>
            <a:endParaRPr lang="en-US" dirty="0"/>
          </a:p>
        </p:txBody>
      </p:sp>
    </p:spTree>
    <p:extLst>
      <p:ext uri="{BB962C8B-B14F-4D97-AF65-F5344CB8AC3E}">
        <p14:creationId xmlns:p14="http://schemas.microsoft.com/office/powerpoint/2010/main" val="22259084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CD2B22-1EA8-85F8-7129-DD76EEFDA331}"/>
              </a:ext>
            </a:extLst>
          </p:cNvPr>
          <p:cNvSpPr>
            <a:spLocks noGrp="1"/>
          </p:cNvSpPr>
          <p:nvPr>
            <p:ph type="body" idx="1"/>
          </p:nvPr>
        </p:nvSpPr>
        <p:spPr>
          <a:xfrm>
            <a:off x="415600" y="361627"/>
            <a:ext cx="11360800" cy="5730107"/>
          </a:xfrm>
        </p:spPr>
        <p:txBody>
          <a:bodyPr>
            <a:normAutofit/>
          </a:bodyPr>
          <a:lstStyle/>
          <a:p>
            <a:pPr algn="just"/>
            <a:r>
              <a:rPr lang="en-US" dirty="0">
                <a:latin typeface="Times New Roman" panose="02020603050405020304" pitchFamily="18" charset="0"/>
                <a:cs typeface="Times New Roman" panose="02020603050405020304" pitchFamily="18" charset="0"/>
              </a:rPr>
              <a:t>OAuth is a technological standard </a:t>
            </a:r>
            <a:r>
              <a:rPr lang="en-US" dirty="0">
                <a:solidFill>
                  <a:srgbClr val="FF0000"/>
                </a:solidFill>
                <a:latin typeface="Times New Roman" panose="02020603050405020304" pitchFamily="18" charset="0"/>
                <a:cs typeface="Times New Roman" panose="02020603050405020304" pitchFamily="18" charset="0"/>
              </a:rPr>
              <a:t>that allows you to authorize one app or service to sign in to another without divulging private information, such as passwords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If you’ve ever received a message such as, </a:t>
            </a:r>
            <a:r>
              <a:rPr lang="en-US" dirty="0">
                <a:solidFill>
                  <a:srgbClr val="FF0000"/>
                </a:solidFill>
                <a:latin typeface="Times New Roman" panose="02020603050405020304" pitchFamily="18" charset="0"/>
                <a:cs typeface="Times New Roman" panose="02020603050405020304" pitchFamily="18" charset="0"/>
              </a:rPr>
              <a:t>“Sign in with Facebook</a:t>
            </a:r>
            <a:r>
              <a:rPr lang="en-US" dirty="0">
                <a:latin typeface="Times New Roman" panose="02020603050405020304" pitchFamily="18" charset="0"/>
                <a:cs typeface="Times New Roman" panose="02020603050405020304" pitchFamily="18" charset="0"/>
              </a:rPr>
              <a:t>?” or “Allow this application to access your account?” you’ve seen OAuth in action.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OAuth stands for Open Authorization—not authentication, as it’s sometimes assumed to be. </a:t>
            </a:r>
          </a:p>
          <a:p>
            <a:pPr algn="just"/>
            <a:r>
              <a:rPr lang="en-US" dirty="0">
                <a:latin typeface="Times New Roman" panose="02020603050405020304" pitchFamily="18" charset="0"/>
                <a:cs typeface="Times New Roman" panose="02020603050405020304" pitchFamily="18" charset="0"/>
              </a:rPr>
              <a:t>Authentication is a process that verifies your identity. </a:t>
            </a:r>
            <a:r>
              <a:rPr lang="en-US" dirty="0">
                <a:solidFill>
                  <a:srgbClr val="FF0000"/>
                </a:solidFill>
                <a:latin typeface="Times New Roman" panose="02020603050405020304" pitchFamily="18" charset="0"/>
                <a:cs typeface="Times New Roman" panose="02020603050405020304" pitchFamily="18" charset="0"/>
              </a:rPr>
              <a:t>OAuth does involve your identity, but its purpose is to grant permission to seamlessly connect to you with different apps and services without requiring you to create a new account.</a:t>
            </a:r>
          </a:p>
          <a:p>
            <a:pPr algn="just"/>
            <a:r>
              <a:rPr lang="en-US" dirty="0">
                <a:latin typeface="Times New Roman" panose="02020603050405020304" pitchFamily="18" charset="0"/>
                <a:cs typeface="Times New Roman" panose="02020603050405020304" pitchFamily="18" charset="0"/>
              </a:rPr>
              <a:t> OAuth provides that simplicity of experience by giving you the option to authorize two apps to share some of your data without revealing your credentials. </a:t>
            </a:r>
            <a:r>
              <a:rPr lang="en-US" dirty="0">
                <a:solidFill>
                  <a:srgbClr val="FF0000"/>
                </a:solidFill>
                <a:latin typeface="Times New Roman" panose="02020603050405020304" pitchFamily="18" charset="0"/>
                <a:cs typeface="Times New Roman" panose="02020603050405020304" pitchFamily="18" charset="0"/>
              </a:rPr>
              <a:t>It strikes a balance between convenience and security.</a:t>
            </a:r>
          </a:p>
        </p:txBody>
      </p:sp>
    </p:spTree>
    <p:extLst>
      <p:ext uri="{BB962C8B-B14F-4D97-AF65-F5344CB8AC3E}">
        <p14:creationId xmlns:p14="http://schemas.microsoft.com/office/powerpoint/2010/main" val="2414365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97373B-4472-2497-0262-FF05A9D67422}"/>
              </a:ext>
            </a:extLst>
          </p:cNvPr>
          <p:cNvSpPr>
            <a:spLocks noGrp="1"/>
          </p:cNvSpPr>
          <p:nvPr>
            <p:ph type="body" idx="1"/>
          </p:nvPr>
        </p:nvSpPr>
        <p:spPr/>
        <p:txBody>
          <a:bodyPr/>
          <a:lstStyle/>
          <a:p>
            <a:pPr algn="l"/>
            <a:r>
              <a:rPr lang="en-US" sz="2400" dirty="0">
                <a:latin typeface="MeridienLTStd-Roman"/>
              </a:rPr>
              <a:t>For application developers</a:t>
            </a:r>
            <a:r>
              <a:rPr lang="en-US" sz="2400" dirty="0">
                <a:solidFill>
                  <a:srgbClr val="FF0000"/>
                </a:solidFill>
                <a:latin typeface="MeridienLTStd-Roman"/>
              </a:rPr>
              <a:t>, OAuth is a method for publishing and interacting with protected data.</a:t>
            </a:r>
          </a:p>
          <a:p>
            <a:pPr algn="l"/>
            <a:r>
              <a:rPr lang="en-US" sz="2400" dirty="0">
                <a:latin typeface="MeridienLTStd-Roman"/>
              </a:rPr>
              <a:t> For CSPs, OAuth provides a way for </a:t>
            </a:r>
            <a:r>
              <a:rPr lang="en-US" sz="2400" dirty="0">
                <a:solidFill>
                  <a:srgbClr val="FF0000"/>
                </a:solidFill>
                <a:latin typeface="MeridienLTStd-Roman"/>
              </a:rPr>
              <a:t>users to access their data hosted by another provider while protecting their account credentials.</a:t>
            </a:r>
          </a:p>
          <a:p>
            <a:pPr algn="l"/>
            <a:endParaRPr lang="en-US" dirty="0">
              <a:latin typeface="MeridienLTStd-Roman"/>
            </a:endParaRPr>
          </a:p>
          <a:p>
            <a:pPr algn="l"/>
            <a:r>
              <a:rPr lang="en-US" sz="2400" dirty="0">
                <a:latin typeface="MeridienLTStd-Roman"/>
              </a:rPr>
              <a:t>Google released a hybrid version of an </a:t>
            </a:r>
            <a:r>
              <a:rPr lang="en-US" sz="2400" dirty="0">
                <a:solidFill>
                  <a:srgbClr val="FF0000"/>
                </a:solidFill>
                <a:latin typeface="MeridienLTStd-Roman"/>
              </a:rPr>
              <a:t>OpenID and OAuth protocol </a:t>
            </a:r>
            <a:r>
              <a:rPr lang="en-US" sz="2400" dirty="0">
                <a:latin typeface="MeridienLTStd-Roman"/>
              </a:rPr>
              <a:t>that combines </a:t>
            </a:r>
            <a:r>
              <a:rPr lang="en-US" sz="2400" dirty="0">
                <a:solidFill>
                  <a:srgbClr val="FF0000"/>
                </a:solidFill>
                <a:latin typeface="MeridienLTStd-Roman"/>
              </a:rPr>
              <a:t>the authorization and authentication flow in fewer steps to enhance usability.</a:t>
            </a:r>
          </a:p>
          <a:p>
            <a:pPr algn="l"/>
            <a:r>
              <a:rPr lang="en-US" sz="2400" dirty="0">
                <a:latin typeface="MeridienLTStd-Roman"/>
              </a:rPr>
              <a:t>Google’s </a:t>
            </a:r>
            <a:r>
              <a:rPr lang="en-US" sz="2400" dirty="0" err="1">
                <a:latin typeface="MeridienLTStd-Roman"/>
              </a:rPr>
              <a:t>GData</a:t>
            </a:r>
            <a:r>
              <a:rPr lang="en-US" sz="2400" dirty="0">
                <a:latin typeface="MeridienLTStd-Roman"/>
              </a:rPr>
              <a:t> API recently announced support for OAuth.</a:t>
            </a:r>
            <a:endParaRPr lang="en-US" dirty="0"/>
          </a:p>
        </p:txBody>
      </p:sp>
    </p:spTree>
    <p:extLst>
      <p:ext uri="{BB962C8B-B14F-4D97-AF65-F5344CB8AC3E}">
        <p14:creationId xmlns:p14="http://schemas.microsoft.com/office/powerpoint/2010/main" val="1515903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9B2E-F2C1-8420-B06C-763E4432F791}"/>
              </a:ext>
            </a:extLst>
          </p:cNvPr>
          <p:cNvSpPr>
            <a:spLocks noGrp="1"/>
          </p:cNvSpPr>
          <p:nvPr>
            <p:ph type="title"/>
          </p:nvPr>
        </p:nvSpPr>
        <p:spPr>
          <a:xfrm>
            <a:off x="425932" y="206467"/>
            <a:ext cx="11360800" cy="817600"/>
          </a:xfrm>
        </p:spPr>
        <p:txBody>
          <a:bodyPr>
            <a:normAutofit fontScale="90000"/>
          </a:bodyPr>
          <a:lstStyle/>
          <a:p>
            <a:r>
              <a:rPr lang="en-US" sz="2400" dirty="0">
                <a:latin typeface="MeridienLTStd-Roman"/>
              </a:rPr>
              <a:t>Illustrates the sequence of interactions between customer or partner web</a:t>
            </a:r>
            <a:br>
              <a:rPr lang="en-US" sz="2400" dirty="0">
                <a:latin typeface="MeridienLTStd-Roman"/>
              </a:rPr>
            </a:br>
            <a:r>
              <a:rPr lang="en-US" sz="2400" dirty="0">
                <a:latin typeface="MeridienLTStd-Roman"/>
              </a:rPr>
              <a:t>application, Google services, and end user:</a:t>
            </a:r>
            <a:endParaRPr lang="en-US" dirty="0"/>
          </a:p>
        </p:txBody>
      </p:sp>
      <p:sp>
        <p:nvSpPr>
          <p:cNvPr id="3" name="Text Placeholder 2">
            <a:extLst>
              <a:ext uri="{FF2B5EF4-FFF2-40B4-BE49-F238E27FC236}">
                <a16:creationId xmlns:a16="http://schemas.microsoft.com/office/drawing/2014/main" id="{C6D20E49-A265-9D19-83EF-7422BFC25899}"/>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5ABB6A9-CA8A-9A36-AB71-A3A2098C25DC}"/>
              </a:ext>
            </a:extLst>
          </p:cNvPr>
          <p:cNvPicPr>
            <a:picLocks noChangeAspect="1"/>
          </p:cNvPicPr>
          <p:nvPr/>
        </p:nvPicPr>
        <p:blipFill>
          <a:blip r:embed="rId2"/>
          <a:stretch>
            <a:fillRect/>
          </a:stretch>
        </p:blipFill>
        <p:spPr>
          <a:xfrm>
            <a:off x="909235" y="1335053"/>
            <a:ext cx="7976460" cy="4529600"/>
          </a:xfrm>
          <a:prstGeom prst="rect">
            <a:avLst/>
          </a:prstGeom>
        </p:spPr>
      </p:pic>
    </p:spTree>
    <p:extLst>
      <p:ext uri="{BB962C8B-B14F-4D97-AF65-F5344CB8AC3E}">
        <p14:creationId xmlns:p14="http://schemas.microsoft.com/office/powerpoint/2010/main" val="3827389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E3548-D975-413A-D21E-EF584D4BB21B}"/>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EB4865DE-5101-6DB9-A4A8-9C5E2F8EC95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CFF7FA63-A918-8D16-EE3B-460B2658E7D8}"/>
              </a:ext>
            </a:extLst>
          </p:cNvPr>
          <p:cNvPicPr>
            <a:picLocks noChangeAspect="1"/>
          </p:cNvPicPr>
          <p:nvPr/>
        </p:nvPicPr>
        <p:blipFill>
          <a:blip r:embed="rId2"/>
          <a:stretch>
            <a:fillRect/>
          </a:stretch>
        </p:blipFill>
        <p:spPr>
          <a:xfrm>
            <a:off x="1000319" y="797332"/>
            <a:ext cx="10191363" cy="5263336"/>
          </a:xfrm>
          <a:prstGeom prst="rect">
            <a:avLst/>
          </a:prstGeom>
        </p:spPr>
      </p:pic>
    </p:spTree>
    <p:extLst>
      <p:ext uri="{BB962C8B-B14F-4D97-AF65-F5344CB8AC3E}">
        <p14:creationId xmlns:p14="http://schemas.microsoft.com/office/powerpoint/2010/main" val="41108417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079E-D4A2-F3A8-E658-5DD0354D2FFF}"/>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6234AC83-109D-FD63-75FC-E7D91BD563C1}"/>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2268F96F-ADBB-2EFF-6EF8-3FFE20A3B0CD}"/>
              </a:ext>
            </a:extLst>
          </p:cNvPr>
          <p:cNvPicPr>
            <a:picLocks noChangeAspect="1"/>
          </p:cNvPicPr>
          <p:nvPr/>
        </p:nvPicPr>
        <p:blipFill>
          <a:blip r:embed="rId2"/>
          <a:stretch>
            <a:fillRect/>
          </a:stretch>
        </p:blipFill>
        <p:spPr>
          <a:xfrm>
            <a:off x="415600" y="2260499"/>
            <a:ext cx="11239125" cy="2936600"/>
          </a:xfrm>
          <a:prstGeom prst="rect">
            <a:avLst/>
          </a:prstGeom>
        </p:spPr>
      </p:pic>
    </p:spTree>
    <p:extLst>
      <p:ext uri="{BB962C8B-B14F-4D97-AF65-F5344CB8AC3E}">
        <p14:creationId xmlns:p14="http://schemas.microsoft.com/office/powerpoint/2010/main" val="21165881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AB44-1C73-04AF-0216-A2D6685853CE}"/>
              </a:ext>
            </a:extLst>
          </p:cNvPr>
          <p:cNvSpPr>
            <a:spLocks noGrp="1"/>
          </p:cNvSpPr>
          <p:nvPr>
            <p:ph type="title"/>
          </p:nvPr>
        </p:nvSpPr>
        <p:spPr/>
        <p:txBody>
          <a:bodyPr>
            <a:normAutofit fontScale="90000"/>
          </a:bodyPr>
          <a:lstStyle/>
          <a:p>
            <a:r>
              <a:rPr lang="en-US" sz="3733" b="1" u="sng" dirty="0">
                <a:latin typeface="ITCBaileySansCom-Bold"/>
              </a:rPr>
              <a:t>IAM Standards, Protocols, and Specifications for Consumers</a:t>
            </a:r>
            <a:endParaRPr lang="en-US" sz="5333" u="sng" dirty="0"/>
          </a:p>
        </p:txBody>
      </p:sp>
      <p:sp>
        <p:nvSpPr>
          <p:cNvPr id="3" name="Text Placeholder 2">
            <a:extLst>
              <a:ext uri="{FF2B5EF4-FFF2-40B4-BE49-F238E27FC236}">
                <a16:creationId xmlns:a16="http://schemas.microsoft.com/office/drawing/2014/main" id="{1D138944-3785-D4ED-D6FD-C29A71AC7CC8}"/>
              </a:ext>
            </a:extLst>
          </p:cNvPr>
          <p:cNvSpPr>
            <a:spLocks noGrp="1"/>
          </p:cNvSpPr>
          <p:nvPr>
            <p:ph type="body" idx="1"/>
          </p:nvPr>
        </p:nvSpPr>
        <p:spPr/>
        <p:txBody>
          <a:bodyPr/>
          <a:lstStyle/>
          <a:p>
            <a:pPr>
              <a:lnSpc>
                <a:spcPct val="200000"/>
              </a:lnSpc>
            </a:pPr>
            <a:r>
              <a:rPr lang="en-US" sz="2400" b="1" dirty="0">
                <a:latin typeface="ITCBaileySansCom-Bold"/>
              </a:rPr>
              <a:t>OpenID</a:t>
            </a:r>
          </a:p>
          <a:p>
            <a:pPr>
              <a:lnSpc>
                <a:spcPct val="200000"/>
              </a:lnSpc>
            </a:pPr>
            <a:r>
              <a:rPr lang="en-US" sz="2400" b="1" dirty="0">
                <a:latin typeface="ITCBaileySansCom-Bold"/>
              </a:rPr>
              <a:t>Information cards</a:t>
            </a:r>
            <a:endParaRPr lang="en-US" b="1" dirty="0">
              <a:latin typeface="ITCBaileySansCom-Bold"/>
            </a:endParaRPr>
          </a:p>
          <a:p>
            <a:pPr>
              <a:lnSpc>
                <a:spcPct val="200000"/>
              </a:lnSpc>
            </a:pPr>
            <a:r>
              <a:rPr lang="en-US" sz="2400" b="1" dirty="0">
                <a:latin typeface="ITCBaileySansCom-Bold"/>
              </a:rPr>
              <a:t>Open Authentication (OATH)</a:t>
            </a:r>
          </a:p>
          <a:p>
            <a:pPr>
              <a:lnSpc>
                <a:spcPct val="200000"/>
              </a:lnSpc>
            </a:pPr>
            <a:r>
              <a:rPr lang="en-US" sz="2400" b="1" dirty="0">
                <a:latin typeface="ITCBaileySansCom-Bold"/>
              </a:rPr>
              <a:t>Open Authentication API (</a:t>
            </a:r>
            <a:r>
              <a:rPr lang="en-US" sz="2400" b="1" dirty="0" err="1">
                <a:latin typeface="ITCBaileySansCom-Bold"/>
              </a:rPr>
              <a:t>OpenAuth</a:t>
            </a:r>
            <a:r>
              <a:rPr lang="en-US" sz="2400" b="1" dirty="0">
                <a:latin typeface="ITCBaileySansCom-Bold"/>
              </a:rPr>
              <a:t>)</a:t>
            </a:r>
            <a:endParaRPr lang="en-US" dirty="0"/>
          </a:p>
        </p:txBody>
      </p:sp>
    </p:spTree>
    <p:extLst>
      <p:ext uri="{BB962C8B-B14F-4D97-AF65-F5344CB8AC3E}">
        <p14:creationId xmlns:p14="http://schemas.microsoft.com/office/powerpoint/2010/main" val="24321917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24230-7888-A15A-CB80-8CAAAEF0C6D9}"/>
              </a:ext>
            </a:extLst>
          </p:cNvPr>
          <p:cNvSpPr>
            <a:spLocks noGrp="1"/>
          </p:cNvSpPr>
          <p:nvPr>
            <p:ph type="title"/>
          </p:nvPr>
        </p:nvSpPr>
        <p:spPr/>
        <p:txBody>
          <a:bodyPr>
            <a:normAutofit fontScale="90000"/>
          </a:bodyPr>
          <a:lstStyle/>
          <a:p>
            <a:r>
              <a:rPr lang="en-US" sz="4267" b="1" dirty="0">
                <a:latin typeface="ITCBaileySansCom-Bold"/>
              </a:rPr>
              <a:t>OpenID</a:t>
            </a:r>
            <a:br>
              <a:rPr lang="en-US" sz="4267" b="1" dirty="0">
                <a:latin typeface="ITCBaileySansCom-Bold"/>
              </a:rPr>
            </a:br>
            <a:endParaRPr lang="en-US" dirty="0"/>
          </a:p>
        </p:txBody>
      </p:sp>
      <p:sp>
        <p:nvSpPr>
          <p:cNvPr id="3" name="Text Placeholder 2">
            <a:extLst>
              <a:ext uri="{FF2B5EF4-FFF2-40B4-BE49-F238E27FC236}">
                <a16:creationId xmlns:a16="http://schemas.microsoft.com/office/drawing/2014/main" id="{0CA923A0-9817-094D-B983-D159D1B80604}"/>
              </a:ext>
            </a:extLst>
          </p:cNvPr>
          <p:cNvSpPr>
            <a:spLocks noGrp="1"/>
          </p:cNvSpPr>
          <p:nvPr>
            <p:ph type="body" idx="1"/>
          </p:nvPr>
        </p:nvSpPr>
        <p:spPr/>
        <p:txBody>
          <a:bodyPr/>
          <a:lstStyle/>
          <a:p>
            <a:pPr algn="l"/>
            <a:r>
              <a:rPr lang="en-US" sz="2400" dirty="0">
                <a:latin typeface="MeridienLTStd-Roman"/>
              </a:rPr>
              <a:t>OpenID is an </a:t>
            </a:r>
            <a:r>
              <a:rPr lang="en-US" sz="2400" dirty="0">
                <a:solidFill>
                  <a:srgbClr val="FF0000"/>
                </a:solidFill>
                <a:latin typeface="MeridienLTStd-Roman"/>
              </a:rPr>
              <a:t>open, decentralized standard for user authentication and access </a:t>
            </a:r>
            <a:r>
              <a:rPr lang="en-US" sz="2400" dirty="0">
                <a:latin typeface="MeridienLTStd-Roman"/>
              </a:rPr>
              <a:t>control, allowing </a:t>
            </a:r>
            <a:r>
              <a:rPr lang="en-US" sz="2400" dirty="0">
                <a:solidFill>
                  <a:srgbClr val="FF0000"/>
                </a:solidFill>
                <a:latin typeface="MeridienLTStd-Roman"/>
              </a:rPr>
              <a:t>users to log on to many services with the same digital identity—</a:t>
            </a:r>
            <a:r>
              <a:rPr lang="en-US" sz="2400" dirty="0">
                <a:latin typeface="MeridienLTStd-Roman"/>
              </a:rPr>
              <a:t>i.e., a single sign-on user experience with services supporting OpenID. </a:t>
            </a:r>
          </a:p>
          <a:p>
            <a:pPr algn="l"/>
            <a:endParaRPr lang="en-US" sz="2400" dirty="0">
              <a:latin typeface="MeridienLTStd-Roman"/>
            </a:endParaRPr>
          </a:p>
          <a:p>
            <a:pPr algn="l"/>
            <a:r>
              <a:rPr lang="en-US" sz="2400" dirty="0">
                <a:latin typeface="MeridienLTStd-Roman"/>
              </a:rPr>
              <a:t>As such, </a:t>
            </a:r>
            <a:r>
              <a:rPr lang="en-US" sz="2400" dirty="0">
                <a:solidFill>
                  <a:srgbClr val="FF0000"/>
                </a:solidFill>
                <a:latin typeface="MeridienLTStd-Roman"/>
              </a:rPr>
              <a:t>it replaces the common logon process that uses a logon username and password, by allowing a user to log on once and gain access to the resources of multiple software systems</a:t>
            </a:r>
            <a:endParaRPr lang="en-US" dirty="0">
              <a:solidFill>
                <a:srgbClr val="FF0000"/>
              </a:solidFill>
            </a:endParaRPr>
          </a:p>
        </p:txBody>
      </p:sp>
    </p:spTree>
    <p:extLst>
      <p:ext uri="{BB962C8B-B14F-4D97-AF65-F5344CB8AC3E}">
        <p14:creationId xmlns:p14="http://schemas.microsoft.com/office/powerpoint/2010/main" val="13390684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8E27-9532-1450-E632-44713E47D9CE}"/>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299F6A4A-FCFA-580E-48A2-A8D0B1D9EFDF}"/>
              </a:ext>
            </a:extLst>
          </p:cNvPr>
          <p:cNvSpPr>
            <a:spLocks noGrp="1"/>
          </p:cNvSpPr>
          <p:nvPr>
            <p:ph type="body" idx="1"/>
          </p:nvPr>
        </p:nvSpPr>
        <p:spPr/>
        <p:txBody>
          <a:bodyPr/>
          <a:lstStyle/>
          <a:p>
            <a:pPr algn="l"/>
            <a:r>
              <a:rPr lang="en-US" sz="2400" dirty="0">
                <a:solidFill>
                  <a:srgbClr val="FF0000"/>
                </a:solidFill>
                <a:latin typeface="MeridienLTStd-Roman"/>
              </a:rPr>
              <a:t>OpenID is primarily targeted for consumer services offered by Internet companies including</a:t>
            </a:r>
            <a:r>
              <a:rPr lang="en-US" sz="2400" dirty="0">
                <a:latin typeface="MeridienLTStd-Roman"/>
              </a:rPr>
              <a:t> Google, eBay, Yahoo!, Microsoft, AOL, BBC, PayPal, and so on. </a:t>
            </a:r>
          </a:p>
          <a:p>
            <a:pPr algn="l"/>
            <a:endParaRPr lang="en-US" dirty="0">
              <a:latin typeface="MeridienLTStd-Roman"/>
            </a:endParaRPr>
          </a:p>
          <a:p>
            <a:pPr marL="152396" indent="0">
              <a:buNone/>
            </a:pPr>
            <a:endParaRPr lang="en-US" sz="2400" dirty="0">
              <a:latin typeface="MeridienLTStd-Roman"/>
            </a:endParaRPr>
          </a:p>
          <a:p>
            <a:pPr algn="l"/>
            <a:r>
              <a:rPr lang="en-US" sz="2400" dirty="0">
                <a:latin typeface="MeridienLTStd-Roman"/>
              </a:rPr>
              <a:t>OpenID adoption </a:t>
            </a:r>
            <a:r>
              <a:rPr lang="en-US" sz="2400" dirty="0">
                <a:solidFill>
                  <a:srgbClr val="FF0000"/>
                </a:solidFill>
                <a:latin typeface="MeridienLTStd-Roman"/>
              </a:rPr>
              <a:t>for enterprise use (e.g., non-consumer use) is almost nonexistent due to trust issues; </a:t>
            </a:r>
            <a:r>
              <a:rPr lang="en-US" sz="2400" dirty="0">
                <a:latin typeface="MeridienLTStd-Roman"/>
              </a:rPr>
              <a:t>some researchers have revealed that OpenID could accelerate phishing attacks that can result in compromising user credentials.</a:t>
            </a:r>
            <a:endParaRPr lang="en-US" dirty="0"/>
          </a:p>
        </p:txBody>
      </p:sp>
    </p:spTree>
    <p:extLst>
      <p:ext uri="{BB962C8B-B14F-4D97-AF65-F5344CB8AC3E}">
        <p14:creationId xmlns:p14="http://schemas.microsoft.com/office/powerpoint/2010/main" val="1519331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F1F05-B706-874F-4BE0-7B3B8E582A7C}"/>
              </a:ext>
            </a:extLst>
          </p:cNvPr>
          <p:cNvSpPr>
            <a:spLocks noGrp="1"/>
          </p:cNvSpPr>
          <p:nvPr>
            <p:ph type="title"/>
          </p:nvPr>
        </p:nvSpPr>
        <p:spPr/>
        <p:txBody>
          <a:bodyPr>
            <a:normAutofit/>
          </a:bodyPr>
          <a:lstStyle/>
          <a:p>
            <a:r>
              <a:rPr lang="en-US" sz="3200" b="1" dirty="0">
                <a:latin typeface="ITCBaileySansCom-Bold"/>
              </a:rPr>
              <a:t>Information cards</a:t>
            </a:r>
            <a:endParaRPr lang="en-US" sz="4800" dirty="0"/>
          </a:p>
        </p:txBody>
      </p:sp>
      <p:sp>
        <p:nvSpPr>
          <p:cNvPr id="3" name="Text Placeholder 2">
            <a:extLst>
              <a:ext uri="{FF2B5EF4-FFF2-40B4-BE49-F238E27FC236}">
                <a16:creationId xmlns:a16="http://schemas.microsoft.com/office/drawing/2014/main" id="{0EB8B8EC-14EB-40DE-DFC7-4132214A61B5}"/>
              </a:ext>
            </a:extLst>
          </p:cNvPr>
          <p:cNvSpPr>
            <a:spLocks noGrp="1"/>
          </p:cNvSpPr>
          <p:nvPr>
            <p:ph type="body" idx="1"/>
          </p:nvPr>
        </p:nvSpPr>
        <p:spPr/>
        <p:txBody>
          <a:bodyPr>
            <a:normAutofit/>
          </a:bodyPr>
          <a:lstStyle/>
          <a:p>
            <a:pPr marL="152396" indent="0">
              <a:buNone/>
            </a:pPr>
            <a:r>
              <a:rPr lang="en-US" b="1" dirty="0"/>
              <a:t>What is an Information Card?</a:t>
            </a:r>
          </a:p>
          <a:p>
            <a:r>
              <a:rPr lang="en-US" dirty="0"/>
              <a:t>An </a:t>
            </a:r>
            <a:r>
              <a:rPr lang="en-US" b="1" dirty="0"/>
              <a:t>Information Card (</a:t>
            </a:r>
            <a:r>
              <a:rPr lang="en-US" b="1" dirty="0" err="1"/>
              <a:t>InfoCard</a:t>
            </a:r>
            <a:r>
              <a:rPr lang="en-US" b="1" dirty="0"/>
              <a:t>)</a:t>
            </a:r>
            <a:r>
              <a:rPr lang="en-US" dirty="0"/>
              <a:t> is a </a:t>
            </a:r>
            <a:r>
              <a:rPr lang="en-US" b="1" dirty="0">
                <a:solidFill>
                  <a:srgbClr val="FF0000"/>
                </a:solidFill>
              </a:rPr>
              <a:t>digital identity representation</a:t>
            </a:r>
            <a:r>
              <a:rPr lang="en-US" dirty="0"/>
              <a:t> that works like an electronic “ID card” stored on your computer or device.</a:t>
            </a:r>
          </a:p>
          <a:p>
            <a:r>
              <a:rPr lang="en-US" dirty="0"/>
              <a:t>It was introduced by </a:t>
            </a:r>
            <a:r>
              <a:rPr lang="en-US" b="1" dirty="0"/>
              <a:t>Microsoft’s Identity Metasystem (CardSpace)</a:t>
            </a:r>
            <a:r>
              <a:rPr lang="en-US" dirty="0"/>
              <a:t> around 2005–2011.</a:t>
            </a:r>
          </a:p>
          <a:p>
            <a:r>
              <a:rPr lang="en-US" dirty="0"/>
              <a:t>Instead of typing usernames and passwords, users select an </a:t>
            </a:r>
            <a:r>
              <a:rPr lang="en-US" dirty="0" err="1"/>
              <a:t>InfoCard</a:t>
            </a:r>
            <a:r>
              <a:rPr lang="en-US" dirty="0"/>
              <a:t> to authenticate to a service.</a:t>
            </a:r>
          </a:p>
        </p:txBody>
      </p:sp>
    </p:spTree>
    <p:extLst>
      <p:ext uri="{BB962C8B-B14F-4D97-AF65-F5344CB8AC3E}">
        <p14:creationId xmlns:p14="http://schemas.microsoft.com/office/powerpoint/2010/main" val="34672059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26F41-0421-DED4-D50D-E2337E9319C4}"/>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7914FD2A-D3C0-CA85-F36F-F0ED9ED358C7}"/>
              </a:ext>
            </a:extLst>
          </p:cNvPr>
          <p:cNvSpPr>
            <a:spLocks noGrp="1"/>
          </p:cNvSpPr>
          <p:nvPr>
            <p:ph type="body" idx="1"/>
          </p:nvPr>
        </p:nvSpPr>
        <p:spPr/>
        <p:txBody>
          <a:bodyPr/>
          <a:lstStyle/>
          <a:p>
            <a:pPr marL="152396" indent="0">
              <a:buNone/>
            </a:pPr>
            <a:r>
              <a:rPr lang="en-US" b="1" dirty="0"/>
              <a:t>How It Works</a:t>
            </a:r>
          </a:p>
          <a:p>
            <a:r>
              <a:rPr lang="en-US" b="1" dirty="0"/>
              <a:t>User selects an </a:t>
            </a:r>
            <a:r>
              <a:rPr lang="en-US" b="1" dirty="0" err="1"/>
              <a:t>InfoCard</a:t>
            </a:r>
            <a:r>
              <a:rPr lang="en-US" dirty="0"/>
              <a:t> (like choosing a credit card from a wallet).</a:t>
            </a:r>
          </a:p>
          <a:p>
            <a:r>
              <a:rPr lang="en-US" dirty="0"/>
              <a:t>The </a:t>
            </a:r>
            <a:r>
              <a:rPr lang="en-US" dirty="0" err="1"/>
              <a:t>InfoCard</a:t>
            </a:r>
            <a:r>
              <a:rPr lang="en-US" dirty="0"/>
              <a:t> contains </a:t>
            </a:r>
            <a:r>
              <a:rPr lang="en-US" b="1" dirty="0"/>
              <a:t>claims</a:t>
            </a:r>
            <a:r>
              <a:rPr lang="en-US" dirty="0"/>
              <a:t> (pieces of identity information such as name, email, role).</a:t>
            </a:r>
          </a:p>
          <a:p>
            <a:r>
              <a:rPr lang="en-US" dirty="0"/>
              <a:t>These claims are issued by an </a:t>
            </a:r>
            <a:r>
              <a:rPr lang="en-US" b="1" dirty="0"/>
              <a:t>Identity Provider (IdP)</a:t>
            </a:r>
            <a:r>
              <a:rPr lang="en-US" dirty="0"/>
              <a:t> in a digitally signed token (e.g., SAML).</a:t>
            </a:r>
          </a:p>
          <a:p>
            <a:r>
              <a:rPr lang="en-US" dirty="0"/>
              <a:t>The </a:t>
            </a:r>
            <a:r>
              <a:rPr lang="en-US" dirty="0" err="1"/>
              <a:t>InfoCard</a:t>
            </a:r>
            <a:r>
              <a:rPr lang="en-US" dirty="0"/>
              <a:t> is presented to the </a:t>
            </a:r>
            <a:r>
              <a:rPr lang="en-US" b="1" dirty="0"/>
              <a:t>Relying Party (RP)</a:t>
            </a:r>
            <a:r>
              <a:rPr lang="en-US" dirty="0"/>
              <a:t> (the website or service).</a:t>
            </a:r>
          </a:p>
          <a:p>
            <a:r>
              <a:rPr lang="en-US" dirty="0"/>
              <a:t>The RP verifies the token and grants access.</a:t>
            </a:r>
          </a:p>
        </p:txBody>
      </p:sp>
    </p:spTree>
    <p:extLst>
      <p:ext uri="{BB962C8B-B14F-4D97-AF65-F5344CB8AC3E}">
        <p14:creationId xmlns:p14="http://schemas.microsoft.com/office/powerpoint/2010/main" val="38497953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6BC4D-8CF3-8986-C2D3-FCCC54332EE3}"/>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255E426D-A2F4-B503-EACD-A91863996864}"/>
              </a:ext>
            </a:extLst>
          </p:cNvPr>
          <p:cNvSpPr>
            <a:spLocks noGrp="1"/>
          </p:cNvSpPr>
          <p:nvPr>
            <p:ph type="body" idx="1"/>
          </p:nvPr>
        </p:nvSpPr>
        <p:spPr/>
        <p:txBody>
          <a:bodyPr/>
          <a:lstStyle/>
          <a:p>
            <a:pPr marL="152396" indent="0">
              <a:lnSpc>
                <a:spcPct val="150000"/>
              </a:lnSpc>
              <a:buNone/>
            </a:pPr>
            <a:r>
              <a:rPr lang="en-US" b="1" dirty="0"/>
              <a:t>Types of Information Cards</a:t>
            </a:r>
          </a:p>
          <a:p>
            <a:pPr>
              <a:lnSpc>
                <a:spcPct val="150000"/>
              </a:lnSpc>
            </a:pPr>
            <a:r>
              <a:rPr lang="en-US" b="1" dirty="0"/>
              <a:t>Self-issued Cards</a:t>
            </a:r>
            <a:endParaRPr lang="en-US" dirty="0"/>
          </a:p>
          <a:p>
            <a:pPr lvl="1">
              <a:lnSpc>
                <a:spcPct val="150000"/>
              </a:lnSpc>
            </a:pPr>
            <a:r>
              <a:rPr lang="en-US" dirty="0"/>
              <a:t>Created and managed by the user.</a:t>
            </a:r>
          </a:p>
          <a:p>
            <a:pPr lvl="1">
              <a:lnSpc>
                <a:spcPct val="150000"/>
              </a:lnSpc>
            </a:pPr>
            <a:r>
              <a:rPr lang="en-US" dirty="0"/>
              <a:t>Typically hold personal info (name, email).</a:t>
            </a:r>
          </a:p>
          <a:p>
            <a:pPr>
              <a:lnSpc>
                <a:spcPct val="150000"/>
              </a:lnSpc>
            </a:pPr>
            <a:r>
              <a:rPr lang="en-US" b="1" dirty="0"/>
              <a:t>Managed Cards</a:t>
            </a:r>
            <a:endParaRPr lang="en-US" dirty="0"/>
          </a:p>
          <a:p>
            <a:pPr lvl="1">
              <a:lnSpc>
                <a:spcPct val="150000"/>
              </a:lnSpc>
            </a:pPr>
            <a:r>
              <a:rPr lang="en-US" dirty="0"/>
              <a:t>Issued by an organization or IdP.</a:t>
            </a:r>
          </a:p>
          <a:p>
            <a:pPr lvl="1">
              <a:lnSpc>
                <a:spcPct val="150000"/>
              </a:lnSpc>
            </a:pPr>
            <a:r>
              <a:rPr lang="en-US" dirty="0"/>
              <a:t>Carry stronger security guarantees and trusted attributes.</a:t>
            </a:r>
          </a:p>
          <a:p>
            <a:endParaRPr lang="en-US" dirty="0"/>
          </a:p>
        </p:txBody>
      </p:sp>
    </p:spTree>
    <p:extLst>
      <p:ext uri="{BB962C8B-B14F-4D97-AF65-F5344CB8AC3E}">
        <p14:creationId xmlns:p14="http://schemas.microsoft.com/office/powerpoint/2010/main" val="41176358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BD76-BD9B-3BAE-0512-E8F1B8B19909}"/>
              </a:ext>
            </a:extLst>
          </p:cNvPr>
          <p:cNvSpPr>
            <a:spLocks noGrp="1"/>
          </p:cNvSpPr>
          <p:nvPr>
            <p:ph type="title"/>
          </p:nvPr>
        </p:nvSpPr>
        <p:spPr/>
        <p:txBody>
          <a:bodyPr>
            <a:normAutofit fontScale="90000"/>
          </a:bodyPr>
          <a:lstStyle/>
          <a:p>
            <a:r>
              <a:rPr lang="en-US" b="1" dirty="0"/>
              <a:t>Benefits</a:t>
            </a:r>
            <a:br>
              <a:rPr lang="en-US" b="1" dirty="0"/>
            </a:br>
            <a:endParaRPr lang="en-US" dirty="0"/>
          </a:p>
        </p:txBody>
      </p:sp>
      <p:sp>
        <p:nvSpPr>
          <p:cNvPr id="3" name="Text Placeholder 2">
            <a:extLst>
              <a:ext uri="{FF2B5EF4-FFF2-40B4-BE49-F238E27FC236}">
                <a16:creationId xmlns:a16="http://schemas.microsoft.com/office/drawing/2014/main" id="{E0739723-5F87-B8A6-1919-A7B826F7E403}"/>
              </a:ext>
            </a:extLst>
          </p:cNvPr>
          <p:cNvSpPr>
            <a:spLocks noGrp="1"/>
          </p:cNvSpPr>
          <p:nvPr>
            <p:ph type="body" idx="1"/>
          </p:nvPr>
        </p:nvSpPr>
        <p:spPr/>
        <p:txBody>
          <a:bodyPr>
            <a:normAutofit/>
          </a:bodyPr>
          <a:lstStyle/>
          <a:p>
            <a:r>
              <a:rPr lang="en-US" b="1" dirty="0"/>
              <a:t>User-friendly</a:t>
            </a:r>
            <a:r>
              <a:rPr lang="en-US" dirty="0"/>
              <a:t> → Selecting a card is easier than remembering multiple passwords.</a:t>
            </a:r>
          </a:p>
          <a:p>
            <a:r>
              <a:rPr lang="en-US" b="1" dirty="0"/>
              <a:t>Stronger Security</a:t>
            </a:r>
            <a:r>
              <a:rPr lang="en-US" dirty="0"/>
              <a:t> → Reduces password reuse and phishing.</a:t>
            </a:r>
          </a:p>
          <a:p>
            <a:r>
              <a:rPr lang="en-US" b="1" dirty="0"/>
              <a:t>Claims-based Identity</a:t>
            </a:r>
            <a:r>
              <a:rPr lang="en-US" dirty="0"/>
              <a:t> → Only necessary identity info is shared (privacy-friendly).</a:t>
            </a:r>
            <a:br>
              <a:rPr lang="en-US" dirty="0"/>
            </a:br>
            <a:endParaRPr lang="en-US" dirty="0"/>
          </a:p>
          <a:p>
            <a:pPr marL="152396" indent="0">
              <a:buNone/>
            </a:pPr>
            <a:r>
              <a:rPr lang="en-US" b="1" u="sng" dirty="0"/>
              <a:t>Limitations</a:t>
            </a:r>
          </a:p>
          <a:p>
            <a:r>
              <a:rPr lang="en-US" dirty="0"/>
              <a:t>Required Microsoft </a:t>
            </a:r>
            <a:r>
              <a:rPr lang="en-US" b="1" dirty="0"/>
              <a:t>CardSpace</a:t>
            </a:r>
            <a:r>
              <a:rPr lang="en-US" dirty="0"/>
              <a:t> or compatible software.</a:t>
            </a:r>
          </a:p>
          <a:p>
            <a:r>
              <a:rPr lang="en-US" dirty="0"/>
              <a:t>Never became widely adopted → replaced by modern standards like </a:t>
            </a:r>
            <a:r>
              <a:rPr lang="en-US" b="1" dirty="0"/>
              <a:t>OpenID Connect (OIDC)</a:t>
            </a:r>
            <a:r>
              <a:rPr lang="en-US" dirty="0"/>
              <a:t> and </a:t>
            </a:r>
            <a:r>
              <a:rPr lang="en-US" b="1" dirty="0"/>
              <a:t>OAuth2</a:t>
            </a:r>
            <a:r>
              <a:rPr lang="en-US" dirty="0"/>
              <a:t>.</a:t>
            </a:r>
          </a:p>
          <a:p>
            <a:endParaRPr lang="en-US" dirty="0"/>
          </a:p>
        </p:txBody>
      </p:sp>
    </p:spTree>
    <p:extLst>
      <p:ext uri="{BB962C8B-B14F-4D97-AF65-F5344CB8AC3E}">
        <p14:creationId xmlns:p14="http://schemas.microsoft.com/office/powerpoint/2010/main" val="20722142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3A465-EFA7-BAF0-94B3-6B619A7E02FD}"/>
              </a:ext>
            </a:extLst>
          </p:cNvPr>
          <p:cNvSpPr>
            <a:spLocks noGrp="1"/>
          </p:cNvSpPr>
          <p:nvPr>
            <p:ph type="title"/>
          </p:nvPr>
        </p:nvSpPr>
        <p:spPr/>
        <p:txBody>
          <a:bodyPr>
            <a:noAutofit/>
          </a:bodyPr>
          <a:lstStyle/>
          <a:p>
            <a:r>
              <a:rPr lang="en-US" sz="2400" b="1" dirty="0">
                <a:latin typeface="Times New Roman" panose="02020603050405020304" pitchFamily="18" charset="0"/>
                <a:cs typeface="Times New Roman" panose="02020603050405020304" pitchFamily="18" charset="0"/>
              </a:rPr>
              <a:t>IdP (Identity Provider)Definition</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dirty="0">
                <a:solidFill>
                  <a:srgbClr val="FF0000"/>
                </a:solidFill>
                <a:latin typeface="Times New Roman" panose="02020603050405020304" pitchFamily="18" charset="0"/>
                <a:cs typeface="Times New Roman" panose="02020603050405020304" pitchFamily="18" charset="0"/>
              </a:rPr>
              <a:t>An </a:t>
            </a:r>
            <a:r>
              <a:rPr lang="en-US" sz="2400" b="1" dirty="0">
                <a:solidFill>
                  <a:srgbClr val="FF0000"/>
                </a:solidFill>
                <a:latin typeface="Times New Roman" panose="02020603050405020304" pitchFamily="18" charset="0"/>
                <a:cs typeface="Times New Roman" panose="02020603050405020304" pitchFamily="18" charset="0"/>
              </a:rPr>
              <a:t>Identity Provider (IdP)</a:t>
            </a:r>
            <a:r>
              <a:rPr lang="en-US" sz="2400" dirty="0">
                <a:solidFill>
                  <a:srgbClr val="FF0000"/>
                </a:solidFill>
                <a:latin typeface="Times New Roman" panose="02020603050405020304" pitchFamily="18" charset="0"/>
                <a:cs typeface="Times New Roman" panose="02020603050405020304" pitchFamily="18" charset="0"/>
              </a:rPr>
              <a:t> is a trusted system that </a:t>
            </a:r>
            <a:r>
              <a:rPr lang="en-US" sz="2400" b="1" dirty="0">
                <a:solidFill>
                  <a:srgbClr val="FF0000"/>
                </a:solidFill>
                <a:latin typeface="Times New Roman" panose="02020603050405020304" pitchFamily="18" charset="0"/>
                <a:cs typeface="Times New Roman" panose="02020603050405020304" pitchFamily="18" charset="0"/>
              </a:rPr>
              <a:t>creates, stores, and manages digital identities</a:t>
            </a:r>
            <a:r>
              <a:rPr lang="en-US" sz="2400" dirty="0">
                <a:solidFill>
                  <a:srgbClr val="FF0000"/>
                </a:solidFill>
                <a:latin typeface="Times New Roman" panose="02020603050405020304" pitchFamily="18" charset="0"/>
                <a:cs typeface="Times New Roman" panose="02020603050405020304" pitchFamily="18" charset="0"/>
              </a:rPr>
              <a:t> and provides </a:t>
            </a:r>
            <a:r>
              <a:rPr lang="en-US" sz="2400" b="1" dirty="0">
                <a:solidFill>
                  <a:srgbClr val="FF0000"/>
                </a:solidFill>
                <a:latin typeface="Times New Roman" panose="02020603050405020304" pitchFamily="18" charset="0"/>
                <a:cs typeface="Times New Roman" panose="02020603050405020304" pitchFamily="18" charset="0"/>
              </a:rPr>
              <a:t>authentication services</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other applications or service providers.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Think of it as the </a:t>
            </a:r>
            <a:r>
              <a:rPr lang="en-US" sz="2400" b="1" dirty="0">
                <a:latin typeface="Times New Roman" panose="02020603050405020304" pitchFamily="18" charset="0"/>
                <a:cs typeface="Times New Roman" panose="02020603050405020304" pitchFamily="18" charset="0"/>
              </a:rPr>
              <a:t>“login authority”</a:t>
            </a:r>
            <a:r>
              <a:rPr lang="en-US" sz="2400" dirty="0">
                <a:latin typeface="Times New Roman" panose="02020603050405020304" pitchFamily="18" charset="0"/>
                <a:cs typeface="Times New Roman" panose="02020603050405020304" pitchFamily="18" charset="0"/>
              </a:rPr>
              <a:t> that vouches for your identity.</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What IdP Does</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Authentication</a:t>
            </a:r>
            <a:r>
              <a:rPr lang="en-US" sz="2400" dirty="0">
                <a:latin typeface="Times New Roman" panose="02020603050405020304" pitchFamily="18" charset="0"/>
                <a:cs typeface="Times New Roman" panose="02020603050405020304" pitchFamily="18" charset="0"/>
              </a:rPr>
              <a:t> – Verifies </a:t>
            </a:r>
            <a:r>
              <a:rPr lang="en-US" sz="2400" i="1" dirty="0">
                <a:latin typeface="Times New Roman" panose="02020603050405020304" pitchFamily="18" charset="0"/>
                <a:cs typeface="Times New Roman" panose="02020603050405020304" pitchFamily="18" charset="0"/>
              </a:rPr>
              <a:t>who you are</a:t>
            </a:r>
            <a:r>
              <a:rPr lang="en-US" sz="2400" dirty="0">
                <a:latin typeface="Times New Roman" panose="02020603050405020304" pitchFamily="18" charset="0"/>
                <a:cs typeface="Times New Roman" panose="02020603050405020304" pitchFamily="18" charset="0"/>
              </a:rPr>
              <a:t> (via username/password, MFA, biometrics, etc.).</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Attribute/Claim Sharing</a:t>
            </a:r>
            <a:r>
              <a:rPr lang="en-US" sz="2400" dirty="0">
                <a:latin typeface="Times New Roman" panose="02020603050405020304" pitchFamily="18" charset="0"/>
                <a:cs typeface="Times New Roman" panose="02020603050405020304" pitchFamily="18" charset="0"/>
              </a:rPr>
              <a:t> – Passes user info (name, email, roles, group membership) to apps.</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Federation</a:t>
            </a:r>
            <a:r>
              <a:rPr lang="en-US" sz="2400" dirty="0">
                <a:latin typeface="Times New Roman" panose="02020603050405020304" pitchFamily="18" charset="0"/>
                <a:cs typeface="Times New Roman" panose="02020603050405020304" pitchFamily="18" charset="0"/>
              </a:rPr>
              <a:t> – Allows single sign-on (SSO) across multiple apps and cloud services using standards like </a:t>
            </a:r>
            <a:r>
              <a:rPr lang="en-US" sz="2400" b="1" dirty="0">
                <a:latin typeface="Times New Roman" panose="02020603050405020304" pitchFamily="18" charset="0"/>
                <a:cs typeface="Times New Roman" panose="02020603050405020304" pitchFamily="18" charset="0"/>
              </a:rPr>
              <a:t>SAML, OAuth2, OpenID Connect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2897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F506-7EB5-33A5-C9C8-DF1D5AEED627}"/>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93870DAC-1EDD-BF16-E241-55C9DF21F07B}"/>
              </a:ext>
            </a:extLst>
          </p:cNvPr>
          <p:cNvSpPr>
            <a:spLocks noGrp="1"/>
          </p:cNvSpPr>
          <p:nvPr>
            <p:ph type="body" idx="1"/>
          </p:nvPr>
        </p:nvSpPr>
        <p:spPr/>
        <p:txBody>
          <a:bodyPr/>
          <a:lstStyle/>
          <a:p>
            <a:pPr marL="152396" indent="0">
              <a:buNone/>
            </a:pPr>
            <a:r>
              <a:rPr lang="en-US" b="1" dirty="0"/>
              <a:t>Examples of IdPs</a:t>
            </a:r>
          </a:p>
          <a:p>
            <a:pPr>
              <a:lnSpc>
                <a:spcPct val="200000"/>
              </a:lnSpc>
            </a:pPr>
            <a:r>
              <a:rPr lang="en-US" b="1" dirty="0"/>
              <a:t>Enterprise IdPs</a:t>
            </a:r>
            <a:r>
              <a:rPr lang="en-US" dirty="0"/>
              <a:t>: Microsoft Active Directory Federation Services (ADFS), </a:t>
            </a:r>
            <a:r>
              <a:rPr lang="en-US" dirty="0" err="1"/>
              <a:t>OpenLDAP</a:t>
            </a:r>
            <a:r>
              <a:rPr lang="en-US" dirty="0"/>
              <a:t>, Ping Identity, Okta.</a:t>
            </a:r>
          </a:p>
          <a:p>
            <a:pPr>
              <a:lnSpc>
                <a:spcPct val="200000"/>
              </a:lnSpc>
            </a:pPr>
            <a:r>
              <a:rPr lang="en-US" b="1" dirty="0"/>
              <a:t>Consumer IdPs</a:t>
            </a:r>
            <a:r>
              <a:rPr lang="en-US" dirty="0"/>
              <a:t>: Google, Facebook, Apple ID, LinkedIn.</a:t>
            </a:r>
          </a:p>
          <a:p>
            <a:pPr>
              <a:lnSpc>
                <a:spcPct val="200000"/>
              </a:lnSpc>
            </a:pPr>
            <a:r>
              <a:rPr lang="en-US" b="1" dirty="0"/>
              <a:t>Cloud-native IdPs</a:t>
            </a:r>
            <a:r>
              <a:rPr lang="en-US" dirty="0"/>
              <a:t>: AWS IAM, Azure AD (now Entra ID), Google Cloud IAM.</a:t>
            </a:r>
          </a:p>
          <a:p>
            <a:endParaRPr lang="en-US" dirty="0"/>
          </a:p>
        </p:txBody>
      </p:sp>
    </p:spTree>
    <p:extLst>
      <p:ext uri="{BB962C8B-B14F-4D97-AF65-F5344CB8AC3E}">
        <p14:creationId xmlns:p14="http://schemas.microsoft.com/office/powerpoint/2010/main" val="20587552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4B610-6C98-E744-E1C4-1091D674474A}"/>
              </a:ext>
            </a:extLst>
          </p:cNvPr>
          <p:cNvSpPr>
            <a:spLocks noGrp="1"/>
          </p:cNvSpPr>
          <p:nvPr>
            <p:ph type="title"/>
          </p:nvPr>
        </p:nvSpPr>
        <p:spPr/>
        <p:txBody>
          <a:bodyPr>
            <a:normAutofit/>
          </a:bodyPr>
          <a:lstStyle/>
          <a:p>
            <a:r>
              <a:rPr lang="en-US" b="1"/>
              <a:t>IAM Practices in the Cloud</a:t>
            </a:r>
            <a:endParaRPr lang="en-US"/>
          </a:p>
        </p:txBody>
      </p:sp>
      <p:sp>
        <p:nvSpPr>
          <p:cNvPr id="3" name="Text Placeholder 2">
            <a:extLst>
              <a:ext uri="{FF2B5EF4-FFF2-40B4-BE49-F238E27FC236}">
                <a16:creationId xmlns:a16="http://schemas.microsoft.com/office/drawing/2014/main" id="{949031F4-702C-0B3A-3974-74FA510F3B68}"/>
              </a:ext>
            </a:extLst>
          </p:cNvPr>
          <p:cNvSpPr>
            <a:spLocks noGrp="1"/>
          </p:cNvSpPr>
          <p:nvPr>
            <p:ph type="body" idx="1"/>
          </p:nvPr>
        </p:nvSpPr>
        <p:spPr/>
        <p:txBody>
          <a:bodyPr/>
          <a:lstStyle/>
          <a:p>
            <a:r>
              <a:rPr lang="en-US" dirty="0"/>
              <a:t>Dynamic nature of IAM users, systems, and applications in the cloud and addresses the four key components of the IAM automation process:</a:t>
            </a:r>
          </a:p>
          <a:p>
            <a:pPr>
              <a:lnSpc>
                <a:spcPct val="200000"/>
              </a:lnSpc>
            </a:pPr>
            <a:r>
              <a:rPr lang="en-US" dirty="0"/>
              <a:t>• User Management, New Users</a:t>
            </a:r>
          </a:p>
          <a:p>
            <a:pPr>
              <a:lnSpc>
                <a:spcPct val="200000"/>
              </a:lnSpc>
            </a:pPr>
            <a:r>
              <a:rPr lang="en-US" dirty="0"/>
              <a:t>• User Management, User Modifications</a:t>
            </a:r>
          </a:p>
          <a:p>
            <a:pPr>
              <a:lnSpc>
                <a:spcPct val="200000"/>
              </a:lnSpc>
            </a:pPr>
            <a:r>
              <a:rPr lang="en-US" dirty="0"/>
              <a:t>• Authentication Management</a:t>
            </a:r>
          </a:p>
          <a:p>
            <a:pPr>
              <a:lnSpc>
                <a:spcPct val="200000"/>
              </a:lnSpc>
            </a:pPr>
            <a:r>
              <a:rPr lang="en-US" dirty="0"/>
              <a:t>• Authorization Management</a:t>
            </a:r>
          </a:p>
        </p:txBody>
      </p:sp>
    </p:spTree>
    <p:extLst>
      <p:ext uri="{BB962C8B-B14F-4D97-AF65-F5344CB8AC3E}">
        <p14:creationId xmlns:p14="http://schemas.microsoft.com/office/powerpoint/2010/main" val="28786471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0621-A880-F6E3-CEB5-08A66279D826}"/>
              </a:ext>
            </a:extLst>
          </p:cNvPr>
          <p:cNvSpPr>
            <a:spLocks noGrp="1"/>
          </p:cNvSpPr>
          <p:nvPr>
            <p:ph type="title"/>
          </p:nvPr>
        </p:nvSpPr>
        <p:spPr/>
        <p:txBody>
          <a:bodyPr>
            <a:noAutofit/>
          </a:bodyPr>
          <a:lstStyle/>
          <a:p>
            <a:r>
              <a:rPr lang="en-US" sz="2667" b="1" dirty="0">
                <a:latin typeface="MeridienLTStd-Roman"/>
              </a:rPr>
              <a:t>User management functions in the cloud can be categorized as follows:</a:t>
            </a:r>
            <a:br>
              <a:rPr lang="en-US" sz="2667" b="1" dirty="0">
                <a:latin typeface="MeridienLTStd-Roman"/>
              </a:rPr>
            </a:br>
            <a:endParaRPr lang="en-US" sz="2400" b="1" dirty="0"/>
          </a:p>
        </p:txBody>
      </p:sp>
      <p:sp>
        <p:nvSpPr>
          <p:cNvPr id="3" name="Text Placeholder 2">
            <a:extLst>
              <a:ext uri="{FF2B5EF4-FFF2-40B4-BE49-F238E27FC236}">
                <a16:creationId xmlns:a16="http://schemas.microsoft.com/office/drawing/2014/main" id="{74EF08B1-3F03-E1D8-A00F-369D8606A002}"/>
              </a:ext>
            </a:extLst>
          </p:cNvPr>
          <p:cNvSpPr>
            <a:spLocks noGrp="1"/>
          </p:cNvSpPr>
          <p:nvPr>
            <p:ph type="body" idx="1"/>
          </p:nvPr>
        </p:nvSpPr>
        <p:spPr/>
        <p:txBody>
          <a:bodyPr/>
          <a:lstStyle/>
          <a:p>
            <a:endParaRPr lang="en-US" dirty="0"/>
          </a:p>
        </p:txBody>
      </p:sp>
      <p:sp>
        <p:nvSpPr>
          <p:cNvPr id="5" name="TextBox 4">
            <a:extLst>
              <a:ext uri="{FF2B5EF4-FFF2-40B4-BE49-F238E27FC236}">
                <a16:creationId xmlns:a16="http://schemas.microsoft.com/office/drawing/2014/main" id="{493C9329-D056-7752-B363-45EBDACA3DA1}"/>
              </a:ext>
            </a:extLst>
          </p:cNvPr>
          <p:cNvSpPr txBox="1"/>
          <p:nvPr/>
        </p:nvSpPr>
        <p:spPr>
          <a:xfrm>
            <a:off x="692258" y="2506962"/>
            <a:ext cx="10642169" cy="2390141"/>
          </a:xfrm>
          <a:prstGeom prst="rect">
            <a:avLst/>
          </a:prstGeom>
          <a:noFill/>
        </p:spPr>
        <p:txBody>
          <a:bodyPr wrap="square">
            <a:spAutoFit/>
          </a:bodyPr>
          <a:lstStyle/>
          <a:p>
            <a:pPr defTabSz="1219170">
              <a:buClr>
                <a:srgbClr val="000000"/>
              </a:buClr>
            </a:pPr>
            <a:r>
              <a:rPr lang="en-US" sz="3733" kern="0" dirty="0">
                <a:solidFill>
                  <a:srgbClr val="000000"/>
                </a:solidFill>
                <a:latin typeface="MeridienLTStd-Roman"/>
                <a:cs typeface="Arial"/>
                <a:sym typeface="Arial"/>
              </a:rPr>
              <a:t>• Cloud identity administration</a:t>
            </a:r>
          </a:p>
          <a:p>
            <a:pPr defTabSz="1219170">
              <a:buClr>
                <a:srgbClr val="000000"/>
              </a:buClr>
            </a:pPr>
            <a:r>
              <a:rPr lang="en-US" sz="3733" kern="0" dirty="0">
                <a:solidFill>
                  <a:srgbClr val="000000"/>
                </a:solidFill>
                <a:latin typeface="MeridienLTStd-Roman"/>
                <a:cs typeface="Arial"/>
                <a:sym typeface="Arial"/>
              </a:rPr>
              <a:t>• Federation or SSO</a:t>
            </a:r>
          </a:p>
          <a:p>
            <a:pPr defTabSz="1219170">
              <a:buClr>
                <a:srgbClr val="000000"/>
              </a:buClr>
            </a:pPr>
            <a:r>
              <a:rPr lang="en-US" sz="3733" kern="0" dirty="0">
                <a:solidFill>
                  <a:srgbClr val="000000"/>
                </a:solidFill>
                <a:latin typeface="MeridienLTStd-Roman"/>
                <a:cs typeface="Arial"/>
                <a:sym typeface="Arial"/>
              </a:rPr>
              <a:t>• Authorization management</a:t>
            </a:r>
          </a:p>
          <a:p>
            <a:pPr defTabSz="1219170">
              <a:buClr>
                <a:srgbClr val="000000"/>
              </a:buClr>
            </a:pPr>
            <a:r>
              <a:rPr lang="en-US" sz="3733" kern="0" dirty="0">
                <a:solidFill>
                  <a:srgbClr val="000000"/>
                </a:solidFill>
                <a:latin typeface="MeridienLTStd-Roman"/>
                <a:cs typeface="Arial"/>
                <a:sym typeface="Arial"/>
              </a:rPr>
              <a:t>• Compliance management</a:t>
            </a:r>
            <a:endParaRPr lang="en-US" sz="3733" kern="0" dirty="0">
              <a:solidFill>
                <a:srgbClr val="000000"/>
              </a:solidFill>
              <a:latin typeface="Arial"/>
              <a:cs typeface="Arial"/>
              <a:sym typeface="Arial"/>
            </a:endParaRPr>
          </a:p>
        </p:txBody>
      </p:sp>
    </p:spTree>
    <p:extLst>
      <p:ext uri="{BB962C8B-B14F-4D97-AF65-F5344CB8AC3E}">
        <p14:creationId xmlns:p14="http://schemas.microsoft.com/office/powerpoint/2010/main" val="1275522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87604-9601-474F-18E7-F51993CE080B}"/>
              </a:ext>
            </a:extLst>
          </p:cNvPr>
          <p:cNvSpPr>
            <a:spLocks noGrp="1"/>
          </p:cNvSpPr>
          <p:nvPr>
            <p:ph type="title"/>
          </p:nvPr>
        </p:nvSpPr>
        <p:spPr>
          <a:xfrm>
            <a:off x="508589" y="128419"/>
            <a:ext cx="11360800" cy="501847"/>
          </a:xfrm>
        </p:spPr>
        <p:txBody>
          <a:bodyPr>
            <a:normAutofit fontScale="90000"/>
          </a:bodyPr>
          <a:lstStyle/>
          <a:p>
            <a:r>
              <a:rPr lang="en-US" b="1" dirty="0"/>
              <a:t>Cloud Identity Administration</a:t>
            </a:r>
            <a:endParaRPr lang="en-US" dirty="0"/>
          </a:p>
        </p:txBody>
      </p:sp>
      <p:sp>
        <p:nvSpPr>
          <p:cNvPr id="3" name="Text Placeholder 2">
            <a:extLst>
              <a:ext uri="{FF2B5EF4-FFF2-40B4-BE49-F238E27FC236}">
                <a16:creationId xmlns:a16="http://schemas.microsoft.com/office/drawing/2014/main" id="{D8B8267B-90DE-E7D6-F02A-D72065130035}"/>
              </a:ext>
            </a:extLst>
          </p:cNvPr>
          <p:cNvSpPr>
            <a:spLocks noGrp="1"/>
          </p:cNvSpPr>
          <p:nvPr>
            <p:ph type="body" idx="1"/>
          </p:nvPr>
        </p:nvSpPr>
        <p:spPr>
          <a:xfrm>
            <a:off x="415600" y="929899"/>
            <a:ext cx="11360800" cy="5724040"/>
          </a:xfrm>
        </p:spPr>
        <p:txBody>
          <a:bodyPr>
            <a:normAutofit fontScale="92500" lnSpcReduction="10000"/>
          </a:bodyPr>
          <a:lstStyle/>
          <a:p>
            <a:pPr marL="152396" indent="0">
              <a:lnSpc>
                <a:spcPct val="170000"/>
              </a:lnSpc>
              <a:buNone/>
            </a:pPr>
            <a:r>
              <a:rPr lang="en-US" b="1" dirty="0"/>
              <a:t>1. </a:t>
            </a:r>
            <a:r>
              <a:rPr lang="en-US" sz="2533" b="1" dirty="0">
                <a:latin typeface="Times New Roman" panose="02020603050405020304" pitchFamily="18" charset="0"/>
                <a:cs typeface="Times New Roman" panose="02020603050405020304" pitchFamily="18" charset="0"/>
              </a:rPr>
              <a:t>Focus on Lifecycle Management</a:t>
            </a:r>
          </a:p>
          <a:p>
            <a:pPr lvl="1">
              <a:lnSpc>
                <a:spcPct val="170000"/>
              </a:lnSpc>
            </a:pPr>
            <a:r>
              <a:rPr lang="en-US" sz="2533" dirty="0">
                <a:latin typeface="Times New Roman" panose="02020603050405020304" pitchFamily="18" charset="0"/>
                <a:cs typeface="Times New Roman" panose="02020603050405020304" pitchFamily="18" charset="0"/>
              </a:rPr>
              <a:t>Provisioning and deprovisioning of user identities.</a:t>
            </a:r>
          </a:p>
          <a:p>
            <a:pPr lvl="1">
              <a:lnSpc>
                <a:spcPct val="170000"/>
              </a:lnSpc>
            </a:pPr>
            <a:r>
              <a:rPr lang="en-US" sz="2533" dirty="0">
                <a:solidFill>
                  <a:srgbClr val="FF0000"/>
                </a:solidFill>
                <a:latin typeface="Times New Roman" panose="02020603050405020304" pitchFamily="18" charset="0"/>
                <a:cs typeface="Times New Roman" panose="02020603050405020304" pitchFamily="18" charset="0"/>
              </a:rPr>
              <a:t>Identity federation and Single Sign-On (SSO).</a:t>
            </a:r>
          </a:p>
          <a:p>
            <a:pPr lvl="1">
              <a:lnSpc>
                <a:spcPct val="170000"/>
              </a:lnSpc>
            </a:pPr>
            <a:r>
              <a:rPr lang="en-US" sz="2533" dirty="0">
                <a:latin typeface="Times New Roman" panose="02020603050405020304" pitchFamily="18" charset="0"/>
                <a:cs typeface="Times New Roman" panose="02020603050405020304" pitchFamily="18" charset="0"/>
              </a:rPr>
              <a:t>Password/credential management and profile management.</a:t>
            </a:r>
          </a:p>
          <a:p>
            <a:pPr lvl="1">
              <a:lnSpc>
                <a:spcPct val="170000"/>
              </a:lnSpc>
            </a:pPr>
            <a:r>
              <a:rPr lang="en-US" sz="2533" dirty="0">
                <a:latin typeface="Times New Roman" panose="02020603050405020304" pitchFamily="18" charset="0"/>
                <a:cs typeface="Times New Roman" panose="02020603050405020304" pitchFamily="18" charset="0"/>
              </a:rPr>
              <a:t>Administrative management of </a:t>
            </a:r>
            <a:r>
              <a:rPr lang="en-US" sz="2533" b="1" dirty="0">
                <a:solidFill>
                  <a:srgbClr val="FF0000"/>
                </a:solidFill>
                <a:latin typeface="Times New Roman" panose="02020603050405020304" pitchFamily="18" charset="0"/>
                <a:cs typeface="Times New Roman" panose="02020603050405020304" pitchFamily="18" charset="0"/>
              </a:rPr>
              <a:t>user accounts.</a:t>
            </a:r>
          </a:p>
          <a:p>
            <a:pPr marL="152396" indent="0">
              <a:lnSpc>
                <a:spcPct val="170000"/>
              </a:lnSpc>
              <a:buNone/>
            </a:pPr>
            <a:r>
              <a:rPr lang="en-US" sz="2533" b="1" dirty="0">
                <a:latin typeface="Times New Roman" panose="02020603050405020304" pitchFamily="18" charset="0"/>
                <a:cs typeface="Times New Roman" panose="02020603050405020304" pitchFamily="18" charset="0"/>
              </a:rPr>
              <a:t>2. Federation and Identity Management Services</a:t>
            </a:r>
          </a:p>
          <a:p>
            <a:pPr lvl="1">
              <a:lnSpc>
                <a:spcPct val="170000"/>
              </a:lnSpc>
            </a:pPr>
            <a:r>
              <a:rPr lang="en-US" sz="2133" dirty="0">
                <a:latin typeface="Times New Roman" panose="02020603050405020304" pitchFamily="18" charset="0"/>
                <a:cs typeface="Times New Roman" panose="02020603050405020304" pitchFamily="18" charset="0"/>
              </a:rPr>
              <a:t>Organizations unable to support federation internally should explore </a:t>
            </a:r>
            <a:r>
              <a:rPr lang="en-US" sz="2133" b="1" dirty="0">
                <a:latin typeface="Times New Roman" panose="02020603050405020304" pitchFamily="18" charset="0"/>
                <a:cs typeface="Times New Roman" panose="02020603050405020304" pitchFamily="18" charset="0"/>
              </a:rPr>
              <a:t>cloud-based identity management services</a:t>
            </a:r>
            <a:r>
              <a:rPr lang="en-US" sz="2133" dirty="0">
                <a:latin typeface="Times New Roman" panose="02020603050405020304" pitchFamily="18" charset="0"/>
                <a:cs typeface="Times New Roman" panose="02020603050405020304" pitchFamily="18" charset="0"/>
              </a:rPr>
              <a:t>.</a:t>
            </a:r>
          </a:p>
          <a:p>
            <a:pPr lvl="1">
              <a:lnSpc>
                <a:spcPct val="170000"/>
              </a:lnSpc>
            </a:pPr>
            <a:r>
              <a:rPr lang="en-US" sz="2133" dirty="0">
                <a:latin typeface="Times New Roman" panose="02020603050405020304" pitchFamily="18" charset="0"/>
                <a:cs typeface="Times New Roman" panose="02020603050405020304" pitchFamily="18" charset="0"/>
              </a:rPr>
              <a:t>These services typically synchronize </a:t>
            </a:r>
            <a:r>
              <a:rPr lang="en-US" sz="2133" dirty="0">
                <a:solidFill>
                  <a:srgbClr val="FF0000"/>
                </a:solidFill>
                <a:latin typeface="Times New Roman" panose="02020603050405020304" pitchFamily="18" charset="0"/>
                <a:cs typeface="Times New Roman" panose="02020603050405020304" pitchFamily="18" charset="0"/>
              </a:rPr>
              <a:t>internal directories with a multitenant directory and act as a </a:t>
            </a:r>
            <a:r>
              <a:rPr lang="en-US" sz="2133" b="1" dirty="0">
                <a:solidFill>
                  <a:srgbClr val="FF0000"/>
                </a:solidFill>
                <a:latin typeface="Times New Roman" panose="02020603050405020304" pitchFamily="18" charset="0"/>
                <a:cs typeface="Times New Roman" panose="02020603050405020304" pitchFamily="18" charset="0"/>
              </a:rPr>
              <a:t>proxy Identity Provider (IdP)</a:t>
            </a:r>
            <a:r>
              <a:rPr lang="en-US" sz="2133" dirty="0">
                <a:solidFill>
                  <a:srgbClr val="FF0000"/>
                </a:solidFill>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4648381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C3D4A-C62C-FF48-6E02-96859A6CB13D}"/>
              </a:ext>
            </a:extLst>
          </p:cNvPr>
          <p:cNvSpPr>
            <a:spLocks noGrp="1"/>
          </p:cNvSpPr>
          <p:nvPr>
            <p:ph type="title"/>
          </p:nvPr>
        </p:nvSpPr>
        <p:spPr/>
        <p:txBody>
          <a:bodyPr>
            <a:normAutofit fontScale="90000"/>
          </a:bodyPr>
          <a:lstStyle/>
          <a:p>
            <a:r>
              <a:rPr lang="en-US" b="1" dirty="0"/>
              <a:t>Federated Identity (SSO)</a:t>
            </a:r>
            <a:br>
              <a:rPr lang="en-US" b="1" dirty="0"/>
            </a:br>
            <a:endParaRPr lang="en-US" dirty="0"/>
          </a:p>
        </p:txBody>
      </p:sp>
      <p:sp>
        <p:nvSpPr>
          <p:cNvPr id="3" name="Text Placeholder 2">
            <a:extLst>
              <a:ext uri="{FF2B5EF4-FFF2-40B4-BE49-F238E27FC236}">
                <a16:creationId xmlns:a16="http://schemas.microsoft.com/office/drawing/2014/main" id="{4168B5E4-AD45-3751-3A8A-3FA7F1F9CBD2}"/>
              </a:ext>
            </a:extLst>
          </p:cNvPr>
          <p:cNvSpPr>
            <a:spLocks noGrp="1"/>
          </p:cNvSpPr>
          <p:nvPr>
            <p:ph type="body" idx="1"/>
          </p:nvPr>
        </p:nvSpPr>
        <p:spPr/>
        <p:txBody>
          <a:bodyPr/>
          <a:lstStyle/>
          <a:p>
            <a:r>
              <a:rPr lang="en-US" dirty="0"/>
              <a:t>Organizations planning to implement identity federation that enables SSO for users can take one of the following two paths (architectures):</a:t>
            </a:r>
          </a:p>
          <a:p>
            <a:endParaRPr lang="en-US" dirty="0"/>
          </a:p>
          <a:p>
            <a:pPr>
              <a:buFont typeface="+mj-lt"/>
              <a:buAutoNum type="arabicPeriod"/>
            </a:pPr>
            <a:r>
              <a:rPr lang="en-US" dirty="0"/>
              <a:t>• </a:t>
            </a:r>
            <a:r>
              <a:rPr lang="en-US" b="1" dirty="0">
                <a:solidFill>
                  <a:srgbClr val="FF0000"/>
                </a:solidFill>
              </a:rPr>
              <a:t>Implement an enterprise IdP within an organization perimeter.</a:t>
            </a:r>
          </a:p>
          <a:p>
            <a:pPr>
              <a:buFont typeface="+mj-lt"/>
              <a:buAutoNum type="arabicPeriod"/>
            </a:pPr>
            <a:r>
              <a:rPr lang="en-US" b="1" dirty="0">
                <a:solidFill>
                  <a:srgbClr val="FF0000"/>
                </a:solidFill>
              </a:rPr>
              <a:t>• Integrate with a trusted cloud-based identity management service provider.</a:t>
            </a:r>
          </a:p>
          <a:p>
            <a:endParaRPr lang="en-US" dirty="0"/>
          </a:p>
          <a:p>
            <a:endParaRPr lang="en-US" dirty="0"/>
          </a:p>
          <a:p>
            <a:endParaRPr lang="en-US" dirty="0"/>
          </a:p>
          <a:p>
            <a:r>
              <a:rPr lang="en-US" dirty="0"/>
              <a:t>Both architectures have pros and cons.</a:t>
            </a:r>
          </a:p>
        </p:txBody>
      </p:sp>
    </p:spTree>
    <p:extLst>
      <p:ext uri="{BB962C8B-B14F-4D97-AF65-F5344CB8AC3E}">
        <p14:creationId xmlns:p14="http://schemas.microsoft.com/office/powerpoint/2010/main" val="17764103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7395B-4B7B-4014-A059-1D0793B1DD99}"/>
              </a:ext>
            </a:extLst>
          </p:cNvPr>
          <p:cNvSpPr>
            <a:spLocks noGrp="1"/>
          </p:cNvSpPr>
          <p:nvPr>
            <p:ph type="title"/>
          </p:nvPr>
        </p:nvSpPr>
        <p:spPr>
          <a:xfrm>
            <a:off x="415600" y="128419"/>
            <a:ext cx="11360800" cy="817600"/>
          </a:xfrm>
        </p:spPr>
        <p:txBody>
          <a:bodyPr>
            <a:noAutofit/>
          </a:bodyPr>
          <a:lstStyle/>
          <a:p>
            <a:r>
              <a:rPr lang="en-US" sz="2400" b="1" u="sng" dirty="0"/>
              <a:t>Enterprise Identity Provider (IdP) Deployment Architecture</a:t>
            </a:r>
          </a:p>
        </p:txBody>
      </p:sp>
      <p:sp>
        <p:nvSpPr>
          <p:cNvPr id="3" name="Text Placeholder 2">
            <a:extLst>
              <a:ext uri="{FF2B5EF4-FFF2-40B4-BE49-F238E27FC236}">
                <a16:creationId xmlns:a16="http://schemas.microsoft.com/office/drawing/2014/main" id="{6791A06C-8F0C-8126-8956-87628C48EE4A}"/>
              </a:ext>
            </a:extLst>
          </p:cNvPr>
          <p:cNvSpPr>
            <a:spLocks noGrp="1"/>
          </p:cNvSpPr>
          <p:nvPr>
            <p:ph type="body" idx="1"/>
          </p:nvPr>
        </p:nvSpPr>
        <p:spPr>
          <a:xfrm>
            <a:off x="415600" y="946019"/>
            <a:ext cx="11360800" cy="5145715"/>
          </a:xfrm>
        </p:spPr>
        <p:txBody>
          <a:bodyPr>
            <a:normAutofit/>
          </a:bodyPr>
          <a:lstStyle/>
          <a:p>
            <a:r>
              <a:rPr lang="en-US" dirty="0"/>
              <a:t>Cloud services delegate </a:t>
            </a:r>
            <a:r>
              <a:rPr lang="en-US" b="1" dirty="0"/>
              <a:t>authentication</a:t>
            </a:r>
            <a:r>
              <a:rPr lang="en-US" dirty="0"/>
              <a:t> to the organization’s </a:t>
            </a:r>
            <a:r>
              <a:rPr lang="en-US" b="1" dirty="0"/>
              <a:t>Identity Provider (IdP)</a:t>
            </a:r>
            <a:r>
              <a:rPr lang="en-US" dirty="0"/>
              <a:t>.</a:t>
            </a:r>
          </a:p>
          <a:p>
            <a:r>
              <a:rPr lang="en-US" dirty="0"/>
              <a:t>The organization </a:t>
            </a:r>
            <a:r>
              <a:rPr lang="en-US" b="1" dirty="0"/>
              <a:t>federates identities</a:t>
            </a:r>
            <a:r>
              <a:rPr lang="en-US" dirty="0"/>
              <a:t> within a trusted circle of CSP (Cloud Service Provider) domains.</a:t>
            </a:r>
          </a:p>
          <a:p>
            <a:r>
              <a:rPr lang="en-US" dirty="0"/>
              <a:t>A circle of trust is established: only authorized CSP domains can delegate authentication to the IdP.</a:t>
            </a:r>
          </a:p>
          <a:p>
            <a:r>
              <a:rPr lang="en-US" dirty="0"/>
              <a:t>This approach gives the organization greater control over:</a:t>
            </a:r>
          </a:p>
          <a:p>
            <a:pPr lvl="1"/>
            <a:r>
              <a:rPr lang="en-US" sz="2133" b="1" dirty="0"/>
              <a:t>User identities, </a:t>
            </a:r>
          </a:p>
          <a:p>
            <a:pPr lvl="1"/>
            <a:r>
              <a:rPr lang="en-US" sz="2133" b="1" dirty="0"/>
              <a:t>Attributes, </a:t>
            </a:r>
          </a:p>
          <a:p>
            <a:pPr lvl="1"/>
            <a:r>
              <a:rPr lang="en-US" sz="2133" b="1" dirty="0"/>
              <a:t>Credentials,</a:t>
            </a:r>
          </a:p>
          <a:p>
            <a:pPr lvl="1"/>
            <a:r>
              <a:rPr lang="en-US" sz="2133" b="1" dirty="0"/>
              <a:t>Policies  for authentication and authorization</a:t>
            </a:r>
          </a:p>
        </p:txBody>
      </p:sp>
    </p:spTree>
    <p:extLst>
      <p:ext uri="{BB962C8B-B14F-4D97-AF65-F5344CB8AC3E}">
        <p14:creationId xmlns:p14="http://schemas.microsoft.com/office/powerpoint/2010/main" val="9004847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D4385-D837-711B-2962-AC976957E86E}"/>
              </a:ext>
            </a:extLst>
          </p:cNvPr>
          <p:cNvSpPr>
            <a:spLocks noGrp="1"/>
          </p:cNvSpPr>
          <p:nvPr>
            <p:ph type="title"/>
          </p:nvPr>
        </p:nvSpPr>
        <p:spPr/>
        <p:txBody>
          <a:bodyPr>
            <a:normAutofit fontScale="90000"/>
          </a:bodyPr>
          <a:lstStyle/>
          <a:p>
            <a:r>
              <a:rPr lang="en-US" b="1" dirty="0"/>
              <a:t>Federated Identity</a:t>
            </a:r>
            <a:br>
              <a:rPr lang="en-US" b="1" dirty="0"/>
            </a:br>
            <a:endParaRPr lang="en-US" dirty="0"/>
          </a:p>
        </p:txBody>
      </p:sp>
      <p:sp>
        <p:nvSpPr>
          <p:cNvPr id="3" name="Text Placeholder 2">
            <a:extLst>
              <a:ext uri="{FF2B5EF4-FFF2-40B4-BE49-F238E27FC236}">
                <a16:creationId xmlns:a16="http://schemas.microsoft.com/office/drawing/2014/main" id="{0BE16867-5A93-50B6-CE64-E213AE49D094}"/>
              </a:ext>
            </a:extLst>
          </p:cNvPr>
          <p:cNvSpPr>
            <a:spLocks noGrp="1"/>
          </p:cNvSpPr>
          <p:nvPr>
            <p:ph type="body" idx="1"/>
          </p:nvPr>
        </p:nvSpPr>
        <p:spPr/>
        <p:txBody>
          <a:bodyPr>
            <a:normAutofit/>
          </a:bodyPr>
          <a:lstStyle/>
          <a:p>
            <a:pPr marL="152396" indent="0">
              <a:buNone/>
            </a:pPr>
            <a:r>
              <a:rPr lang="en-US" b="1" dirty="0">
                <a:latin typeface="Times New Roman" panose="02020603050405020304" pitchFamily="18" charset="0"/>
                <a:cs typeface="Times New Roman" panose="02020603050405020304" pitchFamily="18" charset="0"/>
              </a:rPr>
              <a:t>Definition</a:t>
            </a:r>
          </a:p>
          <a:p>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federated identity</a:t>
            </a:r>
            <a:r>
              <a:rPr lang="en-US" dirty="0">
                <a:latin typeface="Times New Roman" panose="02020603050405020304" pitchFamily="18" charset="0"/>
                <a:cs typeface="Times New Roman" panose="02020603050405020304" pitchFamily="18" charset="0"/>
              </a:rPr>
              <a:t> is a way of </a:t>
            </a:r>
            <a:r>
              <a:rPr lang="en-US" b="1" dirty="0">
                <a:latin typeface="Times New Roman" panose="02020603050405020304" pitchFamily="18" charset="0"/>
                <a:cs typeface="Times New Roman" panose="02020603050405020304" pitchFamily="18" charset="0"/>
              </a:rPr>
              <a:t>linking a person’s digital identity across multiple systems, organizations, or domains</a:t>
            </a:r>
            <a:r>
              <a:rPr lang="en-US" dirty="0">
                <a:latin typeface="Times New Roman" panose="02020603050405020304" pitchFamily="18" charset="0"/>
                <a:cs typeface="Times New Roman" panose="02020603050405020304" pitchFamily="18" charset="0"/>
              </a:rPr>
              <a:t> so they can use </a:t>
            </a:r>
            <a:r>
              <a:rPr lang="en-US" b="1" dirty="0">
                <a:latin typeface="Times New Roman" panose="02020603050405020304" pitchFamily="18" charset="0"/>
                <a:cs typeface="Times New Roman" panose="02020603050405020304" pitchFamily="18" charset="0"/>
              </a:rPr>
              <a:t>one set of credentials</a:t>
            </a:r>
            <a:r>
              <a:rPr lang="en-US" dirty="0">
                <a:latin typeface="Times New Roman" panose="02020603050405020304" pitchFamily="18" charset="0"/>
                <a:cs typeface="Times New Roman" panose="02020603050405020304" pitchFamily="18" charset="0"/>
              </a:rPr>
              <a:t> to access many services.</a:t>
            </a:r>
          </a:p>
          <a:p>
            <a:r>
              <a:rPr lang="en-US" dirty="0">
                <a:latin typeface="Times New Roman" panose="02020603050405020304" pitchFamily="18" charset="0"/>
                <a:cs typeface="Times New Roman" panose="02020603050405020304" pitchFamily="18" charset="0"/>
              </a:rPr>
              <a:t>It’s the foundation of </a:t>
            </a:r>
            <a:r>
              <a:rPr lang="en-US" b="1" dirty="0">
                <a:latin typeface="Times New Roman" panose="02020603050405020304" pitchFamily="18" charset="0"/>
                <a:cs typeface="Times New Roman" panose="02020603050405020304" pitchFamily="18" charset="0"/>
              </a:rPr>
              <a:t>Single Sign-On (SSO)</a:t>
            </a:r>
            <a:r>
              <a:rPr lang="en-US" dirty="0">
                <a:latin typeface="Times New Roman" panose="02020603050405020304" pitchFamily="18" charset="0"/>
                <a:cs typeface="Times New Roman" panose="02020603050405020304" pitchFamily="18" charset="0"/>
              </a:rPr>
              <a:t> across different platforms.</a:t>
            </a:r>
          </a:p>
          <a:p>
            <a:pPr marL="152396" indent="0">
              <a:buNone/>
            </a:pPr>
            <a:r>
              <a:rPr lang="en-US" b="1" dirty="0">
                <a:latin typeface="Times New Roman" panose="02020603050405020304" pitchFamily="18" charset="0"/>
                <a:cs typeface="Times New Roman" panose="02020603050405020304" pitchFamily="18" charset="0"/>
              </a:rPr>
              <a:t>How It Works</a:t>
            </a:r>
          </a:p>
          <a:p>
            <a:r>
              <a:rPr lang="en-US" dirty="0">
                <a:latin typeface="Times New Roman" panose="02020603050405020304" pitchFamily="18" charset="0"/>
                <a:cs typeface="Times New Roman" panose="02020603050405020304" pitchFamily="18" charset="0"/>
              </a:rPr>
              <a:t>Instead of each application having its </a:t>
            </a:r>
            <a:r>
              <a:rPr lang="en-US" b="1" dirty="0">
                <a:latin typeface="Times New Roman" panose="02020603050405020304" pitchFamily="18" charset="0"/>
                <a:cs typeface="Times New Roman" panose="02020603050405020304" pitchFamily="18" charset="0"/>
              </a:rPr>
              <a:t>own username/password</a:t>
            </a:r>
            <a:r>
              <a:rPr lang="en-US" dirty="0">
                <a:latin typeface="Times New Roman" panose="02020603050405020304" pitchFamily="18" charset="0"/>
                <a:cs typeface="Times New Roman" panose="02020603050405020304" pitchFamily="18" charset="0"/>
              </a:rPr>
              <a:t> for the user, a </a:t>
            </a:r>
            <a:r>
              <a:rPr lang="en-US" b="1" dirty="0">
                <a:latin typeface="Times New Roman" panose="02020603050405020304" pitchFamily="18" charset="0"/>
                <a:cs typeface="Times New Roman" panose="02020603050405020304" pitchFamily="18" charset="0"/>
              </a:rPr>
              <a:t>trusted Identity Provider (IdP)</a:t>
            </a:r>
            <a:r>
              <a:rPr lang="en-US" dirty="0">
                <a:latin typeface="Times New Roman" panose="02020603050405020304" pitchFamily="18" charset="0"/>
                <a:cs typeface="Times New Roman" panose="02020603050405020304" pitchFamily="18" charset="0"/>
              </a:rPr>
              <a:t> authenticates the user.</a:t>
            </a:r>
          </a:p>
          <a:p>
            <a:r>
              <a:rPr lang="en-US" dirty="0">
                <a:latin typeface="Times New Roman" panose="02020603050405020304" pitchFamily="18" charset="0"/>
                <a:cs typeface="Times New Roman" panose="02020603050405020304" pitchFamily="18" charset="0"/>
              </a:rPr>
              <a:t>The IdP then shares a </a:t>
            </a:r>
            <a:r>
              <a:rPr lang="en-US" b="1" dirty="0">
                <a:latin typeface="Times New Roman" panose="02020603050405020304" pitchFamily="18" charset="0"/>
                <a:cs typeface="Times New Roman" panose="02020603050405020304" pitchFamily="18" charset="0"/>
              </a:rPr>
              <a:t>security token</a:t>
            </a:r>
            <a:r>
              <a:rPr lang="en-US" dirty="0">
                <a:latin typeface="Times New Roman" panose="02020603050405020304" pitchFamily="18" charset="0"/>
                <a:cs typeface="Times New Roman" panose="02020603050405020304" pitchFamily="18" charset="0"/>
              </a:rPr>
              <a:t> (via SAML, OAuth2, or OpenID Connect) with the other application (the </a:t>
            </a:r>
            <a:r>
              <a:rPr lang="en-US" b="1" dirty="0">
                <a:latin typeface="Times New Roman" panose="02020603050405020304" pitchFamily="18" charset="0"/>
                <a:cs typeface="Times New Roman" panose="02020603050405020304" pitchFamily="18" charset="0"/>
              </a:rPr>
              <a:t>Service Provider / Relying Party</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user gains access without logging in again </a:t>
            </a:r>
          </a:p>
          <a:p>
            <a:endParaRPr lang="en-US" dirty="0"/>
          </a:p>
        </p:txBody>
      </p:sp>
    </p:spTree>
    <p:extLst>
      <p:ext uri="{BB962C8B-B14F-4D97-AF65-F5344CB8AC3E}">
        <p14:creationId xmlns:p14="http://schemas.microsoft.com/office/powerpoint/2010/main" val="16170799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E276E-9760-8CDB-16F4-44D31D410E3F}"/>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432DCC2E-4960-C261-B63F-1A570BF1987A}"/>
              </a:ext>
            </a:extLst>
          </p:cNvPr>
          <p:cNvSpPr>
            <a:spLocks noGrp="1"/>
          </p:cNvSpPr>
          <p:nvPr>
            <p:ph type="body" idx="1"/>
          </p:nvPr>
        </p:nvSpPr>
        <p:spPr/>
        <p:txBody>
          <a:bodyPr/>
          <a:lstStyle/>
          <a:p>
            <a:pPr marL="152396" indent="0">
              <a:buNone/>
            </a:pPr>
            <a:r>
              <a:rPr lang="en-US" b="1" dirty="0"/>
              <a:t>Example (Everyday Use Case)</a:t>
            </a:r>
          </a:p>
          <a:p>
            <a:r>
              <a:rPr lang="en-US" dirty="0"/>
              <a:t>You log in to a </a:t>
            </a:r>
            <a:r>
              <a:rPr lang="en-US" b="1" dirty="0"/>
              <a:t>university portal</a:t>
            </a:r>
            <a:r>
              <a:rPr lang="en-US" dirty="0"/>
              <a:t> with your campus credentials.</a:t>
            </a:r>
          </a:p>
          <a:p>
            <a:r>
              <a:rPr lang="en-US" dirty="0"/>
              <a:t>Using the same login, you can access:</a:t>
            </a:r>
          </a:p>
          <a:p>
            <a:pPr lvl="1"/>
            <a:r>
              <a:rPr lang="en-US" dirty="0"/>
              <a:t>Online library (external provider)</a:t>
            </a:r>
          </a:p>
          <a:p>
            <a:pPr lvl="1"/>
            <a:r>
              <a:rPr lang="en-US" dirty="0"/>
              <a:t>Email (Google Workspace / Microsoft 365)</a:t>
            </a:r>
          </a:p>
          <a:p>
            <a:pPr lvl="1"/>
            <a:r>
              <a:rPr lang="en-US" dirty="0"/>
              <a:t>Research databases (Springer, IEEE, etc.)</a:t>
            </a:r>
          </a:p>
          <a:p>
            <a:r>
              <a:rPr lang="en-US" dirty="0"/>
              <a:t>You don’t create separate accounts for each service -----that’s </a:t>
            </a:r>
            <a:r>
              <a:rPr lang="en-US" b="1" dirty="0"/>
              <a:t>federated identity</a:t>
            </a:r>
            <a:r>
              <a:rPr lang="en-US" dirty="0"/>
              <a:t> in action.</a:t>
            </a:r>
          </a:p>
          <a:p>
            <a:endParaRPr lang="en-US" dirty="0"/>
          </a:p>
        </p:txBody>
      </p:sp>
    </p:spTree>
    <p:extLst>
      <p:ext uri="{BB962C8B-B14F-4D97-AF65-F5344CB8AC3E}">
        <p14:creationId xmlns:p14="http://schemas.microsoft.com/office/powerpoint/2010/main" val="31001598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7F41-B4D2-3926-C2E6-D75A520F0B52}"/>
              </a:ext>
            </a:extLst>
          </p:cNvPr>
          <p:cNvSpPr>
            <a:spLocks noGrp="1"/>
          </p:cNvSpPr>
          <p:nvPr>
            <p:ph type="title"/>
          </p:nvPr>
        </p:nvSpPr>
        <p:spPr/>
        <p:txBody>
          <a:bodyPr>
            <a:normAutofit fontScale="90000"/>
          </a:bodyPr>
          <a:lstStyle/>
          <a:p>
            <a:r>
              <a:rPr lang="en-US" b="1" dirty="0"/>
              <a:t>Pros</a:t>
            </a:r>
            <a:br>
              <a:rPr lang="en-US" b="1" dirty="0"/>
            </a:br>
            <a:endParaRPr lang="en-US" dirty="0"/>
          </a:p>
        </p:txBody>
      </p:sp>
      <p:sp>
        <p:nvSpPr>
          <p:cNvPr id="3" name="Text Placeholder 2">
            <a:extLst>
              <a:ext uri="{FF2B5EF4-FFF2-40B4-BE49-F238E27FC236}">
                <a16:creationId xmlns:a16="http://schemas.microsoft.com/office/drawing/2014/main" id="{A4F6E84F-62A7-94C7-E536-4FFB38769B6D}"/>
              </a:ext>
            </a:extLst>
          </p:cNvPr>
          <p:cNvSpPr>
            <a:spLocks noGrp="1"/>
          </p:cNvSpPr>
          <p:nvPr>
            <p:ph type="body" idx="1"/>
          </p:nvPr>
        </p:nvSpPr>
        <p:spPr/>
        <p:txBody>
          <a:bodyPr/>
          <a:lstStyle/>
          <a:p>
            <a:r>
              <a:rPr lang="en-US" b="1" dirty="0"/>
              <a:t>Leverage Existing IAM Investments</a:t>
            </a:r>
            <a:endParaRPr lang="en-US" dirty="0"/>
          </a:p>
          <a:p>
            <a:pPr lvl="1"/>
            <a:r>
              <a:rPr lang="en-US" dirty="0"/>
              <a:t>Extend current IAM infrastructure (e.g., Active Directory, </a:t>
            </a:r>
            <a:r>
              <a:rPr lang="en-US" dirty="0" err="1"/>
              <a:t>OpenSSO</a:t>
            </a:r>
            <a:r>
              <a:rPr lang="en-US" dirty="0"/>
              <a:t>) to the cloud.</a:t>
            </a:r>
          </a:p>
          <a:p>
            <a:r>
              <a:rPr lang="en-US" b="1" dirty="0"/>
              <a:t>Consistent User Experience</a:t>
            </a:r>
            <a:endParaRPr lang="en-US" dirty="0"/>
          </a:p>
          <a:p>
            <a:pPr lvl="1"/>
            <a:r>
              <a:rPr lang="en-US" dirty="0"/>
              <a:t>Enables </a:t>
            </a:r>
            <a:r>
              <a:rPr lang="en-US" b="1" dirty="0"/>
              <a:t>Single Sign-On (SSO)</a:t>
            </a:r>
            <a:r>
              <a:rPr lang="en-US" dirty="0"/>
              <a:t> across on-premises and cloud services.</a:t>
            </a:r>
          </a:p>
          <a:p>
            <a:r>
              <a:rPr lang="en-US" b="1" dirty="0"/>
              <a:t>Centralized Policy Control</a:t>
            </a:r>
            <a:endParaRPr lang="en-US" dirty="0"/>
          </a:p>
          <a:p>
            <a:pPr lvl="1"/>
            <a:r>
              <a:rPr lang="en-US" dirty="0"/>
              <a:t>Organization retains full control of </a:t>
            </a:r>
            <a:r>
              <a:rPr lang="en-US" b="1" dirty="0"/>
              <a:t>authentication rules, credentials, and attributes</a:t>
            </a:r>
            <a:r>
              <a:rPr lang="en-US" dirty="0"/>
              <a:t>.</a:t>
            </a:r>
          </a:p>
          <a:p>
            <a:r>
              <a:rPr lang="en-US" b="1" dirty="0"/>
              <a:t>Stronger Security Posture</a:t>
            </a:r>
            <a:endParaRPr lang="en-US" dirty="0"/>
          </a:p>
          <a:p>
            <a:pPr lvl="1"/>
            <a:r>
              <a:rPr lang="en-US" dirty="0"/>
              <a:t>Authentication does not rely solely on CSP; the IdP enforces the enterprise’s security policies.</a:t>
            </a:r>
          </a:p>
          <a:p>
            <a:r>
              <a:rPr lang="en-US" b="1" dirty="0"/>
              <a:t>Reduced Identity Duplication</a:t>
            </a:r>
            <a:endParaRPr lang="en-US" dirty="0"/>
          </a:p>
          <a:p>
            <a:pPr lvl="1"/>
            <a:r>
              <a:rPr lang="en-US" dirty="0"/>
              <a:t>Avoids storing multiple sets of user credentials with different CSPs.</a:t>
            </a:r>
          </a:p>
          <a:p>
            <a:endParaRPr lang="en-US" dirty="0"/>
          </a:p>
        </p:txBody>
      </p:sp>
    </p:spTree>
    <p:extLst>
      <p:ext uri="{BB962C8B-B14F-4D97-AF65-F5344CB8AC3E}">
        <p14:creationId xmlns:p14="http://schemas.microsoft.com/office/powerpoint/2010/main" val="25766973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73473-3725-307F-DF9D-4C1E67C0392F}"/>
              </a:ext>
            </a:extLst>
          </p:cNvPr>
          <p:cNvSpPr>
            <a:spLocks noGrp="1"/>
          </p:cNvSpPr>
          <p:nvPr>
            <p:ph type="title"/>
          </p:nvPr>
        </p:nvSpPr>
        <p:spPr/>
        <p:txBody>
          <a:bodyPr>
            <a:normAutofit fontScale="90000"/>
          </a:bodyPr>
          <a:lstStyle/>
          <a:p>
            <a:r>
              <a:rPr lang="en-US" b="1" dirty="0"/>
              <a:t>Cons</a:t>
            </a:r>
            <a:br>
              <a:rPr lang="en-US" b="1" dirty="0"/>
            </a:br>
            <a:endParaRPr lang="en-US" dirty="0"/>
          </a:p>
        </p:txBody>
      </p:sp>
      <p:sp>
        <p:nvSpPr>
          <p:cNvPr id="3" name="Text Placeholder 2">
            <a:extLst>
              <a:ext uri="{FF2B5EF4-FFF2-40B4-BE49-F238E27FC236}">
                <a16:creationId xmlns:a16="http://schemas.microsoft.com/office/drawing/2014/main" id="{048C874F-34C7-BBFC-C196-94EC66A4D3BD}"/>
              </a:ext>
            </a:extLst>
          </p:cNvPr>
          <p:cNvSpPr>
            <a:spLocks noGrp="1"/>
          </p:cNvSpPr>
          <p:nvPr>
            <p:ph type="body" idx="1"/>
          </p:nvPr>
        </p:nvSpPr>
        <p:spPr/>
        <p:txBody>
          <a:bodyPr>
            <a:normAutofit/>
          </a:bodyPr>
          <a:lstStyle/>
          <a:p>
            <a:r>
              <a:rPr lang="en-US" b="1" dirty="0"/>
              <a:t>Operational Complexity</a:t>
            </a:r>
            <a:endParaRPr lang="en-US" dirty="0"/>
          </a:p>
          <a:p>
            <a:pPr lvl="1"/>
            <a:r>
              <a:rPr lang="en-US" dirty="0"/>
              <a:t>The organization must maintain and secure the IdP infrastructure (servers, load balancers, replication).</a:t>
            </a:r>
          </a:p>
          <a:p>
            <a:r>
              <a:rPr lang="en-US" b="1" dirty="0"/>
              <a:t>High Availability Requirements</a:t>
            </a:r>
            <a:endParaRPr lang="en-US" dirty="0"/>
          </a:p>
          <a:p>
            <a:pPr lvl="1"/>
            <a:r>
              <a:rPr lang="en-US" dirty="0"/>
              <a:t>IdP becomes a </a:t>
            </a:r>
            <a:r>
              <a:rPr lang="en-US" b="1" dirty="0"/>
              <a:t>single point of failure</a:t>
            </a:r>
            <a:r>
              <a:rPr lang="en-US" dirty="0"/>
              <a:t>; must ensure redundancy and disaster recovery.</a:t>
            </a:r>
          </a:p>
          <a:p>
            <a:r>
              <a:rPr lang="en-US" b="1" dirty="0"/>
              <a:t>Integration Challenges</a:t>
            </a:r>
            <a:endParaRPr lang="en-US" dirty="0"/>
          </a:p>
          <a:p>
            <a:pPr lvl="1"/>
            <a:r>
              <a:rPr lang="en-US" dirty="0"/>
              <a:t>Different CSPs may have </a:t>
            </a:r>
            <a:r>
              <a:rPr lang="en-US" b="1" dirty="0"/>
              <a:t>inconsistent support</a:t>
            </a:r>
            <a:r>
              <a:rPr lang="en-US" dirty="0"/>
              <a:t> for federation standards (e.g., SAML, OIDC).</a:t>
            </a:r>
          </a:p>
          <a:p>
            <a:r>
              <a:rPr lang="en-US" b="1" dirty="0"/>
              <a:t>Cost Overhead</a:t>
            </a:r>
            <a:endParaRPr lang="en-US" dirty="0"/>
          </a:p>
          <a:p>
            <a:pPr lvl="1"/>
            <a:r>
              <a:rPr lang="en-US" dirty="0"/>
              <a:t>Additional infrastructure, licensing, and maintenance increase costs.</a:t>
            </a:r>
          </a:p>
          <a:p>
            <a:r>
              <a:rPr lang="en-US" b="1" dirty="0"/>
              <a:t>Scalability Concerns</a:t>
            </a:r>
            <a:endParaRPr lang="en-US" dirty="0"/>
          </a:p>
          <a:p>
            <a:pPr lvl="1"/>
            <a:r>
              <a:rPr lang="en-US" dirty="0"/>
              <a:t>Supporting multiple CSPs and large-scale user bases requires advanced capacity planning.</a:t>
            </a:r>
          </a:p>
          <a:p>
            <a:endParaRPr lang="en-US" dirty="0"/>
          </a:p>
        </p:txBody>
      </p:sp>
    </p:spTree>
    <p:extLst>
      <p:ext uri="{BB962C8B-B14F-4D97-AF65-F5344CB8AC3E}">
        <p14:creationId xmlns:p14="http://schemas.microsoft.com/office/powerpoint/2010/main" val="20559265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EB12-06A4-94F9-5842-6BE586B13B9B}"/>
              </a:ext>
            </a:extLst>
          </p:cNvPr>
          <p:cNvSpPr>
            <a:spLocks noGrp="1"/>
          </p:cNvSpPr>
          <p:nvPr>
            <p:ph type="title"/>
          </p:nvPr>
        </p:nvSpPr>
        <p:spPr>
          <a:xfrm>
            <a:off x="415600" y="184567"/>
            <a:ext cx="11360800" cy="817600"/>
          </a:xfrm>
        </p:spPr>
        <p:txBody>
          <a:bodyPr>
            <a:normAutofit/>
          </a:bodyPr>
          <a:lstStyle/>
          <a:p>
            <a:r>
              <a:rPr lang="en-US" i="1" dirty="0"/>
              <a:t>Identity provider deployment architecture</a:t>
            </a:r>
            <a:endParaRPr lang="en-US" dirty="0"/>
          </a:p>
        </p:txBody>
      </p:sp>
      <p:sp>
        <p:nvSpPr>
          <p:cNvPr id="3" name="Text Placeholder 2">
            <a:extLst>
              <a:ext uri="{FF2B5EF4-FFF2-40B4-BE49-F238E27FC236}">
                <a16:creationId xmlns:a16="http://schemas.microsoft.com/office/drawing/2014/main" id="{B88A2A33-CB50-D075-1EDA-55E7B7ADF3F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0BFC47EC-2B1B-9A8F-1FA9-F00CA7EA104E}"/>
              </a:ext>
            </a:extLst>
          </p:cNvPr>
          <p:cNvPicPr>
            <a:picLocks noChangeAspect="1"/>
          </p:cNvPicPr>
          <p:nvPr/>
        </p:nvPicPr>
        <p:blipFill>
          <a:blip r:embed="rId2"/>
          <a:stretch>
            <a:fillRect/>
          </a:stretch>
        </p:blipFill>
        <p:spPr>
          <a:xfrm>
            <a:off x="1921790" y="1002168"/>
            <a:ext cx="6654293" cy="4919729"/>
          </a:xfrm>
          <a:prstGeom prst="rect">
            <a:avLst/>
          </a:prstGeom>
        </p:spPr>
      </p:pic>
    </p:spTree>
    <p:extLst>
      <p:ext uri="{BB962C8B-B14F-4D97-AF65-F5344CB8AC3E}">
        <p14:creationId xmlns:p14="http://schemas.microsoft.com/office/powerpoint/2010/main" val="22075806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A64FD-60E4-16FD-9497-F5C308A74D82}"/>
              </a:ext>
            </a:extLst>
          </p:cNvPr>
          <p:cNvSpPr>
            <a:spLocks noGrp="1"/>
          </p:cNvSpPr>
          <p:nvPr>
            <p:ph type="title"/>
          </p:nvPr>
        </p:nvSpPr>
        <p:spPr/>
        <p:txBody>
          <a:bodyPr>
            <a:normAutofit/>
          </a:bodyPr>
          <a:lstStyle/>
          <a:p>
            <a:r>
              <a:rPr lang="en-US" dirty="0"/>
              <a:t>Note </a:t>
            </a:r>
          </a:p>
        </p:txBody>
      </p:sp>
      <p:sp>
        <p:nvSpPr>
          <p:cNvPr id="3" name="Text Placeholder 2">
            <a:extLst>
              <a:ext uri="{FF2B5EF4-FFF2-40B4-BE49-F238E27FC236}">
                <a16:creationId xmlns:a16="http://schemas.microsoft.com/office/drawing/2014/main" id="{FD560C24-53CA-F9E6-87B0-8CDBA1EB4EE2}"/>
              </a:ext>
            </a:extLst>
          </p:cNvPr>
          <p:cNvSpPr>
            <a:spLocks noGrp="1"/>
          </p:cNvSpPr>
          <p:nvPr>
            <p:ph type="body" idx="1"/>
          </p:nvPr>
        </p:nvSpPr>
        <p:spPr/>
        <p:txBody>
          <a:bodyPr/>
          <a:lstStyle/>
          <a:p>
            <a:r>
              <a:rPr lang="en-US" dirty="0"/>
              <a:t>Provides </a:t>
            </a:r>
            <a:r>
              <a:rPr lang="en-US" b="1" dirty="0"/>
              <a:t>federated authentication-----</a:t>
            </a:r>
            <a:r>
              <a:rPr lang="en-US" dirty="0"/>
              <a:t>one identity, multiple cloud services.</a:t>
            </a:r>
          </a:p>
          <a:p>
            <a:r>
              <a:rPr lang="en-US" dirty="0"/>
              <a:t>Ensures </a:t>
            </a:r>
            <a:r>
              <a:rPr lang="en-US" b="1" dirty="0"/>
              <a:t>high availability</a:t>
            </a:r>
            <a:r>
              <a:rPr lang="en-US" dirty="0"/>
              <a:t> using load balancers and replication.</a:t>
            </a:r>
          </a:p>
          <a:p>
            <a:r>
              <a:rPr lang="en-US" dirty="0"/>
              <a:t>Enterprise maintains </a:t>
            </a:r>
            <a:r>
              <a:rPr lang="en-US" b="1" dirty="0"/>
              <a:t>full control</a:t>
            </a:r>
            <a:r>
              <a:rPr lang="en-US" dirty="0"/>
              <a:t> over identities, policies, and credentials.</a:t>
            </a:r>
          </a:p>
          <a:p>
            <a:endParaRPr lang="en-US" dirty="0"/>
          </a:p>
        </p:txBody>
      </p:sp>
    </p:spTree>
    <p:extLst>
      <p:ext uri="{BB962C8B-B14F-4D97-AF65-F5344CB8AC3E}">
        <p14:creationId xmlns:p14="http://schemas.microsoft.com/office/powerpoint/2010/main" val="18174470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D00568-25DA-454C-E9BD-97357F66FE38}"/>
              </a:ext>
            </a:extLst>
          </p:cNvPr>
          <p:cNvSpPr>
            <a:spLocks noGrp="1"/>
          </p:cNvSpPr>
          <p:nvPr>
            <p:ph type="body" idx="1"/>
          </p:nvPr>
        </p:nvSpPr>
        <p:spPr>
          <a:xfrm>
            <a:off x="415600" y="361627"/>
            <a:ext cx="11360800" cy="5730107"/>
          </a:xfrm>
        </p:spPr>
        <p:txBody>
          <a:bodyPr/>
          <a:lstStyle/>
          <a:p>
            <a:pPr marL="152396" indent="0">
              <a:buNone/>
            </a:pPr>
            <a:r>
              <a:rPr lang="en-US" b="1" dirty="0">
                <a:latin typeface="Times New Roman" panose="02020603050405020304" pitchFamily="18" charset="0"/>
                <a:cs typeface="Times New Roman" panose="02020603050405020304" pitchFamily="18" charset="0"/>
              </a:rPr>
              <a:t>1. Identity Provider (IdP) and Cloud Service Provider (CSP)</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IdP application</a:t>
            </a:r>
            <a:r>
              <a:rPr lang="en-US" dirty="0">
                <a:latin typeface="Times New Roman" panose="02020603050405020304" pitchFamily="18" charset="0"/>
                <a:cs typeface="Times New Roman" panose="02020603050405020304" pitchFamily="18" charset="0"/>
              </a:rPr>
              <a:t> (on the left) is the enterprise-controlled identity system (e.g., </a:t>
            </a:r>
            <a:r>
              <a:rPr lang="en-US" dirty="0" err="1">
                <a:latin typeface="Times New Roman" panose="02020603050405020304" pitchFamily="18" charset="0"/>
                <a:cs typeface="Times New Roman" panose="02020603050405020304" pitchFamily="18" charset="0"/>
              </a:rPr>
              <a:t>OpenSSO</a:t>
            </a:r>
            <a:r>
              <a:rPr lang="en-US" dirty="0">
                <a:latin typeface="Times New Roman" panose="02020603050405020304" pitchFamily="18" charset="0"/>
                <a:cs typeface="Times New Roman" panose="02020603050405020304" pitchFamily="18" charset="0"/>
              </a:rPr>
              <a:t>, Active Directory Federation Services).</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CSP</a:t>
            </a:r>
            <a:r>
              <a:rPr lang="en-US" dirty="0">
                <a:latin typeface="Times New Roman" panose="02020603050405020304" pitchFamily="18" charset="0"/>
                <a:cs typeface="Times New Roman" panose="02020603050405020304" pitchFamily="18" charset="0"/>
              </a:rPr>
              <a:t> (on the right) is the cloud service (e.g., Salesforce, AWS, Office 365).</a:t>
            </a:r>
          </a:p>
          <a:p>
            <a:r>
              <a:rPr lang="en-US" dirty="0">
                <a:latin typeface="Times New Roman" panose="02020603050405020304" pitchFamily="18" charset="0"/>
                <a:cs typeface="Times New Roman" panose="02020603050405020304" pitchFamily="18" charset="0"/>
              </a:rPr>
              <a:t>Authentication requests from the CSP are </a:t>
            </a:r>
            <a:r>
              <a:rPr lang="en-US" b="1" dirty="0">
                <a:latin typeface="Times New Roman" panose="02020603050405020304" pitchFamily="18" charset="0"/>
                <a:cs typeface="Times New Roman" panose="02020603050405020304" pitchFamily="18" charset="0"/>
              </a:rPr>
              <a:t>delegated to the IdP</a:t>
            </a:r>
            <a:r>
              <a:rPr lang="en-US" dirty="0">
                <a:latin typeface="Times New Roman" panose="02020603050405020304" pitchFamily="18" charset="0"/>
                <a:cs typeface="Times New Roman" panose="02020603050405020304" pitchFamily="18" charset="0"/>
              </a:rPr>
              <a:t>.</a:t>
            </a:r>
          </a:p>
          <a:p>
            <a:pPr marL="152396" indent="0">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152396" indent="0">
              <a:buNone/>
            </a:pPr>
            <a:r>
              <a:rPr lang="en-US" b="1" dirty="0">
                <a:latin typeface="Times New Roman" panose="02020603050405020304" pitchFamily="18" charset="0"/>
                <a:cs typeface="Times New Roman" panose="02020603050405020304" pitchFamily="18" charset="0"/>
              </a:rPr>
              <a:t>2. Secure Attribute Exchange &amp; Federation (SAMLv2)</a:t>
            </a:r>
          </a:p>
          <a:p>
            <a:r>
              <a:rPr lang="en-US" dirty="0">
                <a:latin typeface="Times New Roman" panose="02020603050405020304" pitchFamily="18" charset="0"/>
                <a:cs typeface="Times New Roman" panose="02020603050405020304" pitchFamily="18" charset="0"/>
              </a:rPr>
              <a:t>The IdP and CSP communicate using </a:t>
            </a:r>
            <a:r>
              <a:rPr lang="en-US" b="1" dirty="0">
                <a:latin typeface="Times New Roman" panose="02020603050405020304" pitchFamily="18" charset="0"/>
                <a:cs typeface="Times New Roman" panose="02020603050405020304" pitchFamily="18" charset="0"/>
              </a:rPr>
              <a:t>federation protocols</a:t>
            </a:r>
            <a:r>
              <a:rPr lang="en-US" dirty="0">
                <a:latin typeface="Times New Roman" panose="02020603050405020304" pitchFamily="18" charset="0"/>
                <a:cs typeface="Times New Roman" panose="02020603050405020304" pitchFamily="18" charset="0"/>
              </a:rPr>
              <a:t> like </a:t>
            </a:r>
            <a:r>
              <a:rPr lang="en-US" b="1" dirty="0">
                <a:latin typeface="Times New Roman" panose="02020603050405020304" pitchFamily="18" charset="0"/>
                <a:cs typeface="Times New Roman" panose="02020603050405020304" pitchFamily="18" charset="0"/>
              </a:rPr>
              <a:t>SAMLv2</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User attributes (identity info, permissions, roles) are securely exchanged.</a:t>
            </a:r>
          </a:p>
          <a:p>
            <a:r>
              <a:rPr lang="en-US" dirty="0">
                <a:latin typeface="Times New Roman" panose="02020603050405020304" pitchFamily="18" charset="0"/>
                <a:cs typeface="Times New Roman" panose="02020603050405020304" pitchFamily="18" charset="0"/>
              </a:rPr>
              <a:t>This enables </a:t>
            </a:r>
            <a:r>
              <a:rPr lang="en-US" b="1" dirty="0">
                <a:latin typeface="Times New Roman" panose="02020603050405020304" pitchFamily="18" charset="0"/>
                <a:cs typeface="Times New Roman" panose="02020603050405020304" pitchFamily="18" charset="0"/>
              </a:rPr>
              <a:t>Single Sign-On (SSO)</a:t>
            </a:r>
            <a:r>
              <a:rPr lang="en-US" dirty="0">
                <a:latin typeface="Times New Roman" panose="02020603050405020304" pitchFamily="18" charset="0"/>
                <a:cs typeface="Times New Roman" panose="02020603050405020304" pitchFamily="18" charset="0"/>
              </a:rPr>
              <a:t> for users.</a:t>
            </a:r>
          </a:p>
          <a:p>
            <a:endParaRPr lang="en-US" dirty="0"/>
          </a:p>
        </p:txBody>
      </p:sp>
    </p:spTree>
    <p:extLst>
      <p:ext uri="{BB962C8B-B14F-4D97-AF65-F5344CB8AC3E}">
        <p14:creationId xmlns:p14="http://schemas.microsoft.com/office/powerpoint/2010/main" val="2224073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6EB9C2-5513-CFAD-BA70-15E1EE3358E0}"/>
              </a:ext>
            </a:extLst>
          </p:cNvPr>
          <p:cNvSpPr>
            <a:spLocks noGrp="1"/>
          </p:cNvSpPr>
          <p:nvPr>
            <p:ph type="body" idx="1"/>
          </p:nvPr>
        </p:nvSpPr>
        <p:spPr>
          <a:xfrm>
            <a:off x="415600" y="299634"/>
            <a:ext cx="11360800" cy="5792100"/>
          </a:xfrm>
        </p:spPr>
        <p:txBody>
          <a:bodyPr/>
          <a:lstStyle/>
          <a:p>
            <a:pPr marL="152396" indent="0">
              <a:buNone/>
            </a:pPr>
            <a:r>
              <a:rPr lang="en-US" b="1" dirty="0"/>
              <a:t>3. </a:t>
            </a:r>
            <a:r>
              <a:rPr lang="en-US" b="1" dirty="0">
                <a:latin typeface="Times New Roman" panose="02020603050405020304" pitchFamily="18" charset="0"/>
                <a:cs typeface="Times New Roman" panose="02020603050405020304" pitchFamily="18" charset="0"/>
              </a:rPr>
              <a:t>Load Balancer 2</a:t>
            </a:r>
          </a:p>
          <a:p>
            <a:r>
              <a:rPr lang="en-US" dirty="0">
                <a:latin typeface="Times New Roman" panose="02020603050405020304" pitchFamily="18" charset="0"/>
                <a:cs typeface="Times New Roman" panose="02020603050405020304" pitchFamily="18" charset="0"/>
              </a:rPr>
              <a:t>Between the Internet and the IdP servers, a </a:t>
            </a:r>
            <a:r>
              <a:rPr lang="en-US" b="1" dirty="0">
                <a:latin typeface="Times New Roman" panose="02020603050405020304" pitchFamily="18" charset="0"/>
                <a:cs typeface="Times New Roman" panose="02020603050405020304" pitchFamily="18" charset="0"/>
              </a:rPr>
              <a:t>load balancer</a:t>
            </a:r>
            <a:r>
              <a:rPr lang="en-US" dirty="0">
                <a:latin typeface="Times New Roman" panose="02020603050405020304" pitchFamily="18" charset="0"/>
                <a:cs typeface="Times New Roman" panose="02020603050405020304" pitchFamily="18" charset="0"/>
              </a:rPr>
              <a:t> ensures high availability and distributes authentication requests.</a:t>
            </a:r>
          </a:p>
          <a:p>
            <a:r>
              <a:rPr lang="en-US" dirty="0">
                <a:latin typeface="Times New Roman" panose="02020603050405020304" pitchFamily="18" charset="0"/>
                <a:cs typeface="Times New Roman" panose="02020603050405020304" pitchFamily="18" charset="0"/>
              </a:rPr>
              <a:t>If one server fails, requests are automatically routed to another.</a:t>
            </a:r>
          </a:p>
          <a:p>
            <a:pPr marL="152396" indent="0">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152396" indent="0">
              <a:buNone/>
            </a:pPr>
            <a:r>
              <a:rPr lang="en-US" b="1" dirty="0">
                <a:latin typeface="Times New Roman" panose="02020603050405020304" pitchFamily="18" charset="0"/>
                <a:cs typeface="Times New Roman" panose="02020603050405020304" pitchFamily="18" charset="0"/>
              </a:rPr>
              <a:t>4. </a:t>
            </a:r>
            <a:r>
              <a:rPr lang="en-US" b="1" dirty="0" err="1">
                <a:latin typeface="Times New Roman" panose="02020603050405020304" pitchFamily="18" charset="0"/>
                <a:cs typeface="Times New Roman" panose="02020603050405020304" pitchFamily="18" charset="0"/>
              </a:rPr>
              <a:t>OpenSSO</a:t>
            </a:r>
            <a:r>
              <a:rPr lang="en-US" b="1" dirty="0">
                <a:latin typeface="Times New Roman" panose="02020603050405020304" pitchFamily="18" charset="0"/>
                <a:cs typeface="Times New Roman" panose="02020603050405020304" pitchFamily="18" charset="0"/>
              </a:rPr>
              <a:t> Enterprise Servers</a:t>
            </a:r>
          </a:p>
          <a:p>
            <a:r>
              <a:rPr lang="en-US" dirty="0">
                <a:latin typeface="Times New Roman" panose="02020603050405020304" pitchFamily="18" charset="0"/>
                <a:cs typeface="Times New Roman" panose="02020603050405020304" pitchFamily="18" charset="0"/>
              </a:rPr>
              <a:t>Two </a:t>
            </a:r>
            <a:r>
              <a:rPr lang="en-US" b="1" dirty="0" err="1">
                <a:latin typeface="Times New Roman" panose="02020603050405020304" pitchFamily="18" charset="0"/>
                <a:cs typeface="Times New Roman" panose="02020603050405020304" pitchFamily="18" charset="0"/>
              </a:rPr>
              <a:t>OpenSSO</a:t>
            </a:r>
            <a:r>
              <a:rPr lang="en-US" b="1" dirty="0">
                <a:latin typeface="Times New Roman" panose="02020603050405020304" pitchFamily="18" charset="0"/>
                <a:cs typeface="Times New Roman" panose="02020603050405020304" pitchFamily="18" charset="0"/>
              </a:rPr>
              <a:t> enterprise servers</a:t>
            </a:r>
            <a:r>
              <a:rPr lang="en-US" dirty="0">
                <a:latin typeface="Times New Roman" panose="02020603050405020304" pitchFamily="18" charset="0"/>
                <a:cs typeface="Times New Roman" panose="02020603050405020304" pitchFamily="18" charset="0"/>
              </a:rPr>
              <a:t> handle authentication and authorization.</a:t>
            </a:r>
          </a:p>
          <a:p>
            <a:r>
              <a:rPr lang="en-US" dirty="0">
                <a:latin typeface="Times New Roman" panose="02020603050405020304" pitchFamily="18" charset="0"/>
                <a:cs typeface="Times New Roman" panose="02020603050405020304" pitchFamily="18" charset="0"/>
              </a:rPr>
              <a:t>They </a:t>
            </a:r>
            <a:r>
              <a:rPr lang="en-US" b="1" dirty="0">
                <a:latin typeface="Times New Roman" panose="02020603050405020304" pitchFamily="18" charset="0"/>
                <a:cs typeface="Times New Roman" panose="02020603050405020304" pitchFamily="18" charset="0"/>
              </a:rPr>
              <a:t>replicate configuration data</a:t>
            </a:r>
            <a:r>
              <a:rPr lang="en-US" dirty="0">
                <a:latin typeface="Times New Roman" panose="02020603050405020304" pitchFamily="18" charset="0"/>
                <a:cs typeface="Times New Roman" panose="02020603050405020304" pitchFamily="18" charset="0"/>
              </a:rPr>
              <a:t> between them for consistency (so policies, rules, and settings are always synchronized).</a:t>
            </a:r>
          </a:p>
          <a:p>
            <a:endParaRPr lang="en-US" dirty="0"/>
          </a:p>
        </p:txBody>
      </p:sp>
    </p:spTree>
    <p:extLst>
      <p:ext uri="{BB962C8B-B14F-4D97-AF65-F5344CB8AC3E}">
        <p14:creationId xmlns:p14="http://schemas.microsoft.com/office/powerpoint/2010/main" val="1117091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648F-A6F4-653D-A112-77F75BFAAD96}"/>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D1F3E731-C278-87AD-D7E7-72F80C30B736}"/>
              </a:ext>
            </a:extLst>
          </p:cNvPr>
          <p:cNvSpPr>
            <a:spLocks noGrp="1"/>
          </p:cNvSpPr>
          <p:nvPr>
            <p:ph type="body" idx="1"/>
          </p:nvPr>
        </p:nvSpPr>
        <p:spPr/>
        <p:txBody>
          <a:bodyPr/>
          <a:lstStyle/>
          <a:p>
            <a:pPr marL="152396" indent="0">
              <a:buNone/>
            </a:pPr>
            <a:r>
              <a:rPr lang="en-US" b="1" dirty="0">
                <a:latin typeface="Times New Roman" panose="02020603050405020304" pitchFamily="18" charset="0"/>
                <a:cs typeface="Times New Roman" panose="02020603050405020304" pitchFamily="18" charset="0"/>
              </a:rPr>
              <a:t>How it Works – Flow</a:t>
            </a:r>
          </a:p>
          <a:p>
            <a:r>
              <a:rPr lang="en-US" dirty="0">
                <a:latin typeface="Times New Roman" panose="02020603050405020304" pitchFamily="18" charset="0"/>
                <a:cs typeface="Times New Roman" panose="02020603050405020304" pitchFamily="18" charset="0"/>
              </a:rPr>
              <a:t>A user tries to access a </a:t>
            </a:r>
            <a:r>
              <a:rPr lang="en-US" b="1" dirty="0">
                <a:latin typeface="Times New Roman" panose="02020603050405020304" pitchFamily="18" charset="0"/>
                <a:cs typeface="Times New Roman" panose="02020603050405020304" pitchFamily="18" charset="0"/>
              </a:rPr>
              <a:t>CSP service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CSP redirects the request to the </a:t>
            </a:r>
            <a:r>
              <a:rPr lang="en-US" b="1" dirty="0">
                <a:latin typeface="Times New Roman" panose="02020603050405020304" pitchFamily="18" charset="0"/>
                <a:cs typeface="Times New Roman" panose="02020603050405020304" pitchFamily="18" charset="0"/>
              </a:rPr>
              <a:t>IdP</a:t>
            </a:r>
            <a:r>
              <a:rPr lang="en-US" dirty="0">
                <a:latin typeface="Times New Roman" panose="02020603050405020304" pitchFamily="18" charset="0"/>
                <a:cs typeface="Times New Roman" panose="02020603050405020304" pitchFamily="18" charset="0"/>
              </a:rPr>
              <a:t> using SAMLv2.</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IdP authenticates</a:t>
            </a:r>
            <a:r>
              <a:rPr lang="en-US" dirty="0">
                <a:latin typeface="Times New Roman" panose="02020603050405020304" pitchFamily="18" charset="0"/>
                <a:cs typeface="Times New Roman" panose="02020603050405020304" pitchFamily="18" charset="0"/>
              </a:rPr>
              <a:t> the user using its </a:t>
            </a:r>
            <a:r>
              <a:rPr lang="en-US" b="1" dirty="0">
                <a:latin typeface="Times New Roman" panose="02020603050405020304" pitchFamily="18" charset="0"/>
                <a:cs typeface="Times New Roman" panose="02020603050405020304" pitchFamily="18" charset="0"/>
              </a:rPr>
              <a:t>directory servers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If successful, the IdP sends a </a:t>
            </a:r>
            <a:r>
              <a:rPr lang="en-US" b="1" dirty="0">
                <a:latin typeface="Times New Roman" panose="02020603050405020304" pitchFamily="18" charset="0"/>
                <a:cs typeface="Times New Roman" panose="02020603050405020304" pitchFamily="18" charset="0"/>
              </a:rPr>
              <a:t>token/assertion</a:t>
            </a:r>
            <a:r>
              <a:rPr lang="en-US" dirty="0">
                <a:latin typeface="Times New Roman" panose="02020603050405020304" pitchFamily="18" charset="0"/>
                <a:cs typeface="Times New Roman" panose="02020603050405020304" pitchFamily="18" charset="0"/>
              </a:rPr>
              <a:t> back to the CSP.</a:t>
            </a:r>
          </a:p>
          <a:p>
            <a:r>
              <a:rPr lang="en-US" dirty="0">
                <a:latin typeface="Times New Roman" panose="02020603050405020304" pitchFamily="18" charset="0"/>
                <a:cs typeface="Times New Roman" panose="02020603050405020304" pitchFamily="18" charset="0"/>
              </a:rPr>
              <a:t>The CSP grants access to the cloud service — without needing a separate CSP password.</a:t>
            </a:r>
          </a:p>
          <a:p>
            <a:endParaRPr lang="en-US" dirty="0"/>
          </a:p>
        </p:txBody>
      </p:sp>
    </p:spTree>
    <p:extLst>
      <p:ext uri="{BB962C8B-B14F-4D97-AF65-F5344CB8AC3E}">
        <p14:creationId xmlns:p14="http://schemas.microsoft.com/office/powerpoint/2010/main" val="36114876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695C6-1DEE-D808-7781-A7ADCB47C134}"/>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D4A193F1-B19E-726A-5930-F9B741ABB5CC}"/>
              </a:ext>
            </a:extLst>
          </p:cNvPr>
          <p:cNvSpPr>
            <a:spLocks noGrp="1"/>
          </p:cNvSpPr>
          <p:nvPr>
            <p:ph type="body" idx="1"/>
          </p:nvPr>
        </p:nvSpPr>
        <p:spPr/>
        <p:txBody>
          <a:bodyPr>
            <a:normAutofit/>
          </a:bodyPr>
          <a:lstStyle/>
          <a:p>
            <a:pPr marL="152396" indent="0">
              <a:buNone/>
            </a:pPr>
            <a:r>
              <a:rPr lang="en-US" b="1" dirty="0">
                <a:latin typeface="Times New Roman" panose="02020603050405020304" pitchFamily="18" charset="0"/>
                <a:cs typeface="Times New Roman" panose="02020603050405020304" pitchFamily="18" charset="0"/>
              </a:rPr>
              <a:t>5. Load Balancer 1</a:t>
            </a:r>
          </a:p>
          <a:p>
            <a:r>
              <a:rPr lang="en-US" dirty="0">
                <a:latin typeface="Times New Roman" panose="02020603050405020304" pitchFamily="18" charset="0"/>
                <a:cs typeface="Times New Roman" panose="02020603050405020304" pitchFamily="18" charset="0"/>
              </a:rPr>
              <a:t>A second </a:t>
            </a:r>
            <a:r>
              <a:rPr lang="en-US" b="1" dirty="0">
                <a:latin typeface="Times New Roman" panose="02020603050405020304" pitchFamily="18" charset="0"/>
                <a:cs typeface="Times New Roman" panose="02020603050405020304" pitchFamily="18" charset="0"/>
              </a:rPr>
              <a:t>load balancer</a:t>
            </a:r>
            <a:r>
              <a:rPr lang="en-US" dirty="0">
                <a:latin typeface="Times New Roman" panose="02020603050405020304" pitchFamily="18" charset="0"/>
                <a:cs typeface="Times New Roman" panose="02020603050405020304" pitchFamily="18" charset="0"/>
              </a:rPr>
              <a:t> manages traffic to the backend </a:t>
            </a:r>
            <a:r>
              <a:rPr lang="en-US" b="1" dirty="0">
                <a:latin typeface="Times New Roman" panose="02020603050405020304" pitchFamily="18" charset="0"/>
                <a:cs typeface="Times New Roman" panose="02020603050405020304" pitchFamily="18" charset="0"/>
              </a:rPr>
              <a:t>directory servers</a:t>
            </a:r>
            <a:r>
              <a:rPr lang="en-US" dirty="0">
                <a:latin typeface="Times New Roman" panose="02020603050405020304" pitchFamily="18" charset="0"/>
                <a:cs typeface="Times New Roman" panose="02020603050405020304" pitchFamily="18" charset="0"/>
              </a:rPr>
              <a:t> (user databases).</a:t>
            </a:r>
          </a:p>
          <a:p>
            <a:r>
              <a:rPr lang="en-US" dirty="0">
                <a:latin typeface="Times New Roman" panose="02020603050405020304" pitchFamily="18" charset="0"/>
                <a:cs typeface="Times New Roman" panose="02020603050405020304" pitchFamily="18" charset="0"/>
              </a:rPr>
              <a:t>Ensures requests are distributed evenly and avoids bottlenecks.</a:t>
            </a:r>
          </a:p>
          <a:p>
            <a:pPr marL="152396" indent="0">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152396" indent="0">
              <a:buNone/>
            </a:pPr>
            <a:r>
              <a:rPr lang="en-US" b="1" dirty="0">
                <a:latin typeface="Times New Roman" panose="02020603050405020304" pitchFamily="18" charset="0"/>
                <a:cs typeface="Times New Roman" panose="02020603050405020304" pitchFamily="18" charset="0"/>
              </a:rPr>
              <a:t>6. Directory Servers</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Directory Servers (1 &amp; 2)</a:t>
            </a:r>
            <a:r>
              <a:rPr lang="en-US" dirty="0">
                <a:latin typeface="Times New Roman" panose="02020603050405020304" pitchFamily="18" charset="0"/>
                <a:cs typeface="Times New Roman" panose="02020603050405020304" pitchFamily="18" charset="0"/>
              </a:rPr>
              <a:t> store </a:t>
            </a:r>
            <a:r>
              <a:rPr lang="en-US" b="1" dirty="0">
                <a:latin typeface="Times New Roman" panose="02020603050405020304" pitchFamily="18" charset="0"/>
                <a:cs typeface="Times New Roman" panose="02020603050405020304" pitchFamily="18" charset="0"/>
              </a:rPr>
              <a:t>user data</a:t>
            </a:r>
            <a:r>
              <a:rPr lang="en-US" dirty="0">
                <a:latin typeface="Times New Roman" panose="02020603050405020304" pitchFamily="18" charset="0"/>
                <a:cs typeface="Times New Roman" panose="02020603050405020304" pitchFamily="18" charset="0"/>
              </a:rPr>
              <a:t> (credentials, attributes, roles, policies).</a:t>
            </a:r>
          </a:p>
          <a:p>
            <a:r>
              <a:rPr lang="en-US" dirty="0">
                <a:latin typeface="Times New Roman" panose="02020603050405020304" pitchFamily="18" charset="0"/>
                <a:cs typeface="Times New Roman" panose="02020603050405020304" pitchFamily="18" charset="0"/>
              </a:rPr>
              <a:t>They perform </a:t>
            </a:r>
            <a:r>
              <a:rPr lang="en-US" b="1" dirty="0" err="1">
                <a:latin typeface="Times New Roman" panose="02020603050405020304" pitchFamily="18" charset="0"/>
                <a:cs typeface="Times New Roman" panose="02020603050405020304" pitchFamily="18" charset="0"/>
              </a:rPr>
              <a:t>multimaster</a:t>
            </a:r>
            <a:r>
              <a:rPr lang="en-US" b="1" dirty="0">
                <a:latin typeface="Times New Roman" panose="02020603050405020304" pitchFamily="18" charset="0"/>
                <a:cs typeface="Times New Roman" panose="02020603050405020304" pitchFamily="18" charset="0"/>
              </a:rPr>
              <a:t> replication</a:t>
            </a:r>
            <a:r>
              <a:rPr lang="en-US" dirty="0">
                <a:latin typeface="Times New Roman" panose="02020603050405020304" pitchFamily="18" charset="0"/>
                <a:cs typeface="Times New Roman" panose="02020603050405020304" pitchFamily="18" charset="0"/>
              </a:rPr>
              <a:t>, meaning updates in one directory automatically replicate to the other.</a:t>
            </a:r>
          </a:p>
          <a:p>
            <a:r>
              <a:rPr lang="en-US" dirty="0">
                <a:latin typeface="Times New Roman" panose="02020603050405020304" pitchFamily="18" charset="0"/>
                <a:cs typeface="Times New Roman" panose="02020603050405020304" pitchFamily="18" charset="0"/>
              </a:rPr>
              <a:t>This ensures </a:t>
            </a:r>
            <a:r>
              <a:rPr lang="en-US" b="1" dirty="0">
                <a:latin typeface="Times New Roman" panose="02020603050405020304" pitchFamily="18" charset="0"/>
                <a:cs typeface="Times New Roman" panose="02020603050405020304" pitchFamily="18" charset="0"/>
              </a:rPr>
              <a:t>data redundancy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real-time synchronization</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485406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3477B-6CE7-E734-5502-6EBF28C12F0B}"/>
              </a:ext>
            </a:extLst>
          </p:cNvPr>
          <p:cNvSpPr>
            <a:spLocks noGrp="1"/>
          </p:cNvSpPr>
          <p:nvPr>
            <p:ph type="title"/>
          </p:nvPr>
        </p:nvSpPr>
        <p:spPr/>
        <p:txBody>
          <a:bodyPr>
            <a:noAutofit/>
          </a:bodyPr>
          <a:lstStyle/>
          <a:p>
            <a:r>
              <a:rPr lang="en-US" sz="3200" b="1" dirty="0"/>
              <a:t>Identity Management as a Service (</a:t>
            </a:r>
            <a:r>
              <a:rPr lang="en-US" sz="3200" b="1" dirty="0" err="1"/>
              <a:t>IDaaS</a:t>
            </a:r>
            <a:r>
              <a:rPr lang="en-US" sz="3200" b="1" dirty="0"/>
              <a:t>) Architecture</a:t>
            </a:r>
          </a:p>
        </p:txBody>
      </p:sp>
      <p:sp>
        <p:nvSpPr>
          <p:cNvPr id="3" name="Text Placeholder 2">
            <a:extLst>
              <a:ext uri="{FF2B5EF4-FFF2-40B4-BE49-F238E27FC236}">
                <a16:creationId xmlns:a16="http://schemas.microsoft.com/office/drawing/2014/main" id="{684DE716-5789-D61A-69DA-019EB229B392}"/>
              </a:ext>
            </a:extLst>
          </p:cNvPr>
          <p:cNvSpPr>
            <a:spLocks noGrp="1"/>
          </p:cNvSpPr>
          <p:nvPr>
            <p:ph type="body" idx="1"/>
          </p:nvPr>
        </p:nvSpPr>
        <p:spPr/>
        <p:txBody>
          <a:bodyPr/>
          <a:lstStyle/>
          <a:p>
            <a:pPr algn="just">
              <a:lnSpc>
                <a:spcPct val="200000"/>
              </a:lnSpc>
            </a:pPr>
            <a:r>
              <a:rPr lang="en-US" dirty="0">
                <a:latin typeface="Times New Roman" panose="02020603050405020304" pitchFamily="18" charset="0"/>
                <a:cs typeface="Times New Roman" panose="02020603050405020304" pitchFamily="18" charset="0"/>
              </a:rPr>
              <a:t>Cloud services can </a:t>
            </a:r>
            <a:r>
              <a:rPr lang="en-US" b="1" dirty="0">
                <a:latin typeface="Times New Roman" panose="02020603050405020304" pitchFamily="18" charset="0"/>
                <a:cs typeface="Times New Roman" panose="02020603050405020304" pitchFamily="18" charset="0"/>
              </a:rPr>
              <a:t>delegate authentication</a:t>
            </a:r>
            <a:r>
              <a:rPr lang="en-US" dirty="0">
                <a:latin typeface="Times New Roman" panose="02020603050405020304" pitchFamily="18" charset="0"/>
                <a:cs typeface="Times New Roman" panose="02020603050405020304" pitchFamily="18" charset="0"/>
              </a:rPr>
              <a:t> to a </a:t>
            </a:r>
            <a:r>
              <a:rPr lang="en-US" b="1" dirty="0">
                <a:latin typeface="Times New Roman" panose="02020603050405020304" pitchFamily="18" charset="0"/>
                <a:cs typeface="Times New Roman" panose="02020603050405020304" pitchFamily="18" charset="0"/>
              </a:rPr>
              <a:t>cloud-based IdP (</a:t>
            </a:r>
            <a:r>
              <a:rPr lang="en-US" b="1" dirty="0" err="1">
                <a:latin typeface="Times New Roman" panose="02020603050405020304" pitchFamily="18" charset="0"/>
                <a:cs typeface="Times New Roman" panose="02020603050405020304" pitchFamily="18" charset="0"/>
              </a:rPr>
              <a:t>IDaaS</a:t>
            </a:r>
            <a:r>
              <a:rPr lang="en-US" b="1" dirty="0">
                <a:latin typeface="Times New Roman" panose="02020603050405020304" pitchFamily="18" charset="0"/>
                <a:cs typeface="Times New Roman" panose="02020603050405020304" pitchFamily="18" charset="0"/>
              </a:rPr>
              <a:t> provider)</a:t>
            </a:r>
            <a:r>
              <a:rPr lang="en-US" dirty="0">
                <a:latin typeface="Times New Roman" panose="02020603050405020304" pitchFamily="18" charset="0"/>
                <a:cs typeface="Times New Roman" panose="02020603050405020304" pitchFamily="18" charset="0"/>
              </a:rPr>
              <a:t>.</a:t>
            </a:r>
          </a:p>
          <a:p>
            <a:pPr algn="just">
              <a:lnSpc>
                <a:spcPct val="200000"/>
              </a:lnSpc>
            </a:pPr>
            <a:r>
              <a:rPr lang="en-US" dirty="0">
                <a:latin typeface="Times New Roman" panose="02020603050405020304" pitchFamily="18" charset="0"/>
                <a:cs typeface="Times New Roman" panose="02020603050405020304" pitchFamily="18" charset="0"/>
              </a:rPr>
              <a:t>Organizations </a:t>
            </a:r>
            <a:r>
              <a:rPr lang="en-US" b="1" dirty="0">
                <a:latin typeface="Times New Roman" panose="02020603050405020304" pitchFamily="18" charset="0"/>
                <a:cs typeface="Times New Roman" panose="02020603050405020304" pitchFamily="18" charset="0"/>
              </a:rPr>
              <a:t>outsource identity management</a:t>
            </a:r>
            <a:r>
              <a:rPr lang="en-US" dirty="0">
                <a:latin typeface="Times New Roman" panose="02020603050405020304" pitchFamily="18" charset="0"/>
                <a:cs typeface="Times New Roman" panose="02020603050405020304" pitchFamily="18" charset="0"/>
              </a:rPr>
              <a:t> (federation, lifecycle, user processes) to third-party providers like </a:t>
            </a:r>
            <a:r>
              <a:rPr lang="en-US" b="1" dirty="0">
                <a:latin typeface="Times New Roman" panose="02020603050405020304" pitchFamily="18" charset="0"/>
                <a:cs typeface="Times New Roman" panose="02020603050405020304" pitchFamily="18" charset="0"/>
              </a:rPr>
              <a:t>Ping Identity, </a:t>
            </a:r>
            <a:r>
              <a:rPr lang="en-US" b="1" dirty="0" err="1">
                <a:latin typeface="Times New Roman" panose="02020603050405020304" pitchFamily="18" charset="0"/>
                <a:cs typeface="Times New Roman" panose="02020603050405020304" pitchFamily="18" charset="0"/>
              </a:rPr>
              <a:t>Myonelogin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Symplified</a:t>
            </a:r>
            <a:r>
              <a:rPr lang="en-US" dirty="0">
                <a:latin typeface="Times New Roman" panose="02020603050405020304" pitchFamily="18" charset="0"/>
                <a:cs typeface="Times New Roman" panose="02020603050405020304" pitchFamily="18" charset="0"/>
              </a:rPr>
              <a:t>.</a:t>
            </a:r>
          </a:p>
          <a:p>
            <a:pPr algn="just">
              <a:lnSpc>
                <a:spcPct val="200000"/>
              </a:lnSpc>
            </a:pPr>
            <a:r>
              <a:rPr lang="en-US" dirty="0">
                <a:latin typeface="Times New Roman" panose="02020603050405020304" pitchFamily="18" charset="0"/>
                <a:cs typeface="Times New Roman" panose="02020603050405020304" pitchFamily="18" charset="0"/>
              </a:rPr>
              <a:t>This creates a </a:t>
            </a:r>
            <a:r>
              <a:rPr lang="en-US" b="1" dirty="0">
                <a:latin typeface="Times New Roman" panose="02020603050405020304" pitchFamily="18" charset="0"/>
                <a:cs typeface="Times New Roman" panose="02020603050405020304" pitchFamily="18" charset="0"/>
              </a:rPr>
              <a:t>SaaS model for identity management</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8387840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E883F-2B4F-FD18-22BC-09BB0483A046}"/>
              </a:ext>
            </a:extLst>
          </p:cNvPr>
          <p:cNvSpPr>
            <a:spLocks noGrp="1"/>
          </p:cNvSpPr>
          <p:nvPr>
            <p:ph type="title"/>
          </p:nvPr>
        </p:nvSpPr>
        <p:spPr/>
        <p:txBody>
          <a:bodyPr>
            <a:normAutofit fontScale="90000"/>
          </a:bodyPr>
          <a:lstStyle/>
          <a:p>
            <a:r>
              <a:rPr lang="en-US" sz="2667" b="1" dirty="0">
                <a:solidFill>
                  <a:srgbClr val="FF0000"/>
                </a:solidFill>
              </a:rPr>
              <a:t>Cloud Identity Service Provider (</a:t>
            </a:r>
            <a:r>
              <a:rPr lang="en-US" sz="2667" b="1" dirty="0" err="1">
                <a:solidFill>
                  <a:srgbClr val="FF0000"/>
                </a:solidFill>
              </a:rPr>
              <a:t>IDaaS</a:t>
            </a:r>
            <a:r>
              <a:rPr lang="en-US" sz="2667" b="1" dirty="0">
                <a:solidFill>
                  <a:srgbClr val="FF0000"/>
                </a:solidFill>
              </a:rPr>
              <a:t>) with Multiprotocol Federation Gateway model</a:t>
            </a:r>
            <a:r>
              <a:rPr lang="en-US" sz="3733" b="1" dirty="0">
                <a:solidFill>
                  <a:srgbClr val="FF0000"/>
                </a:solidFill>
              </a:rPr>
              <a:t>.</a:t>
            </a:r>
          </a:p>
        </p:txBody>
      </p:sp>
      <p:pic>
        <p:nvPicPr>
          <p:cNvPr id="5" name="Picture 4">
            <a:extLst>
              <a:ext uri="{FF2B5EF4-FFF2-40B4-BE49-F238E27FC236}">
                <a16:creationId xmlns:a16="http://schemas.microsoft.com/office/drawing/2014/main" id="{1A5DBB18-1727-BB1C-D6E5-DE73CD2931B1}"/>
              </a:ext>
            </a:extLst>
          </p:cNvPr>
          <p:cNvPicPr>
            <a:picLocks noChangeAspect="1"/>
          </p:cNvPicPr>
          <p:nvPr/>
        </p:nvPicPr>
        <p:blipFill>
          <a:blip r:embed="rId2"/>
          <a:stretch>
            <a:fillRect/>
          </a:stretch>
        </p:blipFill>
        <p:spPr>
          <a:xfrm>
            <a:off x="2844262" y="1694480"/>
            <a:ext cx="8115300" cy="5002053"/>
          </a:xfrm>
          <a:prstGeom prst="rect">
            <a:avLst/>
          </a:prstGeom>
        </p:spPr>
      </p:pic>
      <p:sp>
        <p:nvSpPr>
          <p:cNvPr id="4" name="AutoShape 2" descr="Uploaded image">
            <a:extLst>
              <a:ext uri="{FF2B5EF4-FFF2-40B4-BE49-F238E27FC236}">
                <a16:creationId xmlns:a16="http://schemas.microsoft.com/office/drawing/2014/main" id="{317C1C37-A77E-CFCC-2FB1-D82DD89025EC}"/>
              </a:ext>
            </a:extLst>
          </p:cNvPr>
          <p:cNvSpPr>
            <a:spLocks noGrp="1" noChangeAspect="1" noChangeArrowheads="1"/>
          </p:cNvSpPr>
          <p:nvPr>
            <p:ph type="body" idx="1"/>
          </p:nvPr>
        </p:nvSpPr>
        <p:spPr bwMode="auto">
          <a:xfrm>
            <a:off x="415600" y="1983782"/>
            <a:ext cx="11360800" cy="4107951"/>
          </a:xfrm>
          <a:prstGeom prst="rect">
            <a:avLst/>
          </a:prstGeom>
          <a:noFill/>
          <a:extLst>
            <a:ext uri="{909E8E84-426E-40DD-AFC4-6F175D3DCCD1}">
              <a14:hiddenFill xmlns:a14="http://schemas.microsoft.com/office/drawing/2010/main">
                <a:solidFill>
                  <a:srgbClr val="FFFFFF"/>
                </a:solidFill>
              </a14:hiddenFill>
            </a:ext>
          </a:extLst>
        </p:spPr>
        <p:txBody>
          <a:bodyPr spcFirstLastPara="1" vert="horz" wrap="square" lIns="121920" tIns="60960" rIns="121920" bIns="60960" numCol="1" anchor="t" anchorCtr="0" compatLnSpc="1">
            <a:prstTxWarp prst="textNoShape">
              <a:avLst/>
            </a:prstTxWarp>
            <a:normAutofit/>
          </a:bodyPr>
          <a:lstStyle/>
          <a:p>
            <a:endParaRPr lang="en-US" dirty="0"/>
          </a:p>
        </p:txBody>
      </p:sp>
    </p:spTree>
    <p:extLst>
      <p:ext uri="{BB962C8B-B14F-4D97-AF65-F5344CB8AC3E}">
        <p14:creationId xmlns:p14="http://schemas.microsoft.com/office/powerpoint/2010/main" val="2209995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37FA5F-6CFF-F328-5791-90BE2B95F753}"/>
              </a:ext>
            </a:extLst>
          </p:cNvPr>
          <p:cNvSpPr>
            <a:spLocks noGrp="1"/>
          </p:cNvSpPr>
          <p:nvPr>
            <p:ph type="body" idx="1"/>
          </p:nvPr>
        </p:nvSpPr>
        <p:spPr>
          <a:xfrm>
            <a:off x="415600" y="72325"/>
            <a:ext cx="11360800" cy="6019408"/>
          </a:xfrm>
        </p:spPr>
        <p:txBody>
          <a:bodyPr>
            <a:normAutofit/>
          </a:bodyPr>
          <a:lstStyle/>
          <a:p>
            <a:pPr marL="152396" indent="0">
              <a:buNone/>
            </a:pPr>
            <a:r>
              <a:rPr lang="en-US" sz="2000" b="1" dirty="0">
                <a:latin typeface="Times New Roman" panose="02020603050405020304" pitchFamily="18" charset="0"/>
                <a:cs typeface="Times New Roman" panose="02020603050405020304" pitchFamily="18" charset="0"/>
              </a:rPr>
              <a:t>1. Users</a:t>
            </a:r>
          </a:p>
          <a:p>
            <a:r>
              <a:rPr lang="en-US" sz="2000" b="1" dirty="0">
                <a:latin typeface="Times New Roman" panose="02020603050405020304" pitchFamily="18" charset="0"/>
                <a:cs typeface="Times New Roman" panose="02020603050405020304" pitchFamily="18" charset="0"/>
              </a:rPr>
              <a:t>Employees, Partners, Customers</a:t>
            </a:r>
            <a:r>
              <a:rPr lang="en-US" sz="2000" dirty="0">
                <a:latin typeface="Times New Roman" panose="02020603050405020304" pitchFamily="18" charset="0"/>
                <a:cs typeface="Times New Roman" panose="02020603050405020304" pitchFamily="18" charset="0"/>
              </a:rPr>
              <a:t> need access to cloud services.</a:t>
            </a:r>
          </a:p>
          <a:p>
            <a:r>
              <a:rPr lang="en-US" sz="2000" dirty="0">
                <a:latin typeface="Times New Roman" panose="02020603050405020304" pitchFamily="18" charset="0"/>
                <a:cs typeface="Times New Roman" panose="02020603050405020304" pitchFamily="18" charset="0"/>
              </a:rPr>
              <a:t>They log in through:</a:t>
            </a:r>
          </a:p>
          <a:p>
            <a:pPr lvl="1"/>
            <a:r>
              <a:rPr lang="en-US" sz="2000" b="1" dirty="0">
                <a:latin typeface="Times New Roman" panose="02020603050405020304" pitchFamily="18" charset="0"/>
                <a:cs typeface="Times New Roman" panose="02020603050405020304" pitchFamily="18" charset="0"/>
              </a:rPr>
              <a:t>Enterprise portal</a:t>
            </a:r>
            <a:r>
              <a:rPr lang="en-US" sz="2000" dirty="0">
                <a:latin typeface="Times New Roman" panose="02020603050405020304" pitchFamily="18" charset="0"/>
                <a:cs typeface="Times New Roman" panose="02020603050405020304" pitchFamily="18" charset="0"/>
              </a:rPr>
              <a:t> (for internal users like employees/partners), OR</a:t>
            </a:r>
          </a:p>
          <a:p>
            <a:pPr lvl="1"/>
            <a:r>
              <a:rPr lang="en-US" sz="2000" b="1" dirty="0">
                <a:latin typeface="Times New Roman" panose="02020603050405020304" pitchFamily="18" charset="0"/>
                <a:cs typeface="Times New Roman" panose="02020603050405020304" pitchFamily="18" charset="0"/>
              </a:rPr>
              <a:t>Hosted portal</a:t>
            </a:r>
            <a:r>
              <a:rPr lang="en-US" sz="2000" dirty="0">
                <a:latin typeface="Times New Roman" panose="02020603050405020304" pitchFamily="18" charset="0"/>
                <a:cs typeface="Times New Roman" panose="02020603050405020304" pitchFamily="18" charset="0"/>
              </a:rPr>
              <a:t> (for external users like customers).</a:t>
            </a:r>
          </a:p>
          <a:p>
            <a:pPr marL="152396" indent="0">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152396" indent="0">
              <a:buNone/>
            </a:pPr>
            <a:r>
              <a:rPr lang="en-US" sz="2000" b="1" dirty="0">
                <a:latin typeface="Times New Roman" panose="02020603050405020304" pitchFamily="18" charset="0"/>
                <a:cs typeface="Times New Roman" panose="02020603050405020304" pitchFamily="18" charset="0"/>
              </a:rPr>
              <a:t>2. Cloud Identity Service Provider (</a:t>
            </a:r>
            <a:r>
              <a:rPr lang="en-US" sz="2000" b="1" dirty="0" err="1">
                <a:latin typeface="Times New Roman" panose="02020603050405020304" pitchFamily="18" charset="0"/>
                <a:cs typeface="Times New Roman" panose="02020603050405020304" pitchFamily="18" charset="0"/>
              </a:rPr>
              <a:t>IDaaS</a:t>
            </a:r>
            <a:r>
              <a:rPr lang="en-US" sz="2000" b="1"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This is the </a:t>
            </a:r>
            <a:r>
              <a:rPr lang="en-US" sz="2000" b="1" dirty="0">
                <a:latin typeface="Times New Roman" panose="02020603050405020304" pitchFamily="18" charset="0"/>
                <a:cs typeface="Times New Roman" panose="02020603050405020304" pitchFamily="18" charset="0"/>
              </a:rPr>
              <a:t>third-party identity management service</a:t>
            </a:r>
            <a:r>
              <a:rPr lang="en-US" sz="2000" dirty="0">
                <a:latin typeface="Times New Roman" panose="02020603050405020304" pitchFamily="18" charset="0"/>
                <a:cs typeface="Times New Roman" panose="02020603050405020304" pitchFamily="18" charset="0"/>
              </a:rPr>
              <a:t> (e.g., Ping Identity, Okta, </a:t>
            </a:r>
            <a:r>
              <a:rPr lang="en-US" sz="2000" dirty="0" err="1">
                <a:latin typeface="Times New Roman" panose="02020603050405020304" pitchFamily="18" charset="0"/>
                <a:cs typeface="Times New Roman" panose="02020603050405020304" pitchFamily="18" charset="0"/>
              </a:rPr>
              <a:t>Symplified</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provides:</a:t>
            </a:r>
          </a:p>
          <a:p>
            <a:r>
              <a:rPr lang="en-US" sz="2000" b="1" dirty="0">
                <a:latin typeface="Times New Roman" panose="02020603050405020304" pitchFamily="18" charset="0"/>
                <a:cs typeface="Times New Roman" panose="02020603050405020304" pitchFamily="18" charset="0"/>
              </a:rPr>
              <a:t>Personalized portals</a:t>
            </a:r>
            <a:r>
              <a:rPr lang="en-US" sz="2000" dirty="0">
                <a:latin typeface="Times New Roman" panose="02020603050405020304" pitchFamily="18" charset="0"/>
                <a:cs typeface="Times New Roman" panose="02020603050405020304" pitchFamily="18" charset="0"/>
              </a:rPr>
              <a:t> – Tailored login experiences for different user groups.</a:t>
            </a:r>
          </a:p>
          <a:p>
            <a:r>
              <a:rPr lang="en-US" sz="2000" b="1" dirty="0">
                <a:latin typeface="Times New Roman" panose="02020603050405020304" pitchFamily="18" charset="0"/>
                <a:cs typeface="Times New Roman" panose="02020603050405020304" pitchFamily="18" charset="0"/>
              </a:rPr>
              <a:t>Compliance &amp; audit</a:t>
            </a:r>
            <a:r>
              <a:rPr lang="en-US" sz="2000" dirty="0">
                <a:latin typeface="Times New Roman" panose="02020603050405020304" pitchFamily="18" charset="0"/>
                <a:cs typeface="Times New Roman" panose="02020603050405020304" pitchFamily="18" charset="0"/>
              </a:rPr>
              <a:t> – Logging and reporting for regulatory needs.</a:t>
            </a:r>
          </a:p>
          <a:p>
            <a:r>
              <a:rPr lang="en-US" sz="2000" b="1" dirty="0">
                <a:latin typeface="Times New Roman" panose="02020603050405020304" pitchFamily="18" charset="0"/>
                <a:cs typeface="Times New Roman" panose="02020603050405020304" pitchFamily="18" charset="0"/>
              </a:rPr>
              <a:t>Single Sign-On (SSO)</a:t>
            </a:r>
            <a:r>
              <a:rPr lang="en-US" sz="2000" dirty="0">
                <a:latin typeface="Times New Roman" panose="02020603050405020304" pitchFamily="18" charset="0"/>
                <a:cs typeface="Times New Roman" panose="02020603050405020304" pitchFamily="18" charset="0"/>
              </a:rPr>
              <a:t> – One login works for multiple apps.</a:t>
            </a:r>
          </a:p>
          <a:p>
            <a:r>
              <a:rPr lang="en-US" sz="2000" b="1" dirty="0">
                <a:latin typeface="Times New Roman" panose="02020603050405020304" pitchFamily="18" charset="0"/>
                <a:cs typeface="Times New Roman" panose="02020603050405020304" pitchFamily="18" charset="0"/>
              </a:rPr>
              <a:t>Virtualized identity</a:t>
            </a:r>
            <a:r>
              <a:rPr lang="en-US" sz="2000" dirty="0">
                <a:latin typeface="Times New Roman" panose="02020603050405020304" pitchFamily="18" charset="0"/>
                <a:cs typeface="Times New Roman" panose="02020603050405020304" pitchFamily="18" charset="0"/>
              </a:rPr>
              <a:t> – Centralized digital identity in the cloud.</a:t>
            </a:r>
          </a:p>
          <a:p>
            <a:r>
              <a:rPr lang="en-US" sz="2000" b="1" dirty="0">
                <a:latin typeface="Times New Roman" panose="02020603050405020304" pitchFamily="18" charset="0"/>
                <a:cs typeface="Times New Roman" panose="02020603050405020304" pitchFamily="18" charset="0"/>
              </a:rPr>
              <a:t>Attribute mapping</a:t>
            </a:r>
            <a:r>
              <a:rPr lang="en-US" sz="2000" dirty="0">
                <a:latin typeface="Times New Roman" panose="02020603050405020304" pitchFamily="18" charset="0"/>
                <a:cs typeface="Times New Roman" panose="02020603050405020304" pitchFamily="18" charset="0"/>
              </a:rPr>
              <a:t> – Mapping user info (roles, department, etc.) to apps.</a:t>
            </a:r>
          </a:p>
          <a:p>
            <a:r>
              <a:rPr lang="en-US" sz="2000" b="1" dirty="0">
                <a:latin typeface="Times New Roman" panose="02020603050405020304" pitchFamily="18" charset="0"/>
                <a:cs typeface="Times New Roman" panose="02020603050405020304" pitchFamily="18" charset="0"/>
              </a:rPr>
              <a:t>Synchronization</a:t>
            </a:r>
            <a:r>
              <a:rPr lang="en-US" sz="2000" dirty="0">
                <a:latin typeface="Times New Roman" panose="02020603050405020304" pitchFamily="18" charset="0"/>
                <a:cs typeface="Times New Roman" panose="02020603050405020304" pitchFamily="18" charset="0"/>
              </a:rPr>
              <a:t> – </a:t>
            </a:r>
            <a:r>
              <a:rPr lang="en-US" sz="2000" dirty="0">
                <a:solidFill>
                  <a:srgbClr val="FF0000"/>
                </a:solidFill>
                <a:latin typeface="Times New Roman" panose="02020603050405020304" pitchFamily="18" charset="0"/>
                <a:cs typeface="Times New Roman" panose="02020603050405020304" pitchFamily="18" charset="0"/>
              </a:rPr>
              <a:t>Keeps cloud identity store in sync with enterprise’s directory.</a:t>
            </a:r>
          </a:p>
          <a:p>
            <a:endParaRPr lang="en-US" dirty="0"/>
          </a:p>
        </p:txBody>
      </p:sp>
    </p:spTree>
    <p:extLst>
      <p:ext uri="{BB962C8B-B14F-4D97-AF65-F5344CB8AC3E}">
        <p14:creationId xmlns:p14="http://schemas.microsoft.com/office/powerpoint/2010/main" val="3870847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7D2170-95DE-CDCC-73D8-323E6DD9CAF2}"/>
              </a:ext>
            </a:extLst>
          </p:cNvPr>
          <p:cNvSpPr>
            <a:spLocks noGrp="1"/>
          </p:cNvSpPr>
          <p:nvPr>
            <p:ph type="body" idx="1"/>
          </p:nvPr>
        </p:nvSpPr>
        <p:spPr>
          <a:xfrm>
            <a:off x="415600" y="216976"/>
            <a:ext cx="11360800" cy="5874757"/>
          </a:xfrm>
        </p:spPr>
        <p:txBody>
          <a:bodyPr>
            <a:normAutofit/>
          </a:bodyPr>
          <a:lstStyle/>
          <a:p>
            <a:pPr marL="152396" indent="0">
              <a:lnSpc>
                <a:spcPct val="150000"/>
              </a:lnSpc>
              <a:buNone/>
            </a:pPr>
            <a:r>
              <a:rPr lang="en-US" b="1" dirty="0"/>
              <a:t>3. </a:t>
            </a:r>
            <a:r>
              <a:rPr lang="en-US" sz="2000" b="1" dirty="0">
                <a:latin typeface="Times New Roman" panose="02020603050405020304" pitchFamily="18" charset="0"/>
                <a:cs typeface="Times New Roman" panose="02020603050405020304" pitchFamily="18" charset="0"/>
              </a:rPr>
              <a:t>Multiprotocol Federation Gateway</a:t>
            </a:r>
          </a:p>
          <a:p>
            <a:pPr>
              <a:lnSpc>
                <a:spcPct val="150000"/>
              </a:lnSpc>
            </a:pPr>
            <a:r>
              <a:rPr lang="en-US" sz="2000" dirty="0">
                <a:latin typeface="Times New Roman" panose="02020603050405020304" pitchFamily="18" charset="0"/>
                <a:cs typeface="Times New Roman" panose="02020603050405020304" pitchFamily="18" charset="0"/>
              </a:rPr>
              <a:t>Many cloud providers (CSPs) use </a:t>
            </a:r>
            <a:r>
              <a:rPr lang="en-US" sz="2000" b="1" dirty="0">
                <a:latin typeface="Times New Roman" panose="02020603050405020304" pitchFamily="18" charset="0"/>
                <a:cs typeface="Times New Roman" panose="02020603050405020304" pitchFamily="18" charset="0"/>
              </a:rPr>
              <a:t>different federation standards</a:t>
            </a:r>
            <a:r>
              <a:rPr lang="en-US" sz="2000" dirty="0">
                <a:latin typeface="Times New Roman" panose="02020603050405020304" pitchFamily="18" charset="0"/>
                <a:cs typeface="Times New Roman" panose="02020603050405020304" pitchFamily="18" charset="0"/>
              </a:rPr>
              <a:t> (e.g., SAML 1.1, SAML 2.0, OAuth2, OpenID Connect).</a:t>
            </a:r>
          </a:p>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The gateway acts as a translator so organizations don’t need to reconfigure IAM for each provider.</a:t>
            </a:r>
          </a:p>
          <a:p>
            <a:pPr>
              <a:lnSpc>
                <a:spcPct val="150000"/>
              </a:lnSpc>
            </a:pPr>
            <a:r>
              <a:rPr lang="en-US" sz="2000" dirty="0">
                <a:latin typeface="Times New Roman" panose="02020603050405020304" pitchFamily="18" charset="0"/>
                <a:cs typeface="Times New Roman" panose="02020603050405020304" pitchFamily="18" charset="0"/>
              </a:rPr>
              <a:t>It standardizes identity exchange across multiple CSPs.</a:t>
            </a:r>
          </a:p>
          <a:p>
            <a:pPr marL="152396" indent="0">
              <a:lnSpc>
                <a:spcPct val="150000"/>
              </a:lnSpc>
              <a:buNone/>
            </a:pPr>
            <a:endParaRPr lang="en-US" sz="2000" dirty="0">
              <a:latin typeface="Times New Roman" panose="02020603050405020304" pitchFamily="18" charset="0"/>
              <a:cs typeface="Times New Roman" panose="02020603050405020304" pitchFamily="18" charset="0"/>
            </a:endParaRPr>
          </a:p>
          <a:p>
            <a:pPr marL="152396" indent="0">
              <a:lnSpc>
                <a:spcPct val="150000"/>
              </a:lnSpc>
              <a:buNone/>
            </a:pPr>
            <a:r>
              <a:rPr lang="en-US" sz="2000" b="1" dirty="0">
                <a:latin typeface="Times New Roman" panose="02020603050405020304" pitchFamily="18" charset="0"/>
                <a:cs typeface="Times New Roman" panose="02020603050405020304" pitchFamily="18" charset="0"/>
              </a:rPr>
              <a:t>4. Cloud Services</a:t>
            </a:r>
          </a:p>
          <a:p>
            <a:pPr>
              <a:lnSpc>
                <a:spcPct val="150000"/>
              </a:lnSpc>
            </a:pPr>
            <a:r>
              <a:rPr lang="en-US" sz="2000" dirty="0">
                <a:latin typeface="Times New Roman" panose="02020603050405020304" pitchFamily="18" charset="0"/>
                <a:cs typeface="Times New Roman" panose="02020603050405020304" pitchFamily="18" charset="0"/>
              </a:rPr>
              <a:t>Once authentication is done, users can access:</a:t>
            </a:r>
          </a:p>
          <a:p>
            <a:pPr lvl="1">
              <a:lnSpc>
                <a:spcPct val="150000"/>
              </a:lnSpc>
            </a:pPr>
            <a:r>
              <a:rPr lang="en-US" sz="2000" b="1" dirty="0">
                <a:latin typeface="Times New Roman" panose="02020603050405020304" pitchFamily="18" charset="0"/>
                <a:cs typeface="Times New Roman" panose="02020603050405020304" pitchFamily="18" charset="0"/>
              </a:rPr>
              <a:t>SaaS apps</a:t>
            </a:r>
            <a:r>
              <a:rPr lang="en-US" sz="2000" dirty="0">
                <a:latin typeface="Times New Roman" panose="02020603050405020304" pitchFamily="18" charset="0"/>
                <a:cs typeface="Times New Roman" panose="02020603050405020304" pitchFamily="18" charset="0"/>
              </a:rPr>
              <a:t> (e.g., Salesforce, Google Workspace, Office 365)</a:t>
            </a:r>
          </a:p>
          <a:p>
            <a:pPr lvl="1">
              <a:lnSpc>
                <a:spcPct val="150000"/>
              </a:lnSpc>
            </a:pPr>
            <a:r>
              <a:rPr lang="en-US" sz="2000" b="1" dirty="0">
                <a:latin typeface="Times New Roman" panose="02020603050405020304" pitchFamily="18" charset="0"/>
                <a:cs typeface="Times New Roman" panose="02020603050405020304" pitchFamily="18" charset="0"/>
              </a:rPr>
              <a:t>Web apps</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b="1" dirty="0">
                <a:latin typeface="Times New Roman" panose="02020603050405020304" pitchFamily="18" charset="0"/>
                <a:cs typeface="Times New Roman" panose="02020603050405020304" pitchFamily="18" charset="0"/>
              </a:rPr>
              <a:t>Infrastructure services</a:t>
            </a:r>
            <a:r>
              <a:rPr lang="en-US" sz="2000" dirty="0">
                <a:latin typeface="Times New Roman" panose="02020603050405020304" pitchFamily="18" charset="0"/>
                <a:cs typeface="Times New Roman" panose="02020603050405020304" pitchFamily="18" charset="0"/>
              </a:rPr>
              <a:t> (e.g., Amazon EC2)</a:t>
            </a:r>
          </a:p>
          <a:p>
            <a:endParaRPr lang="en-US" dirty="0"/>
          </a:p>
        </p:txBody>
      </p:sp>
    </p:spTree>
    <p:extLst>
      <p:ext uri="{BB962C8B-B14F-4D97-AF65-F5344CB8AC3E}">
        <p14:creationId xmlns:p14="http://schemas.microsoft.com/office/powerpoint/2010/main" val="18368407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8887-5C89-B291-CC9A-1EA2D8F97813}"/>
              </a:ext>
            </a:extLst>
          </p:cNvPr>
          <p:cNvSpPr>
            <a:spLocks noGrp="1"/>
          </p:cNvSpPr>
          <p:nvPr>
            <p:ph type="title"/>
          </p:nvPr>
        </p:nvSpPr>
        <p:spPr/>
        <p:txBody>
          <a:bodyPr>
            <a:normAutofit fontScale="90000"/>
          </a:bodyPr>
          <a:lstStyle/>
          <a:p>
            <a:r>
              <a:rPr lang="en-US" b="1" dirty="0"/>
              <a:t>How it Works (Flow)</a:t>
            </a:r>
            <a:br>
              <a:rPr lang="en-US" b="1" dirty="0"/>
            </a:br>
            <a:endParaRPr lang="en-US" dirty="0"/>
          </a:p>
        </p:txBody>
      </p:sp>
      <p:sp>
        <p:nvSpPr>
          <p:cNvPr id="3" name="Text Placeholder 2">
            <a:extLst>
              <a:ext uri="{FF2B5EF4-FFF2-40B4-BE49-F238E27FC236}">
                <a16:creationId xmlns:a16="http://schemas.microsoft.com/office/drawing/2014/main" id="{9AAB994E-8559-FE7E-310D-A05ED8075833}"/>
              </a:ext>
            </a:extLst>
          </p:cNvPr>
          <p:cNvSpPr>
            <a:spLocks noGrp="1"/>
          </p:cNvSpPr>
          <p:nvPr>
            <p:ph type="body" idx="1"/>
          </p:nvPr>
        </p:nvSpPr>
        <p:spPr/>
        <p:txBody>
          <a:bodyPr>
            <a:normAutofit fontScale="92500"/>
          </a:bodyPr>
          <a:lstStyle/>
          <a:p>
            <a:pPr>
              <a:lnSpc>
                <a:spcPct val="150000"/>
              </a:lnSpc>
            </a:pPr>
            <a:r>
              <a:rPr lang="en-US" sz="2667" dirty="0">
                <a:latin typeface="Times New Roman" panose="02020603050405020304" pitchFamily="18" charset="0"/>
                <a:cs typeface="Times New Roman" panose="02020603050405020304" pitchFamily="18" charset="0"/>
              </a:rPr>
              <a:t>User (employee, partner, or customer) logs into the </a:t>
            </a:r>
            <a:r>
              <a:rPr lang="en-US" sz="2667" b="1" dirty="0">
                <a:latin typeface="Times New Roman" panose="02020603050405020304" pitchFamily="18" charset="0"/>
                <a:cs typeface="Times New Roman" panose="02020603050405020304" pitchFamily="18" charset="0"/>
              </a:rPr>
              <a:t>enterprise or hosted portal</a:t>
            </a:r>
            <a:r>
              <a:rPr lang="en-US" sz="2667" dirty="0">
                <a:latin typeface="Times New Roman" panose="02020603050405020304" pitchFamily="18" charset="0"/>
                <a:cs typeface="Times New Roman" panose="02020603050405020304" pitchFamily="18" charset="0"/>
              </a:rPr>
              <a:t>.</a:t>
            </a:r>
          </a:p>
          <a:p>
            <a:pPr>
              <a:lnSpc>
                <a:spcPct val="150000"/>
              </a:lnSpc>
            </a:pPr>
            <a:r>
              <a:rPr lang="en-US" sz="2667" dirty="0">
                <a:latin typeface="Times New Roman" panose="02020603050405020304" pitchFamily="18" charset="0"/>
                <a:cs typeface="Times New Roman" panose="02020603050405020304" pitchFamily="18" charset="0"/>
              </a:rPr>
              <a:t>Authentication request goes to the </a:t>
            </a:r>
            <a:r>
              <a:rPr lang="en-US" sz="2667" b="1" dirty="0">
                <a:latin typeface="Times New Roman" panose="02020603050405020304" pitchFamily="18" charset="0"/>
                <a:cs typeface="Times New Roman" panose="02020603050405020304" pitchFamily="18" charset="0"/>
              </a:rPr>
              <a:t>Cloud Identity Service Provider (</a:t>
            </a:r>
            <a:r>
              <a:rPr lang="en-US" sz="2667" b="1" dirty="0" err="1">
                <a:latin typeface="Times New Roman" panose="02020603050405020304" pitchFamily="18" charset="0"/>
                <a:cs typeface="Times New Roman" panose="02020603050405020304" pitchFamily="18" charset="0"/>
              </a:rPr>
              <a:t>IDaaS</a:t>
            </a:r>
            <a:r>
              <a:rPr lang="en-US" sz="2667" b="1" dirty="0">
                <a:latin typeface="Times New Roman" panose="02020603050405020304" pitchFamily="18" charset="0"/>
                <a:cs typeface="Times New Roman" panose="02020603050405020304" pitchFamily="18" charset="0"/>
              </a:rPr>
              <a:t>)</a:t>
            </a:r>
            <a:r>
              <a:rPr lang="en-US" sz="2667" dirty="0">
                <a:latin typeface="Times New Roman" panose="02020603050405020304" pitchFamily="18" charset="0"/>
                <a:cs typeface="Times New Roman" panose="02020603050405020304" pitchFamily="18" charset="0"/>
              </a:rPr>
              <a:t>.</a:t>
            </a:r>
          </a:p>
          <a:p>
            <a:pPr>
              <a:lnSpc>
                <a:spcPct val="150000"/>
              </a:lnSpc>
            </a:pPr>
            <a:r>
              <a:rPr lang="en-US" sz="2667" dirty="0">
                <a:latin typeface="Times New Roman" panose="02020603050405020304" pitchFamily="18" charset="0"/>
                <a:cs typeface="Times New Roman" panose="02020603050405020304" pitchFamily="18" charset="0"/>
              </a:rPr>
              <a:t>The </a:t>
            </a:r>
            <a:r>
              <a:rPr lang="en-US" sz="2667" dirty="0" err="1">
                <a:latin typeface="Times New Roman" panose="02020603050405020304" pitchFamily="18" charset="0"/>
                <a:cs typeface="Times New Roman" panose="02020603050405020304" pitchFamily="18" charset="0"/>
              </a:rPr>
              <a:t>IDaaS</a:t>
            </a:r>
            <a:r>
              <a:rPr lang="en-US" sz="2667" dirty="0">
                <a:latin typeface="Times New Roman" panose="02020603050405020304" pitchFamily="18" charset="0"/>
                <a:cs typeface="Times New Roman" panose="02020603050405020304" pitchFamily="18" charset="0"/>
              </a:rPr>
              <a:t> authenticates the user (using synced corporate directory + policies).</a:t>
            </a:r>
          </a:p>
          <a:p>
            <a:pPr>
              <a:lnSpc>
                <a:spcPct val="150000"/>
              </a:lnSpc>
            </a:pPr>
            <a:r>
              <a:rPr lang="en-US" sz="2667" dirty="0">
                <a:latin typeface="Times New Roman" panose="02020603050405020304" pitchFamily="18" charset="0"/>
                <a:cs typeface="Times New Roman" panose="02020603050405020304" pitchFamily="18" charset="0"/>
              </a:rPr>
              <a:t>The request passes through the </a:t>
            </a:r>
            <a:r>
              <a:rPr lang="en-US" sz="2667" b="1" dirty="0">
                <a:latin typeface="Times New Roman" panose="02020603050405020304" pitchFamily="18" charset="0"/>
                <a:cs typeface="Times New Roman" panose="02020603050405020304" pitchFamily="18" charset="0"/>
              </a:rPr>
              <a:t>Multiprotocol Federation Gateway</a:t>
            </a:r>
            <a:r>
              <a:rPr lang="en-US" sz="2667" dirty="0">
                <a:latin typeface="Times New Roman" panose="02020603050405020304" pitchFamily="18" charset="0"/>
                <a:cs typeface="Times New Roman" panose="02020603050405020304" pitchFamily="18" charset="0"/>
              </a:rPr>
              <a:t>, which translates federation standards if needed.</a:t>
            </a:r>
          </a:p>
          <a:p>
            <a:pPr>
              <a:lnSpc>
                <a:spcPct val="150000"/>
              </a:lnSpc>
            </a:pPr>
            <a:r>
              <a:rPr lang="en-US" sz="2667" dirty="0">
                <a:latin typeface="Times New Roman" panose="02020603050405020304" pitchFamily="18" charset="0"/>
                <a:cs typeface="Times New Roman" panose="02020603050405020304" pitchFamily="18" charset="0"/>
              </a:rPr>
              <a:t>User gains </a:t>
            </a:r>
            <a:r>
              <a:rPr lang="en-US" sz="2667" b="1" dirty="0">
                <a:latin typeface="Times New Roman" panose="02020603050405020304" pitchFamily="18" charset="0"/>
                <a:cs typeface="Times New Roman" panose="02020603050405020304" pitchFamily="18" charset="0"/>
              </a:rPr>
              <a:t>seamless SSO access</a:t>
            </a:r>
            <a:r>
              <a:rPr lang="en-US" sz="2667" dirty="0">
                <a:latin typeface="Times New Roman" panose="02020603050405020304" pitchFamily="18" charset="0"/>
                <a:cs typeface="Times New Roman" panose="02020603050405020304" pitchFamily="18" charset="0"/>
              </a:rPr>
              <a:t> to cloud apps (SaaS, web apps, IaaS).</a:t>
            </a:r>
          </a:p>
          <a:p>
            <a:endParaRPr lang="en-US" dirty="0"/>
          </a:p>
        </p:txBody>
      </p:sp>
    </p:spTree>
    <p:extLst>
      <p:ext uri="{BB962C8B-B14F-4D97-AF65-F5344CB8AC3E}">
        <p14:creationId xmlns:p14="http://schemas.microsoft.com/office/powerpoint/2010/main" val="13472059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8F1A7-CA63-35F4-324A-336EE72DE532}"/>
              </a:ext>
            </a:extLst>
          </p:cNvPr>
          <p:cNvSpPr>
            <a:spLocks noGrp="1"/>
          </p:cNvSpPr>
          <p:nvPr>
            <p:ph type="title"/>
          </p:nvPr>
        </p:nvSpPr>
        <p:spPr/>
        <p:txBody>
          <a:bodyPr>
            <a:normAutofit fontScale="90000"/>
          </a:bodyPr>
          <a:lstStyle/>
          <a:p>
            <a:r>
              <a:rPr lang="en-US" b="1" dirty="0"/>
              <a:t>Cloud Authorization Management[3]</a:t>
            </a:r>
            <a:br>
              <a:rPr lang="en-US" b="1" dirty="0"/>
            </a:br>
            <a:endParaRPr lang="en-US" dirty="0"/>
          </a:p>
        </p:txBody>
      </p:sp>
      <p:sp>
        <p:nvSpPr>
          <p:cNvPr id="3" name="Text Placeholder 2">
            <a:extLst>
              <a:ext uri="{FF2B5EF4-FFF2-40B4-BE49-F238E27FC236}">
                <a16:creationId xmlns:a16="http://schemas.microsoft.com/office/drawing/2014/main" id="{08E6CA3C-7561-DDDF-E897-52DB97F899B0}"/>
              </a:ext>
            </a:extLst>
          </p:cNvPr>
          <p:cNvSpPr>
            <a:spLocks noGrp="1"/>
          </p:cNvSpPr>
          <p:nvPr>
            <p:ph type="body" idx="1"/>
          </p:nvPr>
        </p:nvSpPr>
        <p:spPr/>
        <p:txBody>
          <a:bodyPr/>
          <a:lstStyle/>
          <a:p>
            <a:pPr marL="152396" indent="0">
              <a:lnSpc>
                <a:spcPct val="200000"/>
              </a:lnSpc>
              <a:buNone/>
            </a:pPr>
            <a:r>
              <a:rPr lang="en-US" b="1" dirty="0">
                <a:latin typeface="Times New Roman" panose="02020603050405020304" pitchFamily="18" charset="0"/>
                <a:cs typeface="Times New Roman" panose="02020603050405020304" pitchFamily="18" charset="0"/>
              </a:rPr>
              <a:t>1. Enterprise Needs for Authorization</a:t>
            </a:r>
            <a:endParaRPr lang="en-US" dirty="0">
              <a:latin typeface="Times New Roman" panose="02020603050405020304" pitchFamily="18" charset="0"/>
              <a:cs typeface="Times New Roman" panose="02020603050405020304" pitchFamily="18" charset="0"/>
            </a:endParaRPr>
          </a:p>
          <a:p>
            <a:pPr lvl="1">
              <a:lnSpc>
                <a:spcPct val="200000"/>
              </a:lnSpc>
            </a:pPr>
            <a:r>
              <a:rPr lang="en-US" dirty="0">
                <a:latin typeface="Times New Roman" panose="02020603050405020304" pitchFamily="18" charset="0"/>
                <a:cs typeface="Times New Roman" panose="02020603050405020304" pitchFamily="18" charset="0"/>
              </a:rPr>
              <a:t>Medium and large organizations usually require </a:t>
            </a:r>
            <a:r>
              <a:rPr lang="en-US" b="1" dirty="0">
                <a:latin typeface="Times New Roman" panose="02020603050405020304" pitchFamily="18" charset="0"/>
                <a:cs typeface="Times New Roman" panose="02020603050405020304" pitchFamily="18" charset="0"/>
              </a:rPr>
              <a:t>fine-grained authorization features</a:t>
            </a:r>
            <a:r>
              <a:rPr lang="en-US" dirty="0">
                <a:latin typeface="Times New Roman" panose="02020603050405020304" pitchFamily="18" charset="0"/>
                <a:cs typeface="Times New Roman" panose="02020603050405020304" pitchFamily="18" charset="0"/>
              </a:rPr>
              <a:t> to align with their internal security policies.</a:t>
            </a:r>
          </a:p>
          <a:p>
            <a:pPr lvl="1">
              <a:lnSpc>
                <a:spcPct val="200000"/>
              </a:lnSpc>
            </a:pPr>
            <a:r>
              <a:rPr lang="en-US" dirty="0">
                <a:latin typeface="Times New Roman" panose="02020603050405020304" pitchFamily="18" charset="0"/>
                <a:cs typeface="Times New Roman" panose="02020603050405020304" pitchFamily="18" charset="0"/>
              </a:rPr>
              <a:t>This involves assigning privileges (also called </a:t>
            </a:r>
            <a:r>
              <a:rPr lang="en-US" b="1" dirty="0">
                <a:latin typeface="Times New Roman" panose="02020603050405020304" pitchFamily="18" charset="0"/>
                <a:cs typeface="Times New Roman" panose="02020603050405020304" pitchFamily="18" charset="0"/>
              </a:rPr>
              <a:t>entitlements</a:t>
            </a:r>
            <a:r>
              <a:rPr lang="en-US" dirty="0">
                <a:latin typeface="Times New Roman" panose="02020603050405020304" pitchFamily="18" charset="0"/>
                <a:cs typeface="Times New Roman" panose="02020603050405020304" pitchFamily="18" charset="0"/>
              </a:rPr>
              <a:t>) to users depending on their </a:t>
            </a:r>
            <a:r>
              <a:rPr lang="en-US" b="1" dirty="0">
                <a:latin typeface="Times New Roman" panose="02020603050405020304" pitchFamily="18" charset="0"/>
                <a:cs typeface="Times New Roman" panose="02020603050405020304" pitchFamily="18" charset="0"/>
              </a:rPr>
              <a:t>job roles</a:t>
            </a:r>
            <a:r>
              <a:rPr lang="en-US" dirty="0">
                <a:latin typeface="Times New Roman" panose="02020603050405020304" pitchFamily="18" charset="0"/>
                <a:cs typeface="Times New Roman" panose="02020603050405020304" pitchFamily="18" charset="0"/>
              </a:rPr>
              <a:t> or responsibilities.</a:t>
            </a:r>
          </a:p>
          <a:p>
            <a:pPr lvl="1">
              <a:lnSpc>
                <a:spcPct val="200000"/>
              </a:lnSpc>
            </a:pPr>
            <a:r>
              <a:rPr lang="en-US" dirty="0">
                <a:latin typeface="Times New Roman" panose="02020603050405020304" pitchFamily="18" charset="0"/>
                <a:cs typeface="Times New Roman" panose="02020603050405020304" pitchFamily="18" charset="0"/>
              </a:rPr>
              <a:t>A common method is </a:t>
            </a:r>
            <a:r>
              <a:rPr lang="en-US" b="1" dirty="0">
                <a:latin typeface="Times New Roman" panose="02020603050405020304" pitchFamily="18" charset="0"/>
                <a:cs typeface="Times New Roman" panose="02020603050405020304" pitchFamily="18" charset="0"/>
              </a:rPr>
              <a:t>Role-Based Access Control (RBAC)</a:t>
            </a:r>
            <a:r>
              <a:rPr lang="en-US" dirty="0">
                <a:latin typeface="Times New Roman" panose="02020603050405020304" pitchFamily="18" charset="0"/>
                <a:cs typeface="Times New Roman" panose="02020603050405020304" pitchFamily="18" charset="0"/>
              </a:rPr>
              <a:t>, where access rights are tied to organizational roles (e.g., HR staff, finance officers, IT administrators).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7858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D5B0-7514-E74E-2B72-B5DF83DC9F6D}"/>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BA4337B4-6DCE-8663-E3DA-5AD90DFAA331}"/>
              </a:ext>
            </a:extLst>
          </p:cNvPr>
          <p:cNvSpPr>
            <a:spLocks noGrp="1"/>
          </p:cNvSpPr>
          <p:nvPr>
            <p:ph type="body" idx="1"/>
          </p:nvPr>
        </p:nvSpPr>
        <p:spPr/>
        <p:txBody>
          <a:bodyPr/>
          <a:lstStyle/>
          <a:p>
            <a:pPr marL="152396" indent="0">
              <a:lnSpc>
                <a:spcPct val="150000"/>
              </a:lnSpc>
              <a:buNone/>
            </a:pPr>
            <a:r>
              <a:rPr lang="en-US" b="1" dirty="0">
                <a:latin typeface="Times New Roman" panose="02020603050405020304" pitchFamily="18" charset="0"/>
                <a:cs typeface="Times New Roman" panose="02020603050405020304" pitchFamily="18" charset="0"/>
              </a:rPr>
              <a:t>2. Current Limitations in Cloud Services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Many </a:t>
            </a:r>
            <a:r>
              <a:rPr lang="en-US" b="1" dirty="0">
                <a:latin typeface="Times New Roman" panose="02020603050405020304" pitchFamily="18" charset="0"/>
                <a:cs typeface="Times New Roman" panose="02020603050405020304" pitchFamily="18" charset="0"/>
              </a:rPr>
              <a:t>cloud service providers (CSPs)</a:t>
            </a:r>
            <a:r>
              <a:rPr lang="en-US" dirty="0">
                <a:latin typeface="Times New Roman" panose="02020603050405020304" pitchFamily="18" charset="0"/>
                <a:cs typeface="Times New Roman" panose="02020603050405020304" pitchFamily="18" charset="0"/>
              </a:rPr>
              <a:t> still offer only </a:t>
            </a:r>
            <a:r>
              <a:rPr lang="en-US" b="1" dirty="0">
                <a:latin typeface="Times New Roman" panose="02020603050405020304" pitchFamily="18" charset="0"/>
                <a:cs typeface="Times New Roman" panose="02020603050405020304" pitchFamily="18" charset="0"/>
              </a:rPr>
              <a:t>basic authorization features</a:t>
            </a:r>
            <a:r>
              <a:rPr lang="en-US" dirty="0">
                <a:latin typeface="Times New Roman" panose="02020603050405020304" pitchFamily="18" charset="0"/>
                <a:cs typeface="Times New Roman" panose="02020603050405020304" pitchFamily="18" charset="0"/>
              </a:rPr>
              <a:t>, often too </a:t>
            </a:r>
            <a:r>
              <a:rPr lang="en-US" b="1" dirty="0">
                <a:latin typeface="Times New Roman" panose="02020603050405020304" pitchFamily="18" charset="0"/>
                <a:cs typeface="Times New Roman" panose="02020603050405020304" pitchFamily="18" charset="0"/>
              </a:rPr>
              <a:t>coarse-grained</a:t>
            </a:r>
            <a:r>
              <a:rPr lang="en-US" dirty="0">
                <a:latin typeface="Times New Roman" panose="02020603050405020304" pitchFamily="18" charset="0"/>
                <a:cs typeface="Times New Roman" panose="02020603050405020304" pitchFamily="18" charset="0"/>
              </a:rPr>
              <a:t> for enterprise needs.</a:t>
            </a:r>
          </a:p>
          <a:p>
            <a:pPr>
              <a:lnSpc>
                <a:spcPct val="150000"/>
              </a:lnSpc>
            </a:pPr>
            <a:r>
              <a:rPr lang="en-US" dirty="0">
                <a:latin typeface="Times New Roman" panose="02020603050405020304" pitchFamily="18" charset="0"/>
                <a:cs typeface="Times New Roman" panose="02020603050405020304" pitchFamily="18" charset="0"/>
              </a:rPr>
              <a:t>In practice, most CSPs support only </a:t>
            </a:r>
            <a:r>
              <a:rPr lang="en-US" b="1" dirty="0">
                <a:latin typeface="Times New Roman" panose="02020603050405020304" pitchFamily="18" charset="0"/>
                <a:cs typeface="Times New Roman" panose="02020603050405020304" pitchFamily="18" charset="0"/>
              </a:rPr>
              <a:t>two main roles</a:t>
            </a:r>
            <a:r>
              <a:rPr lang="en-US" dirty="0">
                <a:latin typeface="Times New Roman" panose="02020603050405020304" pitchFamily="18" charset="0"/>
                <a:cs typeface="Times New Roman" panose="02020603050405020304" pitchFamily="18" charset="0"/>
              </a:rPr>
              <a:t>:</a:t>
            </a:r>
          </a:p>
          <a:p>
            <a:pPr lvl="1">
              <a:lnSpc>
                <a:spcPct val="150000"/>
              </a:lnSpc>
            </a:pPr>
            <a:r>
              <a:rPr lang="en-US" b="1" dirty="0">
                <a:latin typeface="Times New Roman" panose="02020603050405020304" pitchFamily="18" charset="0"/>
                <a:cs typeface="Times New Roman" panose="02020603050405020304" pitchFamily="18" charset="0"/>
              </a:rPr>
              <a:t>Administrator</a:t>
            </a:r>
            <a:r>
              <a:rPr lang="en-US" dirty="0">
                <a:latin typeface="Times New Roman" panose="02020603050405020304" pitchFamily="18" charset="0"/>
                <a:cs typeface="Times New Roman" panose="02020603050405020304" pitchFamily="18" charset="0"/>
              </a:rPr>
              <a:t> – can manage user accounts, set limited access policies, and control basic system configurations.</a:t>
            </a:r>
          </a:p>
          <a:p>
            <a:pPr lvl="1">
              <a:lnSpc>
                <a:spcPct val="150000"/>
              </a:lnSpc>
            </a:pPr>
            <a:r>
              <a:rPr lang="en-US" b="1" dirty="0">
                <a:latin typeface="Times New Roman" panose="02020603050405020304" pitchFamily="18" charset="0"/>
                <a:cs typeface="Times New Roman" panose="02020603050405020304" pitchFamily="18" charset="0"/>
              </a:rPr>
              <a:t>End User</a:t>
            </a:r>
            <a:r>
              <a:rPr lang="en-US" dirty="0">
                <a:latin typeface="Times New Roman" panose="02020603050405020304" pitchFamily="18" charset="0"/>
                <a:cs typeface="Times New Roman" panose="02020603050405020304" pitchFamily="18" charset="0"/>
              </a:rPr>
              <a:t> – has access only to the services they use, with no administrative capabilities.</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77990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16DEA5-D9AA-C3B8-7CBD-25896BD98D30}"/>
              </a:ext>
            </a:extLst>
          </p:cNvPr>
          <p:cNvSpPr>
            <a:spLocks noGrp="1"/>
          </p:cNvSpPr>
          <p:nvPr>
            <p:ph type="body" idx="1"/>
          </p:nvPr>
        </p:nvSpPr>
        <p:spPr>
          <a:xfrm>
            <a:off x="415600" y="351295"/>
            <a:ext cx="11360800" cy="5740439"/>
          </a:xfrm>
        </p:spPr>
        <p:txBody>
          <a:bodyPr>
            <a:normAutofit fontScale="92500" lnSpcReduction="20000"/>
          </a:bodyPr>
          <a:lstStyle/>
          <a:p>
            <a:pPr marL="152396" indent="0" algn="just">
              <a:lnSpc>
                <a:spcPct val="110000"/>
              </a:lnSpc>
              <a:buNone/>
            </a:pPr>
            <a:r>
              <a:rPr lang="en-US" dirty="0">
                <a:latin typeface="Times New Roman" panose="02020603050405020304" pitchFamily="18" charset="0"/>
                <a:cs typeface="Times New Roman" panose="02020603050405020304" pitchFamily="18" charset="0"/>
              </a:rPr>
              <a:t>3.</a:t>
            </a:r>
            <a:r>
              <a:rPr lang="en-US" sz="3200" dirty="0">
                <a:latin typeface="Times New Roman" panose="02020603050405020304" pitchFamily="18" charset="0"/>
                <a:cs typeface="Times New Roman" panose="02020603050405020304" pitchFamily="18" charset="0"/>
              </a:rPr>
              <a:t> Typical Administrative Privileges</a:t>
            </a:r>
          </a:p>
          <a:p>
            <a:pPr algn="just">
              <a:lnSpc>
                <a:spcPct val="110000"/>
              </a:lnSpc>
            </a:pPr>
            <a:r>
              <a:rPr lang="en-US" sz="3200" dirty="0">
                <a:latin typeface="Times New Roman" panose="02020603050405020304" pitchFamily="18" charset="0"/>
                <a:cs typeface="Times New Roman" panose="02020603050405020304" pitchFamily="18" charset="0"/>
              </a:rPr>
              <a:t>Administrators usually have the ability to:</a:t>
            </a:r>
          </a:p>
          <a:p>
            <a:pPr lvl="1" algn="just">
              <a:lnSpc>
                <a:spcPct val="110000"/>
              </a:lnSpc>
            </a:pPr>
            <a:r>
              <a:rPr lang="en-US" sz="2400" dirty="0">
                <a:latin typeface="Times New Roman" panose="02020603050405020304" pitchFamily="18" charset="0"/>
                <a:cs typeface="Times New Roman" panose="02020603050405020304" pitchFamily="18" charset="0"/>
              </a:rPr>
              <a:t>Provision and deprovision identities (create or remove user accounts).</a:t>
            </a:r>
          </a:p>
          <a:p>
            <a:pPr lvl="1" algn="just">
              <a:lnSpc>
                <a:spcPct val="110000"/>
              </a:lnSpc>
            </a:pPr>
            <a:r>
              <a:rPr lang="en-US" sz="2400" dirty="0">
                <a:latin typeface="Times New Roman" panose="02020603050405020304" pitchFamily="18" charset="0"/>
                <a:cs typeface="Times New Roman" panose="02020603050405020304" pitchFamily="18" charset="0"/>
              </a:rPr>
              <a:t>Manage basic user profiles (e.g., attributes like name, email, department).</a:t>
            </a:r>
          </a:p>
          <a:p>
            <a:pPr lvl="1" algn="just">
              <a:lnSpc>
                <a:spcPct val="110000"/>
              </a:lnSpc>
            </a:pPr>
            <a:r>
              <a:rPr lang="en-US" sz="2400" dirty="0">
                <a:latin typeface="Times New Roman" panose="02020603050405020304" pitchFamily="18" charset="0"/>
                <a:cs typeface="Times New Roman" panose="02020603050405020304" pitchFamily="18" charset="0"/>
              </a:rPr>
              <a:t>Configure basic policies, such as password strength rules or trusted network restrictions.</a:t>
            </a:r>
          </a:p>
          <a:p>
            <a:pPr marL="152396" indent="0" algn="just">
              <a:lnSpc>
                <a:spcPct val="110000"/>
              </a:lnSpc>
              <a:buNone/>
            </a:pPr>
            <a:r>
              <a:rPr lang="en-US" sz="3200" dirty="0">
                <a:latin typeface="Times New Roman" panose="02020603050405020304" pitchFamily="18" charset="0"/>
                <a:cs typeface="Times New Roman" panose="02020603050405020304" pitchFamily="18" charset="0"/>
              </a:rPr>
              <a:t>4. XACML (</a:t>
            </a:r>
            <a:r>
              <a:rPr lang="en-US" sz="3200" dirty="0" err="1">
                <a:latin typeface="Times New Roman" panose="02020603050405020304" pitchFamily="18" charset="0"/>
                <a:cs typeface="Times New Roman" panose="02020603050405020304" pitchFamily="18" charset="0"/>
              </a:rPr>
              <a:t>eXtensible</a:t>
            </a:r>
            <a:r>
              <a:rPr lang="en-US" sz="3200" dirty="0">
                <a:latin typeface="Times New Roman" panose="02020603050405020304" pitchFamily="18" charset="0"/>
                <a:cs typeface="Times New Roman" panose="02020603050405020304" pitchFamily="18" charset="0"/>
              </a:rPr>
              <a:t> Access Control Markup Language)</a:t>
            </a:r>
          </a:p>
          <a:p>
            <a:pPr algn="just">
              <a:lnSpc>
                <a:spcPct val="110000"/>
              </a:lnSpc>
            </a:pPr>
            <a:r>
              <a:rPr lang="en-US" sz="3200" dirty="0">
                <a:latin typeface="Times New Roman" panose="02020603050405020304" pitchFamily="18" charset="0"/>
                <a:cs typeface="Times New Roman" panose="02020603050405020304" pitchFamily="18" charset="0"/>
              </a:rPr>
              <a:t>XACML is an industry standard for expressing fine-grained access control policies (who can access what, under which conditions).</a:t>
            </a:r>
          </a:p>
          <a:p>
            <a:pPr algn="just">
              <a:lnSpc>
                <a:spcPct val="110000"/>
              </a:lnSpc>
            </a:pPr>
            <a:r>
              <a:rPr lang="en-US" sz="3200" dirty="0">
                <a:latin typeface="Times New Roman" panose="02020603050405020304" pitchFamily="18" charset="0"/>
                <a:cs typeface="Times New Roman" panose="02020603050405020304" pitchFamily="18" charset="0"/>
              </a:rPr>
              <a:t>It enables policy-driven authorization and supports complex organizational requirements.</a:t>
            </a:r>
          </a:p>
          <a:p>
            <a:pPr algn="just">
              <a:lnSpc>
                <a:spcPct val="110000"/>
              </a:lnSpc>
            </a:pPr>
            <a:r>
              <a:rPr lang="en-US" sz="3200" dirty="0">
                <a:latin typeface="Times New Roman" panose="02020603050405020304" pitchFamily="18" charset="0"/>
                <a:cs typeface="Times New Roman" panose="02020603050405020304" pitchFamily="18" charset="0"/>
              </a:rPr>
              <a:t>However, as of now, most cloud providers do not support XACML for user authorization, leaving enterprises with limited policy enforcement options.</a:t>
            </a:r>
          </a:p>
        </p:txBody>
      </p:sp>
    </p:spTree>
    <p:extLst>
      <p:ext uri="{BB962C8B-B14F-4D97-AF65-F5344CB8AC3E}">
        <p14:creationId xmlns:p14="http://schemas.microsoft.com/office/powerpoint/2010/main" val="7879025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FA236-E452-2458-DAB7-2DC4BC762E86}"/>
              </a:ext>
            </a:extLst>
          </p:cNvPr>
          <p:cNvSpPr>
            <a:spLocks noGrp="1"/>
          </p:cNvSpPr>
          <p:nvPr>
            <p:ph type="title"/>
          </p:nvPr>
        </p:nvSpPr>
        <p:spPr/>
        <p:txBody>
          <a:bodyPr>
            <a:normAutofit/>
          </a:bodyPr>
          <a:lstStyle/>
          <a:p>
            <a:r>
              <a:rPr lang="en-US" dirty="0"/>
              <a:t>IAM Support for Compliance Management[5]</a:t>
            </a:r>
          </a:p>
        </p:txBody>
      </p:sp>
      <p:sp>
        <p:nvSpPr>
          <p:cNvPr id="3" name="Text Placeholder 2">
            <a:extLst>
              <a:ext uri="{FF2B5EF4-FFF2-40B4-BE49-F238E27FC236}">
                <a16:creationId xmlns:a16="http://schemas.microsoft.com/office/drawing/2014/main" id="{C0E719BF-B67B-EE79-82A6-A9C8558A4027}"/>
              </a:ext>
            </a:extLst>
          </p:cNvPr>
          <p:cNvSpPr>
            <a:spLocks noGrp="1"/>
          </p:cNvSpPr>
          <p:nvPr>
            <p:ph type="body" idx="1"/>
          </p:nvPr>
        </p:nvSpPr>
        <p:spPr/>
        <p:txBody>
          <a:bodyPr/>
          <a:lstStyle/>
          <a:p>
            <a:pPr marL="152396" indent="0">
              <a:buNone/>
            </a:pPr>
            <a:r>
              <a:rPr lang="en-US" b="1" dirty="0"/>
              <a:t>1. IAM’s Role in Compliance</a:t>
            </a:r>
            <a:endParaRPr lang="en-US" dirty="0"/>
          </a:p>
          <a:p>
            <a:r>
              <a:rPr lang="en-US" b="1" dirty="0"/>
              <a:t>Identity and Access Management (IAM)</a:t>
            </a:r>
            <a:r>
              <a:rPr lang="en-US" dirty="0"/>
              <a:t> isn’t just about controlling access—it is also a </a:t>
            </a:r>
            <a:r>
              <a:rPr lang="en-US" b="1" dirty="0"/>
              <a:t>compliance enabler</a:t>
            </a:r>
            <a:r>
              <a:rPr lang="en-US" dirty="0"/>
              <a:t>.</a:t>
            </a:r>
          </a:p>
          <a:p>
            <a:r>
              <a:rPr lang="en-US" dirty="0"/>
              <a:t>Many compliance frameworks (like </a:t>
            </a:r>
            <a:r>
              <a:rPr lang="en-US" b="1" dirty="0"/>
              <a:t>GDPR, HIPAA, SOX, ISO 27001</a:t>
            </a:r>
            <a:r>
              <a:rPr lang="en-US" dirty="0"/>
              <a:t>) require strong access controls and auditability.</a:t>
            </a:r>
          </a:p>
          <a:p>
            <a:r>
              <a:rPr lang="en-US" dirty="0"/>
              <a:t>A well-implemented IAM system helps ensure that the </a:t>
            </a:r>
            <a:r>
              <a:rPr lang="en-US" b="1" dirty="0"/>
              <a:t>right people</a:t>
            </a:r>
            <a:r>
              <a:rPr lang="en-US" dirty="0"/>
              <a:t> have the </a:t>
            </a:r>
            <a:r>
              <a:rPr lang="en-US" b="1" dirty="0"/>
              <a:t>right access</a:t>
            </a:r>
            <a:r>
              <a:rPr lang="en-US" dirty="0"/>
              <a:t> at the </a:t>
            </a:r>
            <a:r>
              <a:rPr lang="en-US" b="1" dirty="0"/>
              <a:t>right time</a:t>
            </a:r>
            <a:r>
              <a:rPr lang="en-US" dirty="0"/>
              <a:t>—and that this can be proven during an audit.</a:t>
            </a:r>
          </a:p>
          <a:p>
            <a:endParaRPr lang="en-US" dirty="0"/>
          </a:p>
        </p:txBody>
      </p:sp>
    </p:spTree>
    <p:extLst>
      <p:ext uri="{BB962C8B-B14F-4D97-AF65-F5344CB8AC3E}">
        <p14:creationId xmlns:p14="http://schemas.microsoft.com/office/powerpoint/2010/main" val="10285634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27EB9-F9D9-49AA-7DB6-0A60E9CA6BC3}"/>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C7D3AC22-D1FD-D0D4-F936-758DC2B86E1E}"/>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6CBAC54E-3DA6-E27F-5D71-F1CD2D5A6A37}"/>
              </a:ext>
            </a:extLst>
          </p:cNvPr>
          <p:cNvPicPr>
            <a:picLocks noChangeAspect="1"/>
          </p:cNvPicPr>
          <p:nvPr/>
        </p:nvPicPr>
        <p:blipFill>
          <a:blip r:embed="rId2"/>
          <a:stretch>
            <a:fillRect/>
          </a:stretch>
        </p:blipFill>
        <p:spPr>
          <a:xfrm>
            <a:off x="415601" y="766267"/>
            <a:ext cx="11360799" cy="4265516"/>
          </a:xfrm>
          <a:prstGeom prst="rect">
            <a:avLst/>
          </a:prstGeom>
        </p:spPr>
      </p:pic>
    </p:spTree>
    <p:extLst>
      <p:ext uri="{BB962C8B-B14F-4D97-AF65-F5344CB8AC3E}">
        <p14:creationId xmlns:p14="http://schemas.microsoft.com/office/powerpoint/2010/main" val="40491109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89583-A2A1-9C7B-616A-31777729A479}"/>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A4FD0FE6-572F-218C-D583-EBAFF5F6C913}"/>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2DE8E2C1-3254-DBA9-1095-706A16F7F47D}"/>
              </a:ext>
            </a:extLst>
          </p:cNvPr>
          <p:cNvPicPr>
            <a:picLocks noChangeAspect="1"/>
          </p:cNvPicPr>
          <p:nvPr/>
        </p:nvPicPr>
        <p:blipFill>
          <a:blip r:embed="rId2"/>
          <a:stretch>
            <a:fillRect/>
          </a:stretch>
        </p:blipFill>
        <p:spPr>
          <a:xfrm>
            <a:off x="537275" y="1671168"/>
            <a:ext cx="11239125" cy="4011544"/>
          </a:xfrm>
          <a:prstGeom prst="rect">
            <a:avLst/>
          </a:prstGeom>
        </p:spPr>
      </p:pic>
    </p:spTree>
    <p:extLst>
      <p:ext uri="{BB962C8B-B14F-4D97-AF65-F5344CB8AC3E}">
        <p14:creationId xmlns:p14="http://schemas.microsoft.com/office/powerpoint/2010/main" val="27074274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68CD7-4867-2613-F24A-45E47DA01D99}"/>
              </a:ext>
            </a:extLst>
          </p:cNvPr>
          <p:cNvSpPr>
            <a:spLocks noGrp="1"/>
          </p:cNvSpPr>
          <p:nvPr>
            <p:ph type="title"/>
          </p:nvPr>
        </p:nvSpPr>
        <p:spPr/>
        <p:txBody>
          <a:bodyPr>
            <a:normAutofit/>
          </a:bodyPr>
          <a:lstStyle/>
          <a:p>
            <a:endParaRPr lang="en-US" dirty="0"/>
          </a:p>
        </p:txBody>
      </p:sp>
      <p:sp>
        <p:nvSpPr>
          <p:cNvPr id="3" name="Text Placeholder 2">
            <a:extLst>
              <a:ext uri="{FF2B5EF4-FFF2-40B4-BE49-F238E27FC236}">
                <a16:creationId xmlns:a16="http://schemas.microsoft.com/office/drawing/2014/main" id="{D04EDF34-AE07-951D-D5C2-F2EF92D17D5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A4CCD075-899F-677E-EEF6-2D6D34AF42A0}"/>
              </a:ext>
            </a:extLst>
          </p:cNvPr>
          <p:cNvPicPr>
            <a:picLocks noChangeAspect="1"/>
          </p:cNvPicPr>
          <p:nvPr/>
        </p:nvPicPr>
        <p:blipFill>
          <a:blip r:embed="rId2"/>
          <a:stretch>
            <a:fillRect/>
          </a:stretch>
        </p:blipFill>
        <p:spPr>
          <a:xfrm>
            <a:off x="415600" y="960896"/>
            <a:ext cx="11360800" cy="4876800"/>
          </a:xfrm>
          <a:prstGeom prst="rect">
            <a:avLst/>
          </a:prstGeom>
        </p:spPr>
      </p:pic>
    </p:spTree>
    <p:extLst>
      <p:ext uri="{BB962C8B-B14F-4D97-AF65-F5344CB8AC3E}">
        <p14:creationId xmlns:p14="http://schemas.microsoft.com/office/powerpoint/2010/main" val="9172100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A3CAA-3F3D-1670-BE80-1149AAE39E89}"/>
              </a:ext>
            </a:extLst>
          </p:cNvPr>
          <p:cNvSpPr>
            <a:spLocks noGrp="1"/>
          </p:cNvSpPr>
          <p:nvPr>
            <p:ph type="title"/>
          </p:nvPr>
        </p:nvSpPr>
        <p:spPr/>
        <p:txBody>
          <a:bodyPr>
            <a:normAutofit/>
          </a:bodyPr>
          <a:lstStyle/>
          <a:p>
            <a:r>
              <a:rPr lang="en-US" dirty="0"/>
              <a:t>Cloud Service Provider IAM Practices</a:t>
            </a:r>
          </a:p>
        </p:txBody>
      </p:sp>
      <p:sp>
        <p:nvSpPr>
          <p:cNvPr id="3" name="Text Placeholder 2">
            <a:extLst>
              <a:ext uri="{FF2B5EF4-FFF2-40B4-BE49-F238E27FC236}">
                <a16:creationId xmlns:a16="http://schemas.microsoft.com/office/drawing/2014/main" id="{037346EE-63AE-CE33-FF52-22667ACDF60B}"/>
              </a:ext>
            </a:extLst>
          </p:cNvPr>
          <p:cNvSpPr>
            <a:spLocks noGrp="1"/>
          </p:cNvSpPr>
          <p:nvPr>
            <p:ph type="body" idx="1"/>
          </p:nvPr>
        </p:nvSpPr>
        <p:spPr/>
        <p:txBody>
          <a:bodyPr>
            <a:normAutofit/>
          </a:bodyPr>
          <a:lstStyle/>
          <a:p>
            <a:pPr marL="152396" indent="0">
              <a:buNone/>
            </a:pPr>
            <a:r>
              <a:rPr lang="en-US" b="1" dirty="0"/>
              <a:t>1. IAM as a Design Requirement for CSPs</a:t>
            </a:r>
          </a:p>
          <a:p>
            <a:r>
              <a:rPr lang="en-US" b="1" dirty="0"/>
              <a:t>CSPs (SaaS, PaaS, IaaS)</a:t>
            </a:r>
            <a:r>
              <a:rPr lang="en-US" dirty="0"/>
              <a:t> should </a:t>
            </a:r>
            <a:r>
              <a:rPr lang="en-US" b="1" dirty="0"/>
              <a:t>embed IAM features</a:t>
            </a:r>
            <a:r>
              <a:rPr lang="en-US" dirty="0"/>
              <a:t> into the service design from the start.</a:t>
            </a:r>
          </a:p>
          <a:p>
            <a:r>
              <a:rPr lang="en-US" dirty="0"/>
              <a:t>Goal: Allow customers to manage </a:t>
            </a:r>
            <a:r>
              <a:rPr lang="en-US" b="1" dirty="0"/>
              <a:t>user authentication and authorization</a:t>
            </a:r>
            <a:r>
              <a:rPr lang="en-US" dirty="0"/>
              <a:t> through federation and user management standards.</a:t>
            </a:r>
          </a:p>
          <a:p>
            <a:r>
              <a:rPr lang="en-US" dirty="0"/>
              <a:t>Early IAM integration helps both:</a:t>
            </a:r>
          </a:p>
          <a:p>
            <a:pPr lvl="1"/>
            <a:r>
              <a:rPr lang="en-US" b="1" dirty="0"/>
              <a:t>Customers</a:t>
            </a:r>
            <a:r>
              <a:rPr lang="en-US" dirty="0"/>
              <a:t> – easier adoption (single sign-on, account provisioning).</a:t>
            </a:r>
          </a:p>
          <a:p>
            <a:pPr lvl="1"/>
            <a:r>
              <a:rPr lang="en-US" b="1" dirty="0"/>
              <a:t>CSPs</a:t>
            </a:r>
            <a:r>
              <a:rPr lang="en-US" dirty="0"/>
              <a:t> – smoother billing, accounting, and resource usage tracking.</a:t>
            </a:r>
          </a:p>
          <a:p>
            <a:r>
              <a:rPr lang="en-US" dirty="0"/>
              <a:t>If IAM is added later → costly retrofits.</a:t>
            </a:r>
          </a:p>
          <a:p>
            <a:r>
              <a:rPr lang="en-US" dirty="0"/>
              <a:t>Best practice: </a:t>
            </a:r>
            <a:r>
              <a:rPr lang="en-US" b="1" dirty="0"/>
              <a:t>Externalize authentication</a:t>
            </a:r>
            <a:r>
              <a:rPr lang="en-US" dirty="0"/>
              <a:t> from applications (e.g., use federation standards instead of custom login modules).</a:t>
            </a:r>
          </a:p>
          <a:p>
            <a:endParaRPr lang="en-US" dirty="0"/>
          </a:p>
        </p:txBody>
      </p:sp>
    </p:spTree>
    <p:extLst>
      <p:ext uri="{BB962C8B-B14F-4D97-AF65-F5344CB8AC3E}">
        <p14:creationId xmlns:p14="http://schemas.microsoft.com/office/powerpoint/2010/main" val="41471851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C519E-F31A-30FA-7FDD-ED2D05B51E91}"/>
              </a:ext>
            </a:extLst>
          </p:cNvPr>
          <p:cNvSpPr>
            <a:spLocks noGrp="1"/>
          </p:cNvSpPr>
          <p:nvPr>
            <p:ph type="title"/>
          </p:nvPr>
        </p:nvSpPr>
        <p:spPr/>
        <p:txBody>
          <a:bodyPr>
            <a:normAutofit fontScale="90000"/>
          </a:bodyPr>
          <a:lstStyle/>
          <a:p>
            <a:r>
              <a:rPr lang="en-US" b="1" dirty="0"/>
              <a:t>IAM Requirements in the Cloud[4]</a:t>
            </a:r>
            <a:br>
              <a:rPr lang="en-US" b="1" dirty="0"/>
            </a:br>
            <a:endParaRPr lang="en-US" dirty="0"/>
          </a:p>
        </p:txBody>
      </p:sp>
      <p:sp>
        <p:nvSpPr>
          <p:cNvPr id="3" name="Text Placeholder 2">
            <a:extLst>
              <a:ext uri="{FF2B5EF4-FFF2-40B4-BE49-F238E27FC236}">
                <a16:creationId xmlns:a16="http://schemas.microsoft.com/office/drawing/2014/main" id="{C57D21E8-128A-AD6B-F1A9-6F6A6EB81927}"/>
              </a:ext>
            </a:extLst>
          </p:cNvPr>
          <p:cNvSpPr>
            <a:spLocks noGrp="1"/>
          </p:cNvSpPr>
          <p:nvPr>
            <p:ph type="body" idx="1"/>
          </p:nvPr>
        </p:nvSpPr>
        <p:spPr/>
        <p:txBody>
          <a:bodyPr/>
          <a:lstStyle/>
          <a:p>
            <a:pPr marL="152396" indent="0">
              <a:buNone/>
            </a:pPr>
            <a:r>
              <a:rPr lang="en-US" b="1" dirty="0"/>
              <a:t>1. Provisioning</a:t>
            </a:r>
            <a:endParaRPr lang="en-US" dirty="0"/>
          </a:p>
          <a:p>
            <a:pPr lvl="1"/>
            <a:r>
              <a:rPr lang="en-US" dirty="0"/>
              <a:t>Users (including admins) must have cloud accounts provisioned automatically.</a:t>
            </a:r>
          </a:p>
          <a:p>
            <a:pPr lvl="1"/>
            <a:r>
              <a:rPr lang="en-US" dirty="0"/>
              <a:t>Service-to-service integration (e.g., private cloud ↔ public cloud) must also support provisioning.</a:t>
            </a:r>
          </a:p>
          <a:p>
            <a:pPr marL="152396" indent="0">
              <a:buNone/>
            </a:pPr>
            <a:r>
              <a:rPr lang="en-US" b="1" dirty="0"/>
              <a:t>2. Single Sign-On (SSO)</a:t>
            </a:r>
            <a:endParaRPr lang="en-US" dirty="0"/>
          </a:p>
          <a:p>
            <a:pPr lvl="1"/>
            <a:r>
              <a:rPr lang="en-US" dirty="0"/>
              <a:t>Should be based on </a:t>
            </a:r>
            <a:r>
              <a:rPr lang="en-US" b="1" dirty="0"/>
              <a:t>federation standards</a:t>
            </a:r>
            <a:r>
              <a:rPr lang="en-US" dirty="0"/>
              <a:t> (e.g., </a:t>
            </a:r>
            <a:r>
              <a:rPr lang="en-US" b="1" dirty="0"/>
              <a:t>SAML, OpenID Connect</a:t>
            </a:r>
            <a:r>
              <a:rPr lang="en-US" dirty="0"/>
              <a:t>).</a:t>
            </a:r>
          </a:p>
          <a:p>
            <a:pPr lvl="1"/>
            <a:r>
              <a:rPr lang="en-US" dirty="0"/>
              <a:t>Enables seamless user experience across multiple apps/clouds.</a:t>
            </a:r>
          </a:p>
          <a:p>
            <a:endParaRPr lang="en-US" dirty="0"/>
          </a:p>
        </p:txBody>
      </p:sp>
    </p:spTree>
    <p:extLst>
      <p:ext uri="{BB962C8B-B14F-4D97-AF65-F5344CB8AC3E}">
        <p14:creationId xmlns:p14="http://schemas.microsoft.com/office/powerpoint/2010/main" val="6564063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2697-398C-15D3-9DDA-4008AC61C43E}"/>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7A7CFC23-FD0C-EB16-4854-4EEF5F1F1586}"/>
              </a:ext>
            </a:extLst>
          </p:cNvPr>
          <p:cNvSpPr>
            <a:spLocks noGrp="1"/>
          </p:cNvSpPr>
          <p:nvPr>
            <p:ph type="body" idx="1"/>
          </p:nvPr>
        </p:nvSpPr>
        <p:spPr/>
        <p:txBody>
          <a:bodyPr/>
          <a:lstStyle/>
          <a:p>
            <a:pPr marL="152396" indent="0">
              <a:buNone/>
            </a:pPr>
            <a:r>
              <a:rPr lang="en-US" b="1" dirty="0"/>
              <a:t>3. Compliance &amp; Access Control</a:t>
            </a:r>
            <a:endParaRPr lang="en-US" dirty="0"/>
          </a:p>
          <a:p>
            <a:pPr lvl="1"/>
            <a:r>
              <a:rPr lang="en-US" dirty="0"/>
              <a:t>IAM must support </a:t>
            </a:r>
            <a:r>
              <a:rPr lang="en-US" b="1" dirty="0"/>
              <a:t>regulatory compliance</a:t>
            </a:r>
            <a:r>
              <a:rPr lang="en-US" dirty="0"/>
              <a:t> (SOX, PCI, HIPAA).</a:t>
            </a:r>
          </a:p>
          <a:p>
            <a:pPr lvl="1"/>
            <a:r>
              <a:rPr lang="en-US" b="1" dirty="0"/>
              <a:t>RBAC (Role-Based Access Control)</a:t>
            </a:r>
            <a:r>
              <a:rPr lang="en-US" dirty="0"/>
              <a:t> → grants minimum required privileges (least privilege model).</a:t>
            </a:r>
          </a:p>
          <a:p>
            <a:pPr lvl="1"/>
            <a:r>
              <a:rPr lang="en-US" b="1" dirty="0"/>
              <a:t>Claims-based authentication</a:t>
            </a:r>
            <a:r>
              <a:rPr lang="en-US" dirty="0"/>
              <a:t> → only </a:t>
            </a:r>
            <a:r>
              <a:rPr lang="en-US" b="1" dirty="0"/>
              <a:t>entitlements</a:t>
            </a:r>
            <a:r>
              <a:rPr lang="en-US" dirty="0"/>
              <a:t> (not full user identity) are passed.</a:t>
            </a:r>
          </a:p>
          <a:p>
            <a:pPr lvl="2"/>
            <a:r>
              <a:rPr lang="en-US" dirty="0"/>
              <a:t>Example: Instead of sending “Alice Smith, HR Manager,” the system sends “Role: HR, Permission: View Payroll.”</a:t>
            </a:r>
          </a:p>
          <a:p>
            <a:pPr lvl="2"/>
            <a:r>
              <a:rPr lang="en-US" dirty="0"/>
              <a:t>This supports </a:t>
            </a:r>
            <a:r>
              <a:rPr lang="en-US" b="1" dirty="0"/>
              <a:t>privacy</a:t>
            </a:r>
            <a:r>
              <a:rPr lang="en-US" dirty="0"/>
              <a:t> and </a:t>
            </a:r>
            <a:r>
              <a:rPr lang="en-US" b="1" dirty="0"/>
              <a:t>fine-grained authorization</a:t>
            </a:r>
            <a:r>
              <a:rPr lang="en-US" dirty="0"/>
              <a:t>.</a:t>
            </a:r>
          </a:p>
          <a:p>
            <a:pPr marL="152396" indent="0">
              <a:buNone/>
            </a:pPr>
            <a:r>
              <a:rPr lang="en-US" b="1" dirty="0"/>
              <a:t>4. User Activity Monitoring &amp; Auditing</a:t>
            </a:r>
            <a:endParaRPr lang="en-US" dirty="0"/>
          </a:p>
          <a:p>
            <a:pPr lvl="1"/>
            <a:r>
              <a:rPr lang="en-US" dirty="0"/>
              <a:t>Logging, monitoring, and reporting of user activity are mandatory.</a:t>
            </a:r>
          </a:p>
          <a:p>
            <a:pPr lvl="1"/>
            <a:r>
              <a:rPr lang="en-US" dirty="0"/>
              <a:t>Helps meet internal security policies and external regulatory requirements.</a:t>
            </a:r>
          </a:p>
          <a:p>
            <a:pPr lvl="1"/>
            <a:r>
              <a:rPr lang="en-US" dirty="0"/>
              <a:t>Example: Audit trails for HIPAA or PCI compliance.</a:t>
            </a:r>
          </a:p>
          <a:p>
            <a:endParaRPr lang="en-US" dirty="0"/>
          </a:p>
        </p:txBody>
      </p:sp>
    </p:spTree>
    <p:extLst>
      <p:ext uri="{BB962C8B-B14F-4D97-AF65-F5344CB8AC3E}">
        <p14:creationId xmlns:p14="http://schemas.microsoft.com/office/powerpoint/2010/main" val="18114252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4157F-DC02-914F-20EE-312D9E74AB67}"/>
              </a:ext>
            </a:extLst>
          </p:cNvPr>
          <p:cNvSpPr>
            <a:spLocks noGrp="1"/>
          </p:cNvSpPr>
          <p:nvPr>
            <p:ph type="title"/>
          </p:nvPr>
        </p:nvSpPr>
        <p:spPr/>
        <p:txBody>
          <a:bodyPr>
            <a:normAutofit fontScale="90000"/>
          </a:bodyPr>
          <a:lstStyle/>
          <a:p>
            <a:r>
              <a:rPr lang="en-US" sz="2667" b="1" dirty="0"/>
              <a:t>SaaS Identity and Access Management (IAM) Responsibilities</a:t>
            </a:r>
            <a:br>
              <a:rPr lang="en-US" b="1" dirty="0"/>
            </a:br>
            <a:endParaRPr lang="en-US" dirty="0"/>
          </a:p>
        </p:txBody>
      </p:sp>
      <p:sp>
        <p:nvSpPr>
          <p:cNvPr id="3" name="Text Placeholder 2">
            <a:extLst>
              <a:ext uri="{FF2B5EF4-FFF2-40B4-BE49-F238E27FC236}">
                <a16:creationId xmlns:a16="http://schemas.microsoft.com/office/drawing/2014/main" id="{48E99C13-E78F-9473-2559-F80C62E0E332}"/>
              </a:ext>
            </a:extLst>
          </p:cNvPr>
          <p:cNvSpPr>
            <a:spLocks noGrp="1"/>
          </p:cNvSpPr>
          <p:nvPr>
            <p:ph type="body" idx="1"/>
          </p:nvPr>
        </p:nvSpPr>
        <p:spPr/>
        <p:txBody>
          <a:bodyPr>
            <a:normAutofit/>
          </a:bodyPr>
          <a:lstStyle/>
          <a:p>
            <a:pPr marL="152396" indent="0">
              <a:buNone/>
            </a:pPr>
            <a:r>
              <a:rPr lang="en-US" b="1" dirty="0"/>
              <a:t>[1]  Key Security Concerns in SaaS</a:t>
            </a:r>
          </a:p>
          <a:p>
            <a:pPr algn="just"/>
            <a:r>
              <a:rPr lang="en-US" b="1" dirty="0"/>
              <a:t>Security Management ----</a:t>
            </a:r>
            <a:r>
              <a:rPr lang="en-US" dirty="0"/>
              <a:t>A top concern for IT and business leaders when adopting SaaS.</a:t>
            </a:r>
          </a:p>
          <a:p>
            <a:pPr algn="just"/>
            <a:r>
              <a:rPr lang="en-US" b="1" dirty="0"/>
              <a:t>Operational Security vs. Access Control---</a:t>
            </a:r>
            <a:r>
              <a:rPr lang="en-US" dirty="0"/>
              <a:t>While most SaaS vendors ensure operational security, organizations must address </a:t>
            </a:r>
            <a:r>
              <a:rPr lang="en-US" b="1" dirty="0"/>
              <a:t>access control</a:t>
            </a:r>
            <a:r>
              <a:rPr lang="en-US" dirty="0"/>
              <a:t> to align with internal policies and compliance.</a:t>
            </a:r>
          </a:p>
          <a:p>
            <a:pPr algn="just"/>
            <a:r>
              <a:rPr lang="en-US" b="1" dirty="0"/>
              <a:t>Shadow IT Risk---</a:t>
            </a:r>
            <a:r>
              <a:rPr lang="en-US" dirty="0"/>
              <a:t>Business units may bypass IT and directly purchase SaaS, causing loss of visibility and control.</a:t>
            </a:r>
          </a:p>
          <a:p>
            <a:pPr algn="just"/>
            <a:r>
              <a:rPr lang="en-US" b="1" dirty="0"/>
              <a:t>Access Management Requirement----</a:t>
            </a:r>
            <a:r>
              <a:rPr lang="en-US" dirty="0"/>
              <a:t>IT must ensure </a:t>
            </a:r>
            <a:r>
              <a:rPr lang="en-US" b="1" dirty="0"/>
              <a:t>right users → right access → right time</a:t>
            </a:r>
            <a:r>
              <a:rPr lang="en-US" dirty="0"/>
              <a:t>.</a:t>
            </a:r>
          </a:p>
          <a:p>
            <a:endParaRPr lang="en-US" dirty="0"/>
          </a:p>
        </p:txBody>
      </p:sp>
    </p:spTree>
    <p:extLst>
      <p:ext uri="{BB962C8B-B14F-4D97-AF65-F5344CB8AC3E}">
        <p14:creationId xmlns:p14="http://schemas.microsoft.com/office/powerpoint/2010/main" val="18994994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1FA9-401F-4CDA-E28D-B89E50CD8D25}"/>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E5D1D066-A83A-5AE8-F671-E23426C5D428}"/>
              </a:ext>
            </a:extLst>
          </p:cNvPr>
          <p:cNvSpPr>
            <a:spLocks noGrp="1"/>
          </p:cNvSpPr>
          <p:nvPr>
            <p:ph type="body" idx="1"/>
          </p:nvPr>
        </p:nvSpPr>
        <p:spPr/>
        <p:txBody>
          <a:bodyPr/>
          <a:lstStyle/>
          <a:p>
            <a:pPr marL="152396" indent="0">
              <a:buNone/>
            </a:pPr>
            <a:r>
              <a:rPr lang="en-US" b="1" dirty="0"/>
              <a:t>[2]  IAM Challenges for Organizations</a:t>
            </a:r>
          </a:p>
          <a:p>
            <a:r>
              <a:rPr lang="en-US" b="1" dirty="0"/>
              <a:t>Provisioning &amp; Life Cycle Extension</a:t>
            </a:r>
            <a:endParaRPr lang="en-US" dirty="0"/>
          </a:p>
          <a:p>
            <a:pPr lvl="1"/>
            <a:r>
              <a:rPr lang="en-US" dirty="0"/>
              <a:t>Can the organization extend its existing IAM practices to SaaS services?</a:t>
            </a:r>
          </a:p>
          <a:p>
            <a:r>
              <a:rPr lang="en-US" b="1" dirty="0"/>
              <a:t>SaaS Provider IAM Capabilities</a:t>
            </a:r>
            <a:endParaRPr lang="en-US" dirty="0"/>
          </a:p>
          <a:p>
            <a:pPr lvl="1"/>
            <a:r>
              <a:rPr lang="en-US" dirty="0"/>
              <a:t>Does the SaaS provider support automated provisioning and life cycle management, or is a </a:t>
            </a:r>
            <a:r>
              <a:rPr lang="en-US" b="1" dirty="0"/>
              <a:t>custom solution</a:t>
            </a:r>
            <a:r>
              <a:rPr lang="en-US" dirty="0"/>
              <a:t> needed?</a:t>
            </a:r>
          </a:p>
          <a:p>
            <a:endParaRPr lang="en-US" dirty="0"/>
          </a:p>
        </p:txBody>
      </p:sp>
    </p:spTree>
    <p:extLst>
      <p:ext uri="{BB962C8B-B14F-4D97-AF65-F5344CB8AC3E}">
        <p14:creationId xmlns:p14="http://schemas.microsoft.com/office/powerpoint/2010/main" val="30408645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5DD9-7E51-1101-4FE7-B29022428C0B}"/>
              </a:ext>
            </a:extLst>
          </p:cNvPr>
          <p:cNvSpPr>
            <a:spLocks noGrp="1"/>
          </p:cNvSpPr>
          <p:nvPr>
            <p:ph type="title"/>
          </p:nvPr>
        </p:nvSpPr>
        <p:spPr>
          <a:xfrm>
            <a:off x="415600" y="593367"/>
            <a:ext cx="11360800" cy="284871"/>
          </a:xfrm>
        </p:spPr>
        <p:txBody>
          <a:bodyPr>
            <a:noAutofit/>
          </a:bodyPr>
          <a:lstStyle/>
          <a:p>
            <a:r>
              <a:rPr lang="en-US" sz="3200" b="1" dirty="0"/>
              <a:t>Customer Responsibilities in SaaS IAM</a:t>
            </a:r>
            <a:br>
              <a:rPr lang="en-US" sz="3200" b="1" dirty="0"/>
            </a:br>
            <a:endParaRPr lang="en-US" sz="3200" dirty="0"/>
          </a:p>
        </p:txBody>
      </p:sp>
      <p:sp>
        <p:nvSpPr>
          <p:cNvPr id="3" name="Text Placeholder 2">
            <a:extLst>
              <a:ext uri="{FF2B5EF4-FFF2-40B4-BE49-F238E27FC236}">
                <a16:creationId xmlns:a16="http://schemas.microsoft.com/office/drawing/2014/main" id="{38DFE03B-C544-B1FA-45CA-130F22EA3A62}"/>
              </a:ext>
            </a:extLst>
          </p:cNvPr>
          <p:cNvSpPr>
            <a:spLocks noGrp="1"/>
          </p:cNvSpPr>
          <p:nvPr>
            <p:ph type="body" idx="1"/>
          </p:nvPr>
        </p:nvSpPr>
        <p:spPr>
          <a:xfrm>
            <a:off x="415600" y="1332855"/>
            <a:ext cx="11360800" cy="5217763"/>
          </a:xfrm>
        </p:spPr>
        <p:txBody>
          <a:bodyPr>
            <a:normAutofit lnSpcReduction="10000"/>
          </a:bodyPr>
          <a:lstStyle/>
          <a:p>
            <a:r>
              <a:rPr lang="en-US" sz="2667" b="1" dirty="0">
                <a:latin typeface="Times New Roman" panose="02020603050405020304" pitchFamily="18" charset="0"/>
                <a:cs typeface="Times New Roman" panose="02020603050405020304" pitchFamily="18" charset="0"/>
              </a:rPr>
              <a:t>User Provisioning</a:t>
            </a:r>
            <a:endParaRPr lang="en-US" sz="2667" dirty="0">
              <a:latin typeface="Times New Roman" panose="02020603050405020304" pitchFamily="18" charset="0"/>
              <a:cs typeface="Times New Roman" panose="02020603050405020304" pitchFamily="18" charset="0"/>
            </a:endParaRPr>
          </a:p>
          <a:p>
            <a:pPr lvl="1"/>
            <a:r>
              <a:rPr lang="en-US" sz="2133" dirty="0">
                <a:latin typeface="Times New Roman" panose="02020603050405020304" pitchFamily="18" charset="0"/>
                <a:cs typeface="Times New Roman" panose="02020603050405020304" pitchFamily="18" charset="0"/>
              </a:rPr>
              <a:t>Methods vary by provider (manual uploads, bulk spreadsheets, XML, just-in-time provisioning via SPML).</a:t>
            </a:r>
          </a:p>
          <a:p>
            <a:r>
              <a:rPr lang="en-US" sz="2667" b="1" dirty="0">
                <a:latin typeface="Times New Roman" panose="02020603050405020304" pitchFamily="18" charset="0"/>
                <a:cs typeface="Times New Roman" panose="02020603050405020304" pitchFamily="18" charset="0"/>
              </a:rPr>
              <a:t>Profile Management</a:t>
            </a:r>
            <a:endParaRPr lang="en-US" sz="2667" dirty="0">
              <a:latin typeface="Times New Roman" panose="02020603050405020304" pitchFamily="18" charset="0"/>
              <a:cs typeface="Times New Roman" panose="02020603050405020304" pitchFamily="18" charset="0"/>
            </a:endParaRPr>
          </a:p>
          <a:p>
            <a:pPr lvl="1"/>
            <a:r>
              <a:rPr lang="en-US" sz="2133" dirty="0">
                <a:latin typeface="Times New Roman" panose="02020603050405020304" pitchFamily="18" charset="0"/>
                <a:cs typeface="Times New Roman" panose="02020603050405020304" pitchFamily="18" charset="0"/>
              </a:rPr>
              <a:t>Creation of roles (e.g., </a:t>
            </a:r>
            <a:r>
              <a:rPr lang="en-US" sz="2133" i="1" dirty="0">
                <a:latin typeface="Times New Roman" panose="02020603050405020304" pitchFamily="18" charset="0"/>
                <a:cs typeface="Times New Roman" panose="02020603050405020304" pitchFamily="18" charset="0"/>
              </a:rPr>
              <a:t>user</a:t>
            </a:r>
            <a:r>
              <a:rPr lang="en-US" sz="2133" dirty="0">
                <a:latin typeface="Times New Roman" panose="02020603050405020304" pitchFamily="18" charset="0"/>
                <a:cs typeface="Times New Roman" panose="02020603050405020304" pitchFamily="18" charset="0"/>
              </a:rPr>
              <a:t>, </a:t>
            </a:r>
            <a:r>
              <a:rPr lang="en-US" sz="2133" i="1" dirty="0">
                <a:latin typeface="Times New Roman" panose="02020603050405020304" pitchFamily="18" charset="0"/>
                <a:cs typeface="Times New Roman" panose="02020603050405020304" pitchFamily="18" charset="0"/>
              </a:rPr>
              <a:t>manager</a:t>
            </a:r>
            <a:r>
              <a:rPr lang="en-US" sz="2133" dirty="0">
                <a:latin typeface="Times New Roman" panose="02020603050405020304" pitchFamily="18" charset="0"/>
                <a:cs typeface="Times New Roman" panose="02020603050405020304" pitchFamily="18" charset="0"/>
              </a:rPr>
              <a:t>) to manage entitlements. Often basic and less flexible.</a:t>
            </a:r>
          </a:p>
          <a:p>
            <a:r>
              <a:rPr lang="en-US" sz="2667" b="1" dirty="0">
                <a:latin typeface="Times New Roman" panose="02020603050405020304" pitchFamily="18" charset="0"/>
                <a:cs typeface="Times New Roman" panose="02020603050405020304" pitchFamily="18" charset="0"/>
              </a:rPr>
              <a:t>Evaluating IAM Features</a:t>
            </a:r>
            <a:endParaRPr lang="en-US" sz="2667" dirty="0">
              <a:latin typeface="Times New Roman" panose="02020603050405020304" pitchFamily="18" charset="0"/>
              <a:cs typeface="Times New Roman" panose="02020603050405020304" pitchFamily="18" charset="0"/>
            </a:endParaRPr>
          </a:p>
          <a:p>
            <a:pPr lvl="1"/>
            <a:r>
              <a:rPr lang="en-US" sz="2133" dirty="0">
                <a:latin typeface="Times New Roman" panose="02020603050405020304" pitchFamily="18" charset="0"/>
                <a:cs typeface="Times New Roman" panose="02020603050405020304" pitchFamily="18" charset="0"/>
              </a:rPr>
              <a:t>Check for support of </a:t>
            </a:r>
            <a:r>
              <a:rPr lang="en-US" sz="2133" b="1" dirty="0">
                <a:latin typeface="Times New Roman" panose="02020603050405020304" pitchFamily="18" charset="0"/>
                <a:cs typeface="Times New Roman" panose="02020603050405020304" pitchFamily="18" charset="0"/>
              </a:rPr>
              <a:t>SSO</a:t>
            </a:r>
            <a:r>
              <a:rPr lang="en-US" sz="2133" dirty="0">
                <a:latin typeface="Times New Roman" panose="02020603050405020304" pitchFamily="18" charset="0"/>
                <a:cs typeface="Times New Roman" panose="02020603050405020304" pitchFamily="18" charset="0"/>
              </a:rPr>
              <a:t> and federation (SAML 1.1 vs. 2.0).</a:t>
            </a:r>
          </a:p>
          <a:p>
            <a:pPr lvl="1"/>
            <a:r>
              <a:rPr lang="en-US" sz="2133" dirty="0">
                <a:latin typeface="Times New Roman" panose="02020603050405020304" pitchFamily="18" charset="0"/>
                <a:cs typeface="Times New Roman" panose="02020603050405020304" pitchFamily="18" charset="0"/>
              </a:rPr>
              <a:t>Example: Salesforce supports SAML 1.1, Google Apps supports SAML 2.0.</a:t>
            </a:r>
          </a:p>
          <a:p>
            <a:r>
              <a:rPr lang="en-US" sz="2667" b="1" dirty="0">
                <a:latin typeface="Times New Roman" panose="02020603050405020304" pitchFamily="18" charset="0"/>
                <a:cs typeface="Times New Roman" panose="02020603050405020304" pitchFamily="18" charset="0"/>
              </a:rPr>
              <a:t>Investigation &amp; Monitoring</a:t>
            </a:r>
            <a:endParaRPr lang="en-US" sz="2667" dirty="0">
              <a:latin typeface="Times New Roman" panose="02020603050405020304" pitchFamily="18" charset="0"/>
              <a:cs typeface="Times New Roman" panose="02020603050405020304" pitchFamily="18" charset="0"/>
            </a:endParaRPr>
          </a:p>
          <a:p>
            <a:pPr lvl="1"/>
            <a:r>
              <a:rPr lang="en-US" sz="2133" dirty="0">
                <a:latin typeface="Times New Roman" panose="02020603050405020304" pitchFamily="18" charset="0"/>
                <a:cs typeface="Times New Roman" panose="02020603050405020304" pitchFamily="18" charset="0"/>
              </a:rPr>
              <a:t>Logs and audit trails may be internal to the provider.</a:t>
            </a:r>
          </a:p>
          <a:p>
            <a:pPr lvl="1"/>
            <a:r>
              <a:rPr lang="en-US" sz="2133" dirty="0">
                <a:latin typeface="Times New Roman" panose="02020603050405020304" pitchFamily="18" charset="0"/>
                <a:cs typeface="Times New Roman" panose="02020603050405020304" pitchFamily="18" charset="0"/>
              </a:rPr>
              <a:t>Customers must negotiate </a:t>
            </a:r>
            <a:r>
              <a:rPr lang="en-US" sz="2133" b="1" dirty="0">
                <a:latin typeface="Times New Roman" panose="02020603050405020304" pitchFamily="18" charset="0"/>
                <a:cs typeface="Times New Roman" panose="02020603050405020304" pitchFamily="18" charset="0"/>
              </a:rPr>
              <a:t>log access</a:t>
            </a:r>
            <a:r>
              <a:rPr lang="en-US" sz="2133" dirty="0">
                <a:latin typeface="Times New Roman" panose="02020603050405020304" pitchFamily="18" charset="0"/>
                <a:cs typeface="Times New Roman" panose="02020603050405020304" pitchFamily="18" charset="0"/>
              </a:rPr>
              <a:t> for compliance (e.g., PCI DSS requires forensic investigation support).</a:t>
            </a:r>
          </a:p>
          <a:p>
            <a:endParaRPr lang="en-US" dirty="0"/>
          </a:p>
        </p:txBody>
      </p:sp>
    </p:spTree>
    <p:extLst>
      <p:ext uri="{BB962C8B-B14F-4D97-AF65-F5344CB8AC3E}">
        <p14:creationId xmlns:p14="http://schemas.microsoft.com/office/powerpoint/2010/main" val="39505214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41F55F8-0AE4-0DAA-912A-2376FECA09F3}"/>
              </a:ext>
            </a:extLst>
          </p:cNvPr>
          <p:cNvSpPr>
            <a:spLocks noGrp="1"/>
          </p:cNvSpPr>
          <p:nvPr>
            <p:ph type="body" idx="1"/>
          </p:nvPr>
        </p:nvSpPr>
        <p:spPr>
          <a:xfrm>
            <a:off x="415600" y="640597"/>
            <a:ext cx="11360800" cy="5451137"/>
          </a:xfrm>
        </p:spPr>
        <p:txBody>
          <a:bodyPr>
            <a:normAutofit/>
          </a:bodyPr>
          <a:lstStyle/>
          <a:p>
            <a:pPr>
              <a:lnSpc>
                <a:spcPct val="150000"/>
              </a:lnSpc>
            </a:pPr>
            <a:r>
              <a:rPr lang="en-US" b="1" dirty="0">
                <a:latin typeface="Times New Roman" panose="02020603050405020304" pitchFamily="18" charset="0"/>
                <a:cs typeface="Times New Roman" panose="02020603050405020304" pitchFamily="18" charset="0"/>
              </a:rPr>
              <a:t>Compliance Management</a:t>
            </a:r>
            <a:endParaRPr lang="en-US" dirty="0">
              <a:latin typeface="Times New Roman" panose="02020603050405020304" pitchFamily="18" charset="0"/>
              <a:cs typeface="Times New Roman" panose="02020603050405020304" pitchFamily="18" charset="0"/>
            </a:endParaRPr>
          </a:p>
          <a:p>
            <a:pPr lvl="1">
              <a:lnSpc>
                <a:spcPct val="150000"/>
              </a:lnSpc>
            </a:pPr>
            <a:r>
              <a:rPr lang="en-US" sz="2400" dirty="0">
                <a:latin typeface="Times New Roman" panose="02020603050405020304" pitchFamily="18" charset="0"/>
                <a:cs typeface="Times New Roman" panose="02020603050405020304" pitchFamily="18" charset="0"/>
              </a:rPr>
              <a:t>Customers are responsible for ensuring compliance with </a:t>
            </a:r>
            <a:r>
              <a:rPr lang="en-US" sz="2400" b="1" dirty="0">
                <a:latin typeface="Times New Roman" panose="02020603050405020304" pitchFamily="18" charset="0"/>
                <a:cs typeface="Times New Roman" panose="02020603050405020304" pitchFamily="18" charset="0"/>
              </a:rPr>
              <a:t>SOX, GLBA, HIPAA, PCI DSS</a:t>
            </a:r>
            <a:r>
              <a:rPr lang="en-US" sz="2400" dirty="0">
                <a:latin typeface="Times New Roman" panose="02020603050405020304" pitchFamily="18" charset="0"/>
                <a:cs typeface="Times New Roman" panose="02020603050405020304" pitchFamily="18" charset="0"/>
              </a:rPr>
              <a:t>.</a:t>
            </a:r>
          </a:p>
          <a:p>
            <a:pPr lvl="1">
              <a:lnSpc>
                <a:spcPct val="150000"/>
              </a:lnSpc>
            </a:pPr>
            <a:r>
              <a:rPr lang="en-US" sz="2400" dirty="0">
                <a:latin typeface="Times New Roman" panose="02020603050405020304" pitchFamily="18" charset="0"/>
                <a:cs typeface="Times New Roman" panose="02020603050405020304" pitchFamily="18" charset="0"/>
              </a:rPr>
              <a:t>Assess SaaS provider’s </a:t>
            </a:r>
            <a:r>
              <a:rPr lang="en-US" sz="2400" b="1" dirty="0">
                <a:latin typeface="Times New Roman" panose="02020603050405020304" pitchFamily="18" charset="0"/>
                <a:cs typeface="Times New Roman" panose="02020603050405020304" pitchFamily="18" charset="0"/>
              </a:rPr>
              <a:t>access control, logging, auditing</a:t>
            </a:r>
            <a:r>
              <a:rPr lang="en-US" sz="2400" dirty="0">
                <a:latin typeface="Times New Roman" panose="02020603050405020304" pitchFamily="18" charset="0"/>
                <a:cs typeface="Times New Roman" panose="02020603050405020304" pitchFamily="18" charset="0"/>
              </a:rPr>
              <a:t> capabilities.</a:t>
            </a:r>
          </a:p>
          <a:p>
            <a:pPr marL="152396" indent="0">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SOX (Sarbanes–Oxley Act)= Financial reporting accuracy and integrity.</a:t>
            </a:r>
          </a:p>
          <a:p>
            <a:pPr>
              <a:lnSpc>
                <a:spcPct val="150000"/>
              </a:lnSpc>
            </a:pPr>
            <a:r>
              <a:rPr lang="en-US" dirty="0">
                <a:latin typeface="Times New Roman" panose="02020603050405020304" pitchFamily="18" charset="0"/>
                <a:cs typeface="Times New Roman" panose="02020603050405020304" pitchFamily="18" charset="0"/>
              </a:rPr>
              <a:t>GLBA (Gramm–Leach–Bliley Act)= Protecting consumers’ financial information.</a:t>
            </a:r>
          </a:p>
          <a:p>
            <a:pPr>
              <a:lnSpc>
                <a:spcPct val="150000"/>
              </a:lnSpc>
            </a:pPr>
            <a:r>
              <a:rPr lang="en-US" dirty="0">
                <a:latin typeface="Times New Roman" panose="02020603050405020304" pitchFamily="18" charset="0"/>
                <a:cs typeface="Times New Roman" panose="02020603050405020304" pitchFamily="18" charset="0"/>
              </a:rPr>
              <a:t>HIPAA (Health Insurance Portability and Accountability Act)</a:t>
            </a:r>
          </a:p>
          <a:p>
            <a:pPr>
              <a:lnSpc>
                <a:spcPct val="150000"/>
              </a:lnSpc>
            </a:pPr>
            <a:r>
              <a:rPr lang="en-US" dirty="0">
                <a:latin typeface="Times New Roman" panose="02020603050405020304" pitchFamily="18" charset="0"/>
                <a:cs typeface="Times New Roman" panose="02020603050405020304" pitchFamily="18" charset="0"/>
              </a:rPr>
              <a:t>PCI DSS (Payment Card Industry Data Security Standard)</a:t>
            </a:r>
          </a:p>
        </p:txBody>
      </p:sp>
    </p:spTree>
    <p:extLst>
      <p:ext uri="{BB962C8B-B14F-4D97-AF65-F5344CB8AC3E}">
        <p14:creationId xmlns:p14="http://schemas.microsoft.com/office/powerpoint/2010/main" val="31928886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2C047-CC6B-9EE4-2B5E-D89E17B5A89F}"/>
              </a:ext>
            </a:extLst>
          </p:cNvPr>
          <p:cNvSpPr>
            <a:spLocks noGrp="1"/>
          </p:cNvSpPr>
          <p:nvPr>
            <p:ph type="title"/>
          </p:nvPr>
        </p:nvSpPr>
        <p:spPr/>
        <p:txBody>
          <a:bodyPr>
            <a:normAutofit/>
          </a:bodyPr>
          <a:lstStyle/>
          <a:p>
            <a:r>
              <a:rPr lang="en-US" dirty="0"/>
              <a:t>CSP Responsibilities in IAM (SaaS Context)</a:t>
            </a:r>
          </a:p>
        </p:txBody>
      </p:sp>
      <p:sp>
        <p:nvSpPr>
          <p:cNvPr id="3" name="Text Placeholder 2">
            <a:extLst>
              <a:ext uri="{FF2B5EF4-FFF2-40B4-BE49-F238E27FC236}">
                <a16:creationId xmlns:a16="http://schemas.microsoft.com/office/drawing/2014/main" id="{A4FB5AE9-5DFA-D35B-241D-68ACCB09B196}"/>
              </a:ext>
            </a:extLst>
          </p:cNvPr>
          <p:cNvSpPr>
            <a:spLocks noGrp="1"/>
          </p:cNvSpPr>
          <p:nvPr>
            <p:ph type="body" idx="1"/>
          </p:nvPr>
        </p:nvSpPr>
        <p:spPr/>
        <p:txBody>
          <a:bodyPr/>
          <a:lstStyle/>
          <a:p>
            <a:pPr marL="152396" indent="0">
              <a:buNone/>
            </a:pPr>
            <a:r>
              <a:rPr lang="en-US" b="1" dirty="0"/>
              <a:t>1. Authentication Services</a:t>
            </a:r>
          </a:p>
          <a:p>
            <a:r>
              <a:rPr lang="en-US" dirty="0"/>
              <a:t>If </a:t>
            </a:r>
            <a:r>
              <a:rPr lang="en-US" b="1" dirty="0"/>
              <a:t>federated authentication</a:t>
            </a:r>
            <a:r>
              <a:rPr lang="en-US" dirty="0"/>
              <a:t> is not supported, CSPs authenticate users directly.</a:t>
            </a:r>
          </a:p>
          <a:p>
            <a:r>
              <a:rPr lang="en-US" dirty="0"/>
              <a:t>Typically done via </a:t>
            </a:r>
            <a:r>
              <a:rPr lang="en-US" b="1" dirty="0"/>
              <a:t>web forms over HTTPS</a:t>
            </a:r>
            <a:r>
              <a:rPr lang="en-US" dirty="0"/>
              <a:t> with a </a:t>
            </a:r>
            <a:r>
              <a:rPr lang="en-US" b="1" dirty="0"/>
              <a:t>user ID + password</a:t>
            </a:r>
            <a:r>
              <a:rPr lang="en-US" dirty="0"/>
              <a:t>.</a:t>
            </a:r>
          </a:p>
          <a:p>
            <a:r>
              <a:rPr lang="en-US" dirty="0"/>
              <a:t>CSPs may enhance security by:</a:t>
            </a:r>
          </a:p>
          <a:p>
            <a:pPr lvl="1"/>
            <a:r>
              <a:rPr lang="en-US" dirty="0"/>
              <a:t>Pre-registering </a:t>
            </a:r>
            <a:r>
              <a:rPr lang="en-US" b="1" dirty="0"/>
              <a:t>trusted IP addresses/ranges</a:t>
            </a:r>
            <a:r>
              <a:rPr lang="en-US" dirty="0"/>
              <a:t> (home, office, etc.).</a:t>
            </a:r>
          </a:p>
          <a:p>
            <a:pPr lvl="1"/>
            <a:r>
              <a:rPr lang="en-US" dirty="0"/>
              <a:t>Blocking access from suspicious/untrusted networks.</a:t>
            </a:r>
          </a:p>
          <a:p>
            <a:pPr lvl="1"/>
            <a:r>
              <a:rPr lang="en-US" dirty="0"/>
              <a:t>Preventing credential theft from </a:t>
            </a:r>
            <a:r>
              <a:rPr lang="en-US" b="1" dirty="0"/>
              <a:t>keyloggers</a:t>
            </a:r>
            <a:r>
              <a:rPr lang="en-US" dirty="0"/>
              <a:t> or compromised devices.</a:t>
            </a:r>
          </a:p>
          <a:p>
            <a:r>
              <a:rPr lang="en-US" b="1" dirty="0"/>
              <a:t>Key responsibility:</a:t>
            </a:r>
            <a:r>
              <a:rPr lang="en-US" dirty="0"/>
              <a:t> Maintain a </a:t>
            </a:r>
            <a:r>
              <a:rPr lang="en-US" b="1" dirty="0"/>
              <a:t>highly available authentication service</a:t>
            </a:r>
            <a:r>
              <a:rPr lang="en-US" dirty="0"/>
              <a:t>, since it is the </a:t>
            </a:r>
            <a:r>
              <a:rPr lang="en-US" b="1" dirty="0"/>
              <a:t>entry point</a:t>
            </a:r>
            <a:r>
              <a:rPr lang="en-US" dirty="0"/>
              <a:t> for SaaS usage.</a:t>
            </a:r>
          </a:p>
          <a:p>
            <a:endParaRPr lang="en-US" dirty="0"/>
          </a:p>
        </p:txBody>
      </p:sp>
    </p:spTree>
    <p:extLst>
      <p:ext uri="{BB962C8B-B14F-4D97-AF65-F5344CB8AC3E}">
        <p14:creationId xmlns:p14="http://schemas.microsoft.com/office/powerpoint/2010/main" val="1749236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BAD43-DC3C-8392-2DF4-F95ED66D3283}"/>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8349141B-7E68-9D2A-A9A5-44D60ECEF844}"/>
              </a:ext>
            </a:extLst>
          </p:cNvPr>
          <p:cNvSpPr>
            <a:spLocks noGrp="1"/>
          </p:cNvSpPr>
          <p:nvPr>
            <p:ph type="body" idx="1"/>
          </p:nvPr>
        </p:nvSpPr>
        <p:spPr/>
        <p:txBody>
          <a:bodyPr/>
          <a:lstStyle/>
          <a:p>
            <a:pPr marL="152396" indent="0">
              <a:lnSpc>
                <a:spcPct val="150000"/>
              </a:lnSpc>
              <a:buNone/>
            </a:pPr>
            <a:r>
              <a:rPr lang="en-US" b="1" dirty="0"/>
              <a:t>2. Account Management Policies</a:t>
            </a:r>
          </a:p>
          <a:p>
            <a:pPr>
              <a:lnSpc>
                <a:spcPct val="150000"/>
              </a:lnSpc>
            </a:pPr>
            <a:r>
              <a:rPr lang="en-US" dirty="0"/>
              <a:t>CSPs must define and communicate policies such as:</a:t>
            </a:r>
          </a:p>
          <a:p>
            <a:pPr lvl="1">
              <a:lnSpc>
                <a:spcPct val="150000"/>
              </a:lnSpc>
            </a:pPr>
            <a:r>
              <a:rPr lang="en-US" b="1" dirty="0"/>
              <a:t>Account lockout</a:t>
            </a:r>
            <a:r>
              <a:rPr lang="en-US" dirty="0"/>
              <a:t> rules (e.g., after multiple failed login attempts).</a:t>
            </a:r>
          </a:p>
          <a:p>
            <a:pPr lvl="1">
              <a:lnSpc>
                <a:spcPct val="150000"/>
              </a:lnSpc>
            </a:pPr>
            <a:r>
              <a:rPr lang="en-US" b="1" dirty="0"/>
              <a:t>Account provisioning methods</a:t>
            </a:r>
            <a:r>
              <a:rPr lang="en-US" dirty="0"/>
              <a:t> (manual, automated, delegated).</a:t>
            </a:r>
          </a:p>
          <a:p>
            <a:pPr lvl="1">
              <a:lnSpc>
                <a:spcPct val="150000"/>
              </a:lnSpc>
            </a:pPr>
            <a:r>
              <a:rPr lang="en-US" b="1" dirty="0"/>
              <a:t>Privileged account management</a:t>
            </a:r>
            <a:r>
              <a:rPr lang="en-US" dirty="0"/>
              <a:t> roles and restrictions.</a:t>
            </a:r>
          </a:p>
          <a:p>
            <a:pPr>
              <a:lnSpc>
                <a:spcPct val="150000"/>
              </a:lnSpc>
            </a:pPr>
            <a:r>
              <a:rPr lang="en-US" dirty="0"/>
              <a:t>Ensures customers understand </a:t>
            </a:r>
            <a:r>
              <a:rPr lang="en-US" b="1" dirty="0"/>
              <a:t>how accounts are created, suspended, or terminated</a:t>
            </a:r>
            <a:r>
              <a:rPr lang="en-US" dirty="0"/>
              <a:t>.</a:t>
            </a:r>
          </a:p>
          <a:p>
            <a:endParaRPr lang="en-US" dirty="0"/>
          </a:p>
        </p:txBody>
      </p:sp>
    </p:spTree>
    <p:extLst>
      <p:ext uri="{BB962C8B-B14F-4D97-AF65-F5344CB8AC3E}">
        <p14:creationId xmlns:p14="http://schemas.microsoft.com/office/powerpoint/2010/main" val="35370592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49885-4D32-2E9A-0552-DFC1B82BAF8A}"/>
              </a:ext>
            </a:extLst>
          </p:cNvPr>
          <p:cNvSpPr>
            <a:spLocks noGrp="1"/>
          </p:cNvSpPr>
          <p:nvPr>
            <p:ph type="title"/>
          </p:nvPr>
        </p:nvSpPr>
        <p:spPr/>
        <p:txBody>
          <a:bodyPr>
            <a:normAutofit/>
          </a:bodyPr>
          <a:lstStyle/>
          <a:p>
            <a:endParaRPr lang="en-US"/>
          </a:p>
        </p:txBody>
      </p:sp>
      <p:sp>
        <p:nvSpPr>
          <p:cNvPr id="3" name="Text Placeholder 2">
            <a:extLst>
              <a:ext uri="{FF2B5EF4-FFF2-40B4-BE49-F238E27FC236}">
                <a16:creationId xmlns:a16="http://schemas.microsoft.com/office/drawing/2014/main" id="{810FF088-E4F8-739D-096A-52E5CB8FB50C}"/>
              </a:ext>
            </a:extLst>
          </p:cNvPr>
          <p:cNvSpPr>
            <a:spLocks noGrp="1"/>
          </p:cNvSpPr>
          <p:nvPr>
            <p:ph type="body" idx="1"/>
          </p:nvPr>
        </p:nvSpPr>
        <p:spPr/>
        <p:txBody>
          <a:bodyPr/>
          <a:lstStyle/>
          <a:p>
            <a:pPr marL="152396" indent="0">
              <a:lnSpc>
                <a:spcPct val="150000"/>
              </a:lnSpc>
              <a:buNone/>
            </a:pPr>
            <a:r>
              <a:rPr lang="en-US" b="1" dirty="0"/>
              <a:t>3. Federation Support</a:t>
            </a:r>
          </a:p>
          <a:p>
            <a:pPr>
              <a:lnSpc>
                <a:spcPct val="150000"/>
              </a:lnSpc>
            </a:pPr>
            <a:r>
              <a:rPr lang="en-US" dirty="0"/>
              <a:t>CSPs should support </a:t>
            </a:r>
            <a:r>
              <a:rPr lang="en-US" b="1" dirty="0"/>
              <a:t>identity federation</a:t>
            </a:r>
            <a:r>
              <a:rPr lang="en-US" dirty="0"/>
              <a:t> to enable </a:t>
            </a:r>
            <a:r>
              <a:rPr lang="en-US" b="1" dirty="0"/>
              <a:t>Single Sign-On (SSO)</a:t>
            </a:r>
            <a:r>
              <a:rPr lang="en-US" dirty="0"/>
              <a:t>.</a:t>
            </a:r>
          </a:p>
          <a:p>
            <a:pPr>
              <a:lnSpc>
                <a:spcPct val="150000"/>
              </a:lnSpc>
            </a:pPr>
            <a:r>
              <a:rPr lang="en-US" dirty="0"/>
              <a:t>Must clearly publish:</a:t>
            </a:r>
          </a:p>
          <a:p>
            <a:pPr lvl="1">
              <a:lnSpc>
                <a:spcPct val="150000"/>
              </a:lnSpc>
            </a:pPr>
            <a:r>
              <a:rPr lang="en-US" b="1" dirty="0"/>
              <a:t>Federation standards supported</a:t>
            </a:r>
            <a:r>
              <a:rPr lang="en-US" dirty="0"/>
              <a:t> (e.g., </a:t>
            </a:r>
            <a:r>
              <a:rPr lang="en-US" b="1" dirty="0"/>
              <a:t>SAML 1.1, SAML 2.0</a:t>
            </a:r>
            <a:r>
              <a:rPr lang="en-US" dirty="0"/>
              <a:t>).</a:t>
            </a:r>
          </a:p>
          <a:p>
            <a:pPr lvl="1">
              <a:lnSpc>
                <a:spcPct val="150000"/>
              </a:lnSpc>
            </a:pPr>
            <a:r>
              <a:rPr lang="en-US" b="1" dirty="0"/>
              <a:t>Implementation examples</a:t>
            </a:r>
            <a:r>
              <a:rPr lang="en-US" dirty="0"/>
              <a:t> for customer integration.</a:t>
            </a:r>
          </a:p>
          <a:p>
            <a:pPr lvl="1">
              <a:lnSpc>
                <a:spcPct val="150000"/>
              </a:lnSpc>
            </a:pPr>
            <a:r>
              <a:rPr lang="en-US" b="1" dirty="0"/>
              <a:t>Technical details</a:t>
            </a:r>
            <a:r>
              <a:rPr lang="en-US" dirty="0"/>
              <a:t> for APIs (REST, SOAP) used in federation.</a:t>
            </a:r>
          </a:p>
          <a:p>
            <a:pPr>
              <a:lnSpc>
                <a:spcPct val="150000"/>
              </a:lnSpc>
            </a:pPr>
            <a:r>
              <a:rPr lang="en-US" dirty="0"/>
              <a:t>Enables enterprises to integrate SaaS authentication with </a:t>
            </a:r>
            <a:r>
              <a:rPr lang="en-US" b="1" dirty="0"/>
              <a:t>corporate IAM systems</a:t>
            </a:r>
            <a:r>
              <a:rPr lang="en-US" dirty="0"/>
              <a:t>.</a:t>
            </a:r>
          </a:p>
          <a:p>
            <a:endParaRPr lang="en-US" dirty="0"/>
          </a:p>
        </p:txBody>
      </p:sp>
    </p:spTree>
    <p:extLst>
      <p:ext uri="{BB962C8B-B14F-4D97-AF65-F5344CB8AC3E}">
        <p14:creationId xmlns:p14="http://schemas.microsoft.com/office/powerpoint/2010/main" val="35056272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713E1-7482-1105-DC4F-08E347102C57}"/>
              </a:ext>
            </a:extLst>
          </p:cNvPr>
          <p:cNvSpPr>
            <a:spLocks noGrp="1"/>
          </p:cNvSpPr>
          <p:nvPr>
            <p:ph type="title"/>
          </p:nvPr>
        </p:nvSpPr>
        <p:spPr/>
        <p:txBody>
          <a:bodyPr>
            <a:normAutofit fontScale="90000"/>
          </a:bodyPr>
          <a:lstStyle/>
          <a:p>
            <a:r>
              <a:rPr lang="en-US" b="1" dirty="0"/>
              <a:t>PaaS IAM (Identity and Access Management)</a:t>
            </a:r>
            <a:br>
              <a:rPr lang="en-US" b="1" dirty="0"/>
            </a:br>
            <a:endParaRPr lang="en-US" dirty="0"/>
          </a:p>
        </p:txBody>
      </p:sp>
      <p:sp>
        <p:nvSpPr>
          <p:cNvPr id="3" name="Text Placeholder 2">
            <a:extLst>
              <a:ext uri="{FF2B5EF4-FFF2-40B4-BE49-F238E27FC236}">
                <a16:creationId xmlns:a16="http://schemas.microsoft.com/office/drawing/2014/main" id="{4201A7A9-F615-4968-F5D0-3D427AAEB8B5}"/>
              </a:ext>
            </a:extLst>
          </p:cNvPr>
          <p:cNvSpPr>
            <a:spLocks noGrp="1"/>
          </p:cNvSpPr>
          <p:nvPr>
            <p:ph type="body" idx="1"/>
          </p:nvPr>
        </p:nvSpPr>
        <p:spPr/>
        <p:txBody>
          <a:bodyPr/>
          <a:lstStyle/>
          <a:p>
            <a:r>
              <a:rPr lang="en-US" b="1" dirty="0"/>
              <a:t>Key Considerations for Organizations</a:t>
            </a:r>
          </a:p>
          <a:p>
            <a:r>
              <a:rPr lang="en-US" dirty="0"/>
              <a:t>Extending enterprise </a:t>
            </a:r>
            <a:r>
              <a:rPr lang="en-US" b="1" dirty="0"/>
              <a:t>IAM practices</a:t>
            </a:r>
            <a:r>
              <a:rPr lang="en-US" dirty="0"/>
              <a:t> to PaaS providers is </a:t>
            </a:r>
            <a:r>
              <a:rPr lang="en-US" b="1" dirty="0"/>
              <a:t>more limited</a:t>
            </a:r>
            <a:r>
              <a:rPr lang="en-US" dirty="0"/>
              <a:t> than in SaaS.</a:t>
            </a:r>
          </a:p>
          <a:p>
            <a:r>
              <a:rPr lang="en-US" dirty="0"/>
              <a:t>PaaS typically offers </a:t>
            </a:r>
            <a:r>
              <a:rPr lang="en-US" b="1" dirty="0"/>
              <a:t>fewer standardized IAM options</a:t>
            </a:r>
            <a:r>
              <a:rPr lang="en-US" dirty="0"/>
              <a:t>, requiring adaptation to provider-specific methods.</a:t>
            </a:r>
          </a:p>
          <a:p>
            <a:endParaRPr lang="en-US" dirty="0"/>
          </a:p>
        </p:txBody>
      </p:sp>
    </p:spTree>
    <p:extLst>
      <p:ext uri="{BB962C8B-B14F-4D97-AF65-F5344CB8AC3E}">
        <p14:creationId xmlns:p14="http://schemas.microsoft.com/office/powerpoint/2010/main" val="24607560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8866B-A360-6357-923E-308E1F51D538}"/>
              </a:ext>
            </a:extLst>
          </p:cNvPr>
          <p:cNvSpPr>
            <a:spLocks noGrp="1"/>
          </p:cNvSpPr>
          <p:nvPr>
            <p:ph type="title"/>
          </p:nvPr>
        </p:nvSpPr>
        <p:spPr/>
        <p:txBody>
          <a:bodyPr>
            <a:normAutofit/>
          </a:bodyPr>
          <a:lstStyle/>
          <a:p>
            <a:r>
              <a:rPr lang="en-US" dirty="0"/>
              <a:t>IaaS IAM (Identity and Access Management)</a:t>
            </a:r>
          </a:p>
        </p:txBody>
      </p:sp>
      <p:sp>
        <p:nvSpPr>
          <p:cNvPr id="3" name="Text Placeholder 2">
            <a:extLst>
              <a:ext uri="{FF2B5EF4-FFF2-40B4-BE49-F238E27FC236}">
                <a16:creationId xmlns:a16="http://schemas.microsoft.com/office/drawing/2014/main" id="{C43BB050-AF27-4CE3-659A-B399E0609E3B}"/>
              </a:ext>
            </a:extLst>
          </p:cNvPr>
          <p:cNvSpPr>
            <a:spLocks noGrp="1"/>
          </p:cNvSpPr>
          <p:nvPr>
            <p:ph type="body" idx="1"/>
          </p:nvPr>
        </p:nvSpPr>
        <p:spPr/>
        <p:txBody>
          <a:bodyPr/>
          <a:lstStyle/>
          <a:p>
            <a:pPr marL="152396" indent="0">
              <a:buNone/>
            </a:pPr>
            <a:endParaRPr lang="en-US" b="1" dirty="0"/>
          </a:p>
          <a:p>
            <a:pPr>
              <a:lnSpc>
                <a:spcPct val="150000"/>
              </a:lnSpc>
            </a:pPr>
            <a:r>
              <a:rPr lang="en-US" b="1" dirty="0"/>
              <a:t>IaaS = Compute &amp; Storage as a Service</a:t>
            </a:r>
            <a:r>
              <a:rPr lang="en-US" dirty="0"/>
              <a:t> (e.g., AWS EC2).</a:t>
            </a:r>
          </a:p>
          <a:p>
            <a:pPr>
              <a:lnSpc>
                <a:spcPct val="150000"/>
              </a:lnSpc>
            </a:pPr>
            <a:r>
              <a:rPr lang="en-US" dirty="0"/>
              <a:t>Providers do </a:t>
            </a:r>
            <a:r>
              <a:rPr lang="en-US" b="1" dirty="0"/>
              <a:t>not</a:t>
            </a:r>
            <a:r>
              <a:rPr lang="en-US" dirty="0"/>
              <a:t> have visibility into the applications hosted on their infrastructure.</a:t>
            </a:r>
          </a:p>
          <a:p>
            <a:pPr>
              <a:lnSpc>
                <a:spcPct val="150000"/>
              </a:lnSpc>
            </a:pPr>
            <a:r>
              <a:rPr lang="en-US" dirty="0"/>
              <a:t>IAM support is </a:t>
            </a:r>
            <a:r>
              <a:rPr lang="en-US" b="1" dirty="0"/>
              <a:t>basic and infrastructure-focused</a:t>
            </a:r>
            <a:r>
              <a:rPr lang="en-US" dirty="0"/>
              <a:t>, not application-level.</a:t>
            </a:r>
          </a:p>
          <a:p>
            <a:pPr>
              <a:lnSpc>
                <a:spcPct val="150000"/>
              </a:lnSpc>
            </a:pPr>
            <a:r>
              <a:rPr lang="en-US" dirty="0"/>
              <a:t>Access typically via </a:t>
            </a:r>
            <a:r>
              <a:rPr lang="en-US" b="1" dirty="0"/>
              <a:t>SSH</a:t>
            </a:r>
            <a:r>
              <a:rPr lang="en-US" dirty="0"/>
              <a:t> (for admins) and </a:t>
            </a:r>
            <a:r>
              <a:rPr lang="en-US" b="1" dirty="0"/>
              <a:t>API keys/certificates</a:t>
            </a:r>
            <a:r>
              <a:rPr lang="en-US" dirty="0"/>
              <a:t> (for customers).</a:t>
            </a:r>
          </a:p>
          <a:p>
            <a:endParaRPr lang="en-US" dirty="0"/>
          </a:p>
        </p:txBody>
      </p:sp>
    </p:spTree>
    <p:extLst>
      <p:ext uri="{BB962C8B-B14F-4D97-AF65-F5344CB8AC3E}">
        <p14:creationId xmlns:p14="http://schemas.microsoft.com/office/powerpoint/2010/main" val="2490209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B7D92-8573-902D-1A12-D6B37ABA6E3E}"/>
              </a:ext>
            </a:extLst>
          </p:cNvPr>
          <p:cNvSpPr>
            <a:spLocks noGrp="1"/>
          </p:cNvSpPr>
          <p:nvPr>
            <p:ph type="title"/>
          </p:nvPr>
        </p:nvSpPr>
        <p:spPr/>
        <p:txBody>
          <a:bodyPr>
            <a:normAutofit/>
          </a:bodyPr>
          <a:lstStyle/>
          <a:p>
            <a:r>
              <a:rPr lang="en-US" dirty="0"/>
              <a:t>IaaS IAM Responsibilities &amp; Challenges</a:t>
            </a:r>
          </a:p>
        </p:txBody>
      </p:sp>
      <p:sp>
        <p:nvSpPr>
          <p:cNvPr id="3" name="Text Placeholder 2">
            <a:extLst>
              <a:ext uri="{FF2B5EF4-FFF2-40B4-BE49-F238E27FC236}">
                <a16:creationId xmlns:a16="http://schemas.microsoft.com/office/drawing/2014/main" id="{67BD5270-1A7E-6987-A4AB-D4F10229946D}"/>
              </a:ext>
            </a:extLst>
          </p:cNvPr>
          <p:cNvSpPr>
            <a:spLocks noGrp="1"/>
          </p:cNvSpPr>
          <p:nvPr>
            <p:ph type="body" idx="1"/>
          </p:nvPr>
        </p:nvSpPr>
        <p:spPr/>
        <p:txBody>
          <a:bodyPr>
            <a:normAutofit/>
          </a:bodyPr>
          <a:lstStyle/>
          <a:p>
            <a:pPr marL="152396" indent="0">
              <a:lnSpc>
                <a:spcPct val="120000"/>
              </a:lnSpc>
              <a:buNone/>
            </a:pPr>
            <a:r>
              <a:rPr lang="en-US" b="1" dirty="0"/>
              <a:t>1. User Provisioning</a:t>
            </a:r>
          </a:p>
          <a:p>
            <a:pPr>
              <a:lnSpc>
                <a:spcPct val="120000"/>
              </a:lnSpc>
            </a:pPr>
            <a:r>
              <a:rPr lang="en-US" dirty="0"/>
              <a:t>Provisioning developers/administrators on </a:t>
            </a:r>
            <a:r>
              <a:rPr lang="en-US" b="1" dirty="0"/>
              <a:t>dynamic IaaS systems</a:t>
            </a:r>
            <a:r>
              <a:rPr lang="en-US" dirty="0"/>
              <a:t>.</a:t>
            </a:r>
          </a:p>
          <a:p>
            <a:pPr>
              <a:lnSpc>
                <a:spcPct val="120000"/>
              </a:lnSpc>
            </a:pPr>
            <a:r>
              <a:rPr lang="en-US" dirty="0"/>
              <a:t>Large-scale workloads → provisioning must be </a:t>
            </a:r>
            <a:r>
              <a:rPr lang="en-US" b="1" dirty="0"/>
              <a:t>automated at image creation</a:t>
            </a:r>
            <a:r>
              <a:rPr lang="en-US" dirty="0"/>
              <a:t>.</a:t>
            </a:r>
          </a:p>
          <a:p>
            <a:pPr>
              <a:lnSpc>
                <a:spcPct val="120000"/>
              </a:lnSpc>
            </a:pPr>
            <a:r>
              <a:rPr lang="en-US" dirty="0"/>
              <a:t>Best practice: integrate with </a:t>
            </a:r>
            <a:r>
              <a:rPr lang="en-US" b="1" dirty="0"/>
              <a:t>corporate directories (LDAP/Active Directory)</a:t>
            </a:r>
            <a:r>
              <a:rPr lang="en-US" dirty="0"/>
              <a:t>.</a:t>
            </a:r>
          </a:p>
          <a:p>
            <a:pPr>
              <a:lnSpc>
                <a:spcPct val="120000"/>
              </a:lnSpc>
            </a:pPr>
            <a:r>
              <a:rPr lang="en-US" dirty="0"/>
              <a:t>Challenge: </a:t>
            </a:r>
            <a:r>
              <a:rPr lang="en-US" b="1" dirty="0"/>
              <a:t>cloud virtual networks</a:t>
            </a:r>
            <a:r>
              <a:rPr lang="en-US" dirty="0"/>
              <a:t> and </a:t>
            </a:r>
            <a:r>
              <a:rPr lang="en-US" b="1" dirty="0"/>
              <a:t>security policies</a:t>
            </a:r>
            <a:r>
              <a:rPr lang="en-US" dirty="0"/>
              <a:t> may block directory-based authentication.</a:t>
            </a:r>
          </a:p>
          <a:p>
            <a:pPr marL="152396" indent="0">
              <a:lnSpc>
                <a:spcPct val="120000"/>
              </a:lnSpc>
              <a:buNone/>
            </a:pPr>
            <a:endParaRPr lang="en-US" dirty="0"/>
          </a:p>
          <a:p>
            <a:pPr marL="152396" indent="0">
              <a:lnSpc>
                <a:spcPct val="120000"/>
              </a:lnSpc>
              <a:buNone/>
            </a:pPr>
            <a:r>
              <a:rPr lang="en-US" b="1" dirty="0"/>
              <a:t>2. Privileged User Management</a:t>
            </a:r>
          </a:p>
          <a:p>
            <a:pPr>
              <a:lnSpc>
                <a:spcPct val="120000"/>
              </a:lnSpc>
            </a:pPr>
            <a:r>
              <a:rPr lang="en-US" dirty="0"/>
              <a:t>Admins often use </a:t>
            </a:r>
            <a:r>
              <a:rPr lang="en-US" b="1" dirty="0"/>
              <a:t>SSH private keys</a:t>
            </a:r>
            <a:r>
              <a:rPr lang="en-US" dirty="0"/>
              <a:t>.</a:t>
            </a:r>
          </a:p>
          <a:p>
            <a:pPr>
              <a:lnSpc>
                <a:spcPct val="120000"/>
              </a:lnSpc>
            </a:pPr>
            <a:r>
              <a:rPr lang="en-US" dirty="0"/>
              <a:t>Keys must be </a:t>
            </a:r>
            <a:r>
              <a:rPr lang="en-US" b="1" dirty="0"/>
              <a:t>secured, rotated, and revoked</a:t>
            </a:r>
            <a:r>
              <a:rPr lang="en-US" dirty="0"/>
              <a:t> when admins leave.</a:t>
            </a:r>
          </a:p>
          <a:p>
            <a:pPr>
              <a:lnSpc>
                <a:spcPct val="120000"/>
              </a:lnSpc>
            </a:pPr>
            <a:r>
              <a:rPr lang="en-US" dirty="0"/>
              <a:t>Risk: </a:t>
            </a:r>
            <a:r>
              <a:rPr lang="en-US" b="1" dirty="0"/>
              <a:t>lost or compromised keys → full system access</a:t>
            </a:r>
            <a:r>
              <a:rPr lang="en-US" dirty="0"/>
              <a:t>.</a:t>
            </a:r>
          </a:p>
          <a:p>
            <a:endParaRPr lang="en-US" dirty="0"/>
          </a:p>
        </p:txBody>
      </p:sp>
    </p:spTree>
    <p:extLst>
      <p:ext uri="{BB962C8B-B14F-4D97-AF65-F5344CB8AC3E}">
        <p14:creationId xmlns:p14="http://schemas.microsoft.com/office/powerpoint/2010/main" val="2475418442"/>
      </p:ext>
    </p:extLst>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4331</Words>
  <Application>Microsoft Office PowerPoint</Application>
  <PresentationFormat>Widescreen</PresentationFormat>
  <Paragraphs>375</Paragraphs>
  <Slides>102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102</vt:i4>
      </vt:variant>
    </vt:vector>
  </HeadingPairs>
  <TitlesOfParts>
    <vt:vector size="110" baseType="lpstr">
      <vt:lpstr>Arial</vt:lpstr>
      <vt:lpstr>ITCBaileyQuadCom-Bold</vt:lpstr>
      <vt:lpstr>ITCBaileySansCom-Bold</vt:lpstr>
      <vt:lpstr>ITCBaileySansCom-BookItalic</vt:lpstr>
      <vt:lpstr>MeridienLTStd-Roman</vt:lpstr>
      <vt:lpstr>Old Standard TT</vt:lpstr>
      <vt:lpstr>Times New Roman</vt:lpstr>
      <vt:lpstr>Paperback</vt:lpstr>
      <vt:lpstr>MODULE-3  Identity and Access Management</vt:lpstr>
      <vt:lpstr>PowerPoint Presentation</vt:lpstr>
      <vt:lpstr>Trust Boundaries and IAM</vt:lpstr>
      <vt:lpstr>PowerPoint Presentation</vt:lpstr>
      <vt:lpstr>PowerPoint Presentation</vt:lpstr>
      <vt:lpstr>SAML (Security Assertion Markup Language)</vt:lpstr>
      <vt:lpstr>Why IAM?</vt:lpstr>
      <vt:lpstr>PowerPoint Presentation</vt:lpstr>
      <vt:lpstr>PowerPoint Presentation</vt:lpstr>
      <vt:lpstr>PowerPoint Presentation</vt:lpstr>
      <vt:lpstr>PowerPoint Presentation</vt:lpstr>
      <vt:lpstr>PowerPoint Presentation</vt:lpstr>
      <vt:lpstr>IAM Challenges</vt:lpstr>
      <vt:lpstr>PowerPoint Presentation</vt:lpstr>
      <vt:lpstr>IAM (Identity and Access Management) definitions for key functions:</vt:lpstr>
      <vt:lpstr>PowerPoint Presentation</vt:lpstr>
      <vt:lpstr>PowerPoint Presentation</vt:lpstr>
      <vt:lpstr>IAM Architecture and Practice</vt:lpstr>
      <vt:lpstr>PowerPoint Presentation</vt:lpstr>
      <vt:lpstr>PowerPoint Presentation</vt:lpstr>
      <vt:lpstr>IAM processes support the following operational activities:</vt:lpstr>
      <vt:lpstr>PowerPoint Presentation</vt:lpstr>
      <vt:lpstr>PowerPoint Presentation</vt:lpstr>
      <vt:lpstr>Identity life cycle</vt:lpstr>
      <vt:lpstr>Getting Ready for the Cloud</vt:lpstr>
      <vt:lpstr>PowerPoint Presentation</vt:lpstr>
      <vt:lpstr>Relevant IAM Standards and Protocols for Cloud Services</vt:lpstr>
      <vt:lpstr>Four major challenges in user and access management faced by cloud users:</vt:lpstr>
      <vt:lpstr>Security Assertion Markup Language (SAML) </vt:lpstr>
      <vt:lpstr>PowerPoint Presentation</vt:lpstr>
      <vt:lpstr>SSO transaction steps using SAML</vt:lpstr>
      <vt:lpstr>PowerPoint Presentation</vt:lpstr>
      <vt:lpstr>PowerPoint Presentation</vt:lpstr>
      <vt:lpstr>SPML Service Provisioning Markup Language</vt:lpstr>
      <vt:lpstr>PowerPoint Presentation</vt:lpstr>
      <vt:lpstr>SPML USE CASE</vt:lpstr>
      <vt:lpstr>PowerPoint Presentation</vt:lpstr>
      <vt:lpstr>PowerPoint Presentation</vt:lpstr>
      <vt:lpstr>XAML-eXtensible Access Control Markup Language</vt:lpstr>
      <vt:lpstr>eXensible Access Control Markup Language (XACML)</vt:lpstr>
      <vt:lpstr>XACML</vt:lpstr>
      <vt:lpstr>PowerPoint Presentation</vt:lpstr>
      <vt:lpstr>STEPS-</vt:lpstr>
      <vt:lpstr>XACML Architecture Diagram</vt:lpstr>
      <vt:lpstr>Illustrates the interaction among various health care participants with unique roles (authorization privileges) accessing sensitive patient records stored in a health care application </vt:lpstr>
      <vt:lpstr>The figure illustrates the following steps involved in the XACML process:</vt:lpstr>
      <vt:lpstr>PowerPoint Presentation</vt:lpstr>
      <vt:lpstr>Open Authentication (OAuth)</vt:lpstr>
      <vt:lpstr>PowerPoint Presentation</vt:lpstr>
      <vt:lpstr>PowerPoint Presentation</vt:lpstr>
      <vt:lpstr>Illustrates the sequence of interactions between customer or partner web application, Google services, and end user:</vt:lpstr>
      <vt:lpstr>PowerPoint Presentation</vt:lpstr>
      <vt:lpstr>PowerPoint Presentation</vt:lpstr>
      <vt:lpstr>IAM Standards, Protocols, and Specifications for Consumers</vt:lpstr>
      <vt:lpstr>OpenID </vt:lpstr>
      <vt:lpstr>PowerPoint Presentation</vt:lpstr>
      <vt:lpstr>Information cards</vt:lpstr>
      <vt:lpstr>PowerPoint Presentation</vt:lpstr>
      <vt:lpstr>PowerPoint Presentation</vt:lpstr>
      <vt:lpstr>Benefits </vt:lpstr>
      <vt:lpstr>IdP (Identity Provider)Definition   An Identity Provider (IdP) is a trusted system that creates, stores, and manages digital identities and provides authentication services to other applications or service providers. Think of it as the “login authority” that vouches for your identity.   What IdP Does Authentication – Verifies who you are (via username/password, MFA, biometrics, etc.). Attribute/Claim Sharing – Passes user info (name, email, roles, group membership) to apps. Federation – Allows single sign-on (SSO) across multiple apps and cloud services using standards like SAML, OAuth2, OpenID Connect. </vt:lpstr>
      <vt:lpstr>PowerPoint Presentation</vt:lpstr>
      <vt:lpstr>IAM Practices in the Cloud</vt:lpstr>
      <vt:lpstr>User management functions in the cloud can be categorized as follows: </vt:lpstr>
      <vt:lpstr>Cloud Identity Administration</vt:lpstr>
      <vt:lpstr>Federated Identity (SSO) </vt:lpstr>
      <vt:lpstr>Enterprise Identity Provider (IdP) Deployment Architecture</vt:lpstr>
      <vt:lpstr>Federated Identity </vt:lpstr>
      <vt:lpstr>PowerPoint Presentation</vt:lpstr>
      <vt:lpstr>Pros </vt:lpstr>
      <vt:lpstr>Cons </vt:lpstr>
      <vt:lpstr>Identity provider deployment architecture</vt:lpstr>
      <vt:lpstr>Note </vt:lpstr>
      <vt:lpstr>PowerPoint Presentation</vt:lpstr>
      <vt:lpstr>PowerPoint Presentation</vt:lpstr>
      <vt:lpstr>PowerPoint Presentation</vt:lpstr>
      <vt:lpstr>PowerPoint Presentation</vt:lpstr>
      <vt:lpstr>Identity Management as a Service (IDaaS) Architecture</vt:lpstr>
      <vt:lpstr>Cloud Identity Service Provider (IDaaS) with Multiprotocol Federation Gateway model.</vt:lpstr>
      <vt:lpstr>PowerPoint Presentation</vt:lpstr>
      <vt:lpstr>PowerPoint Presentation</vt:lpstr>
      <vt:lpstr>How it Works (Flow) </vt:lpstr>
      <vt:lpstr>Cloud Authorization Management[3] </vt:lpstr>
      <vt:lpstr>PowerPoint Presentation</vt:lpstr>
      <vt:lpstr>PowerPoint Presentation</vt:lpstr>
      <vt:lpstr>IAM Support for Compliance Management[5]</vt:lpstr>
      <vt:lpstr>PowerPoint Presentation</vt:lpstr>
      <vt:lpstr>PowerPoint Presentation</vt:lpstr>
      <vt:lpstr>PowerPoint Presentation</vt:lpstr>
      <vt:lpstr>Cloud Service Provider IAM Practices</vt:lpstr>
      <vt:lpstr>IAM Requirements in the Cloud[4] </vt:lpstr>
      <vt:lpstr>PowerPoint Presentation</vt:lpstr>
      <vt:lpstr>SaaS Identity and Access Management (IAM) Responsibilities </vt:lpstr>
      <vt:lpstr>PowerPoint Presentation</vt:lpstr>
      <vt:lpstr>Customer Responsibilities in SaaS IAM </vt:lpstr>
      <vt:lpstr>PowerPoint Presentation</vt:lpstr>
      <vt:lpstr>CSP Responsibilities in IAM (SaaS Context)</vt:lpstr>
      <vt:lpstr>PowerPoint Presentation</vt:lpstr>
      <vt:lpstr>PowerPoint Presentation</vt:lpstr>
      <vt:lpstr>PaaS IAM (Identity and Access Management) </vt:lpstr>
      <vt:lpstr>IaaS IAM (Identity and Access Management)</vt:lpstr>
      <vt:lpstr>IaaS IAM Responsibilities &amp; 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Harinakshi C</dc:creator>
  <cp:lastModifiedBy>Harinakshi C</cp:lastModifiedBy>
  <cp:revision>2</cp:revision>
  <dcterms:created xsi:type="dcterms:W3CDTF">2025-09-24T15:26:38Z</dcterms:created>
  <dcterms:modified xsi:type="dcterms:W3CDTF">2025-09-24T15:34:48Z</dcterms:modified>
</cp:coreProperties>
</file>