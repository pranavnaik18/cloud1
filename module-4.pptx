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458" r:id="rId2"/>
    <p:sldId id="449" r:id="rId3"/>
    <p:sldId id="450" r:id="rId4"/>
    <p:sldId id="463" r:id="rId5"/>
    <p:sldId id="464" r:id="rId6"/>
    <p:sldId id="471" r:id="rId7"/>
    <p:sldId id="468" r:id="rId8"/>
    <p:sldId id="469" r:id="rId9"/>
    <p:sldId id="470" r:id="rId10"/>
    <p:sldId id="459" r:id="rId11"/>
    <p:sldId id="472" r:id="rId12"/>
    <p:sldId id="473" r:id="rId13"/>
    <p:sldId id="474" r:id="rId14"/>
    <p:sldId id="475" r:id="rId15"/>
    <p:sldId id="476" r:id="rId16"/>
    <p:sldId id="477" r:id="rId17"/>
    <p:sldId id="478" r:id="rId18"/>
    <p:sldId id="479" r:id="rId19"/>
    <p:sldId id="480" r:id="rId20"/>
    <p:sldId id="481" r:id="rId21"/>
    <p:sldId id="482" r:id="rId22"/>
    <p:sldId id="483" r:id="rId23"/>
    <p:sldId id="484" r:id="rId24"/>
    <p:sldId id="485" r:id="rId25"/>
    <p:sldId id="486" r:id="rId26"/>
    <p:sldId id="487" r:id="rId27"/>
    <p:sldId id="488" r:id="rId28"/>
    <p:sldId id="489" r:id="rId29"/>
    <p:sldId id="490" r:id="rId30"/>
    <p:sldId id="491" r:id="rId31"/>
    <p:sldId id="492" r:id="rId32"/>
    <p:sldId id="493" r:id="rId33"/>
    <p:sldId id="494" r:id="rId34"/>
    <p:sldId id="495" r:id="rId35"/>
    <p:sldId id="496" r:id="rId36"/>
    <p:sldId id="497" r:id="rId37"/>
    <p:sldId id="498" r:id="rId38"/>
    <p:sldId id="499" r:id="rId39"/>
    <p:sldId id="500" r:id="rId40"/>
    <p:sldId id="501" r:id="rId41"/>
    <p:sldId id="502" r:id="rId42"/>
    <p:sldId id="503" r:id="rId43"/>
    <p:sldId id="504" r:id="rId44"/>
    <p:sldId id="505" r:id="rId45"/>
    <p:sldId id="506" r:id="rId46"/>
    <p:sldId id="526" r:id="rId47"/>
    <p:sldId id="527" r:id="rId48"/>
    <p:sldId id="508" r:id="rId49"/>
    <p:sldId id="509" r:id="rId50"/>
    <p:sldId id="528" r:id="rId51"/>
    <p:sldId id="529" r:id="rId52"/>
    <p:sldId id="530" r:id="rId53"/>
    <p:sldId id="531" r:id="rId54"/>
    <p:sldId id="532" r:id="rId55"/>
    <p:sldId id="533" r:id="rId56"/>
    <p:sldId id="512" r:id="rId57"/>
    <p:sldId id="535" r:id="rId58"/>
    <p:sldId id="513" r:id="rId59"/>
    <p:sldId id="514" r:id="rId60"/>
    <p:sldId id="515" r:id="rId61"/>
    <p:sldId id="516" r:id="rId62"/>
    <p:sldId id="517" r:id="rId63"/>
    <p:sldId id="518" r:id="rId64"/>
    <p:sldId id="542" r:id="rId65"/>
    <p:sldId id="519" r:id="rId66"/>
    <p:sldId id="520" r:id="rId67"/>
    <p:sldId id="521" r:id="rId68"/>
    <p:sldId id="522" r:id="rId69"/>
    <p:sldId id="523" r:id="rId70"/>
    <p:sldId id="524" r:id="rId71"/>
    <p:sldId id="543" r:id="rId72"/>
    <p:sldId id="525" r:id="rId73"/>
    <p:sldId id="536" r:id="rId74"/>
    <p:sldId id="537" r:id="rId75"/>
    <p:sldId id="538" r:id="rId76"/>
    <p:sldId id="539" r:id="rId77"/>
    <p:sldId id="540" r:id="rId78"/>
    <p:sldId id="541"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834EB-B4D5-4872-B185-05B816E958B7}"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67158B-9400-4C69-A9D6-70295D76B7DE}" type="slidenum">
              <a:rPr lang="en-US" smtClean="0"/>
              <a:t>‹#›</a:t>
            </a:fld>
            <a:endParaRPr lang="en-US"/>
          </a:p>
        </p:txBody>
      </p:sp>
    </p:spTree>
    <p:extLst>
      <p:ext uri="{BB962C8B-B14F-4D97-AF65-F5344CB8AC3E}">
        <p14:creationId xmlns:p14="http://schemas.microsoft.com/office/powerpoint/2010/main" val="645641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67158B-9400-4C69-A9D6-70295D76B7DE}" type="slidenum">
              <a:rPr lang="en-US" smtClean="0"/>
              <a:t>67</a:t>
            </a:fld>
            <a:endParaRPr lang="en-US"/>
          </a:p>
        </p:txBody>
      </p:sp>
    </p:spTree>
    <p:extLst>
      <p:ext uri="{BB962C8B-B14F-4D97-AF65-F5344CB8AC3E}">
        <p14:creationId xmlns:p14="http://schemas.microsoft.com/office/powerpoint/2010/main" val="1008324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33"/>
            <a:ext cx="12192000" cy="228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cxnSp>
        <p:nvCxnSpPr>
          <p:cNvPr id="11" name="Google Shape;11;p2"/>
          <p:cNvCxnSpPr/>
          <p:nvPr/>
        </p:nvCxnSpPr>
        <p:spPr>
          <a:xfrm>
            <a:off x="855912" y="4796667"/>
            <a:ext cx="5204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683600" y="2524400"/>
            <a:ext cx="10824800" cy="2030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5600">
                <a:solidFill>
                  <a:schemeClr val="accent1"/>
                </a:solidFill>
              </a:defRPr>
            </a:lvl1pPr>
            <a:lvl2pPr lvl="1">
              <a:spcBef>
                <a:spcPts val="0"/>
              </a:spcBef>
              <a:spcAft>
                <a:spcPts val="0"/>
              </a:spcAft>
              <a:buClr>
                <a:schemeClr val="accent1"/>
              </a:buClr>
              <a:buSzPts val="4200"/>
              <a:buNone/>
              <a:defRPr sz="5600">
                <a:solidFill>
                  <a:schemeClr val="accent1"/>
                </a:solidFill>
              </a:defRPr>
            </a:lvl2pPr>
            <a:lvl3pPr lvl="2">
              <a:spcBef>
                <a:spcPts val="0"/>
              </a:spcBef>
              <a:spcAft>
                <a:spcPts val="0"/>
              </a:spcAft>
              <a:buClr>
                <a:schemeClr val="accent1"/>
              </a:buClr>
              <a:buSzPts val="4200"/>
              <a:buNone/>
              <a:defRPr sz="5600">
                <a:solidFill>
                  <a:schemeClr val="accent1"/>
                </a:solidFill>
              </a:defRPr>
            </a:lvl3pPr>
            <a:lvl4pPr lvl="3">
              <a:spcBef>
                <a:spcPts val="0"/>
              </a:spcBef>
              <a:spcAft>
                <a:spcPts val="0"/>
              </a:spcAft>
              <a:buClr>
                <a:schemeClr val="accent1"/>
              </a:buClr>
              <a:buSzPts val="4200"/>
              <a:buNone/>
              <a:defRPr sz="5600">
                <a:solidFill>
                  <a:schemeClr val="accent1"/>
                </a:solidFill>
              </a:defRPr>
            </a:lvl4pPr>
            <a:lvl5pPr lvl="4">
              <a:spcBef>
                <a:spcPts val="0"/>
              </a:spcBef>
              <a:spcAft>
                <a:spcPts val="0"/>
              </a:spcAft>
              <a:buClr>
                <a:schemeClr val="accent1"/>
              </a:buClr>
              <a:buSzPts val="4200"/>
              <a:buNone/>
              <a:defRPr sz="5600">
                <a:solidFill>
                  <a:schemeClr val="accent1"/>
                </a:solidFill>
              </a:defRPr>
            </a:lvl5pPr>
            <a:lvl6pPr lvl="5">
              <a:spcBef>
                <a:spcPts val="0"/>
              </a:spcBef>
              <a:spcAft>
                <a:spcPts val="0"/>
              </a:spcAft>
              <a:buClr>
                <a:schemeClr val="accent1"/>
              </a:buClr>
              <a:buSzPts val="4200"/>
              <a:buNone/>
              <a:defRPr sz="5600">
                <a:solidFill>
                  <a:schemeClr val="accent1"/>
                </a:solidFill>
              </a:defRPr>
            </a:lvl6pPr>
            <a:lvl7pPr lvl="6">
              <a:spcBef>
                <a:spcPts val="0"/>
              </a:spcBef>
              <a:spcAft>
                <a:spcPts val="0"/>
              </a:spcAft>
              <a:buClr>
                <a:schemeClr val="accent1"/>
              </a:buClr>
              <a:buSzPts val="4200"/>
              <a:buNone/>
              <a:defRPr sz="5600">
                <a:solidFill>
                  <a:schemeClr val="accent1"/>
                </a:solidFill>
              </a:defRPr>
            </a:lvl7pPr>
            <a:lvl8pPr lvl="7">
              <a:spcBef>
                <a:spcPts val="0"/>
              </a:spcBef>
              <a:spcAft>
                <a:spcPts val="0"/>
              </a:spcAft>
              <a:buClr>
                <a:schemeClr val="accent1"/>
              </a:buClr>
              <a:buSzPts val="4200"/>
              <a:buNone/>
              <a:defRPr sz="5600">
                <a:solidFill>
                  <a:schemeClr val="accent1"/>
                </a:solidFill>
              </a:defRPr>
            </a:lvl8pPr>
            <a:lvl9pPr lvl="8">
              <a:spcBef>
                <a:spcPts val="0"/>
              </a:spcBef>
              <a:spcAft>
                <a:spcPts val="0"/>
              </a:spcAft>
              <a:buClr>
                <a:schemeClr val="accent1"/>
              </a:buClr>
              <a:buSzPts val="4200"/>
              <a:buNone/>
              <a:defRPr sz="5600">
                <a:solidFill>
                  <a:schemeClr val="accent1"/>
                </a:solidFill>
              </a:defRPr>
            </a:lvl9pPr>
          </a:lstStyle>
          <a:p>
            <a:endParaRPr/>
          </a:p>
        </p:txBody>
      </p:sp>
      <p:sp>
        <p:nvSpPr>
          <p:cNvPr id="13" name="Google Shape;13;p2"/>
          <p:cNvSpPr txBox="1">
            <a:spLocks noGrp="1"/>
          </p:cNvSpPr>
          <p:nvPr>
            <p:ph type="subTitle" idx="1"/>
          </p:nvPr>
        </p:nvSpPr>
        <p:spPr>
          <a:xfrm>
            <a:off x="683600" y="5120852"/>
            <a:ext cx="10824800" cy="105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3200">
                <a:solidFill>
                  <a:schemeClr val="accent2"/>
                </a:solidFill>
              </a:defRPr>
            </a:lvl1pPr>
            <a:lvl2pPr lvl="1">
              <a:lnSpc>
                <a:spcPct val="100000"/>
              </a:lnSpc>
              <a:spcBef>
                <a:spcPts val="0"/>
              </a:spcBef>
              <a:spcAft>
                <a:spcPts val="0"/>
              </a:spcAft>
              <a:buClr>
                <a:schemeClr val="accent2"/>
              </a:buClr>
              <a:buSzPts val="2400"/>
              <a:buNone/>
              <a:defRPr sz="3200">
                <a:solidFill>
                  <a:schemeClr val="accent2"/>
                </a:solidFill>
              </a:defRPr>
            </a:lvl2pPr>
            <a:lvl3pPr lvl="2">
              <a:lnSpc>
                <a:spcPct val="100000"/>
              </a:lnSpc>
              <a:spcBef>
                <a:spcPts val="0"/>
              </a:spcBef>
              <a:spcAft>
                <a:spcPts val="0"/>
              </a:spcAft>
              <a:buClr>
                <a:schemeClr val="accent2"/>
              </a:buClr>
              <a:buSzPts val="2400"/>
              <a:buNone/>
              <a:defRPr sz="3200">
                <a:solidFill>
                  <a:schemeClr val="accent2"/>
                </a:solidFill>
              </a:defRPr>
            </a:lvl3pPr>
            <a:lvl4pPr lvl="3">
              <a:lnSpc>
                <a:spcPct val="100000"/>
              </a:lnSpc>
              <a:spcBef>
                <a:spcPts val="0"/>
              </a:spcBef>
              <a:spcAft>
                <a:spcPts val="0"/>
              </a:spcAft>
              <a:buClr>
                <a:schemeClr val="accent2"/>
              </a:buClr>
              <a:buSzPts val="2400"/>
              <a:buNone/>
              <a:defRPr sz="3200">
                <a:solidFill>
                  <a:schemeClr val="accent2"/>
                </a:solidFill>
              </a:defRPr>
            </a:lvl4pPr>
            <a:lvl5pPr lvl="4">
              <a:lnSpc>
                <a:spcPct val="100000"/>
              </a:lnSpc>
              <a:spcBef>
                <a:spcPts val="0"/>
              </a:spcBef>
              <a:spcAft>
                <a:spcPts val="0"/>
              </a:spcAft>
              <a:buClr>
                <a:schemeClr val="accent2"/>
              </a:buClr>
              <a:buSzPts val="2400"/>
              <a:buNone/>
              <a:defRPr sz="3200">
                <a:solidFill>
                  <a:schemeClr val="accent2"/>
                </a:solidFill>
              </a:defRPr>
            </a:lvl5pPr>
            <a:lvl6pPr lvl="5">
              <a:lnSpc>
                <a:spcPct val="100000"/>
              </a:lnSpc>
              <a:spcBef>
                <a:spcPts val="0"/>
              </a:spcBef>
              <a:spcAft>
                <a:spcPts val="0"/>
              </a:spcAft>
              <a:buClr>
                <a:schemeClr val="accent2"/>
              </a:buClr>
              <a:buSzPts val="2400"/>
              <a:buNone/>
              <a:defRPr sz="3200">
                <a:solidFill>
                  <a:schemeClr val="accent2"/>
                </a:solidFill>
              </a:defRPr>
            </a:lvl6pPr>
            <a:lvl7pPr lvl="6">
              <a:lnSpc>
                <a:spcPct val="100000"/>
              </a:lnSpc>
              <a:spcBef>
                <a:spcPts val="0"/>
              </a:spcBef>
              <a:spcAft>
                <a:spcPts val="0"/>
              </a:spcAft>
              <a:buClr>
                <a:schemeClr val="accent2"/>
              </a:buClr>
              <a:buSzPts val="2400"/>
              <a:buNone/>
              <a:defRPr sz="3200">
                <a:solidFill>
                  <a:schemeClr val="accent2"/>
                </a:solidFill>
              </a:defRPr>
            </a:lvl7pPr>
            <a:lvl8pPr lvl="7">
              <a:lnSpc>
                <a:spcPct val="100000"/>
              </a:lnSpc>
              <a:spcBef>
                <a:spcPts val="0"/>
              </a:spcBef>
              <a:spcAft>
                <a:spcPts val="0"/>
              </a:spcAft>
              <a:buClr>
                <a:schemeClr val="accent2"/>
              </a:buClr>
              <a:buSzPts val="2400"/>
              <a:buNone/>
              <a:defRPr sz="3200">
                <a:solidFill>
                  <a:schemeClr val="accent2"/>
                </a:solidFill>
              </a:defRPr>
            </a:lvl8pPr>
            <a:lvl9pPr lvl="8">
              <a:lnSpc>
                <a:spcPct val="100000"/>
              </a:lnSpc>
              <a:spcBef>
                <a:spcPts val="0"/>
              </a:spcBef>
              <a:spcAft>
                <a:spcPts val="0"/>
              </a:spcAft>
              <a:buClr>
                <a:schemeClr val="accent2"/>
              </a:buClr>
              <a:buSzPts val="2400"/>
              <a:buNone/>
              <a:defRPr sz="3200">
                <a:solidFill>
                  <a:schemeClr val="accent2"/>
                </a:solidFill>
              </a:defRPr>
            </a:lvl9pPr>
          </a:lstStyle>
          <a:p>
            <a:endParaRPr/>
          </a:p>
        </p:txBody>
      </p:sp>
      <p:sp>
        <p:nvSpPr>
          <p:cNvPr id="14" name="Google Shape;14;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7477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855912" y="4796667"/>
            <a:ext cx="5204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683600" y="2524400"/>
            <a:ext cx="10824800" cy="2030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8000">
                <a:solidFill>
                  <a:schemeClr val="accent1"/>
                </a:solidFill>
              </a:defRPr>
            </a:lvl1pPr>
            <a:lvl2pPr lvl="1">
              <a:spcBef>
                <a:spcPts val="0"/>
              </a:spcBef>
              <a:spcAft>
                <a:spcPts val="0"/>
              </a:spcAft>
              <a:buClr>
                <a:schemeClr val="accent1"/>
              </a:buClr>
              <a:buSzPts val="6000"/>
              <a:buNone/>
              <a:defRPr sz="8000">
                <a:solidFill>
                  <a:schemeClr val="accent1"/>
                </a:solidFill>
              </a:defRPr>
            </a:lvl2pPr>
            <a:lvl3pPr lvl="2">
              <a:spcBef>
                <a:spcPts val="0"/>
              </a:spcBef>
              <a:spcAft>
                <a:spcPts val="0"/>
              </a:spcAft>
              <a:buClr>
                <a:schemeClr val="accent1"/>
              </a:buClr>
              <a:buSzPts val="6000"/>
              <a:buNone/>
              <a:defRPr sz="8000">
                <a:solidFill>
                  <a:schemeClr val="accent1"/>
                </a:solidFill>
              </a:defRPr>
            </a:lvl3pPr>
            <a:lvl4pPr lvl="3">
              <a:spcBef>
                <a:spcPts val="0"/>
              </a:spcBef>
              <a:spcAft>
                <a:spcPts val="0"/>
              </a:spcAft>
              <a:buClr>
                <a:schemeClr val="accent1"/>
              </a:buClr>
              <a:buSzPts val="6000"/>
              <a:buNone/>
              <a:defRPr sz="8000">
                <a:solidFill>
                  <a:schemeClr val="accent1"/>
                </a:solidFill>
              </a:defRPr>
            </a:lvl4pPr>
            <a:lvl5pPr lvl="4">
              <a:spcBef>
                <a:spcPts val="0"/>
              </a:spcBef>
              <a:spcAft>
                <a:spcPts val="0"/>
              </a:spcAft>
              <a:buClr>
                <a:schemeClr val="accent1"/>
              </a:buClr>
              <a:buSzPts val="6000"/>
              <a:buNone/>
              <a:defRPr sz="8000">
                <a:solidFill>
                  <a:schemeClr val="accent1"/>
                </a:solidFill>
              </a:defRPr>
            </a:lvl5pPr>
            <a:lvl6pPr lvl="5">
              <a:spcBef>
                <a:spcPts val="0"/>
              </a:spcBef>
              <a:spcAft>
                <a:spcPts val="0"/>
              </a:spcAft>
              <a:buClr>
                <a:schemeClr val="accent1"/>
              </a:buClr>
              <a:buSzPts val="6000"/>
              <a:buNone/>
              <a:defRPr sz="8000">
                <a:solidFill>
                  <a:schemeClr val="accent1"/>
                </a:solidFill>
              </a:defRPr>
            </a:lvl6pPr>
            <a:lvl7pPr lvl="6">
              <a:spcBef>
                <a:spcPts val="0"/>
              </a:spcBef>
              <a:spcAft>
                <a:spcPts val="0"/>
              </a:spcAft>
              <a:buClr>
                <a:schemeClr val="accent1"/>
              </a:buClr>
              <a:buSzPts val="6000"/>
              <a:buNone/>
              <a:defRPr sz="8000">
                <a:solidFill>
                  <a:schemeClr val="accent1"/>
                </a:solidFill>
              </a:defRPr>
            </a:lvl7pPr>
            <a:lvl8pPr lvl="7">
              <a:spcBef>
                <a:spcPts val="0"/>
              </a:spcBef>
              <a:spcAft>
                <a:spcPts val="0"/>
              </a:spcAft>
              <a:buClr>
                <a:schemeClr val="accent1"/>
              </a:buClr>
              <a:buSzPts val="6000"/>
              <a:buNone/>
              <a:defRPr sz="8000">
                <a:solidFill>
                  <a:schemeClr val="accent1"/>
                </a:solidFill>
              </a:defRPr>
            </a:lvl8pPr>
            <a:lvl9pPr lvl="8">
              <a:spcBef>
                <a:spcPts val="0"/>
              </a:spcBef>
              <a:spcAft>
                <a:spcPts val="0"/>
              </a:spcAft>
              <a:buClr>
                <a:schemeClr val="accent1"/>
              </a:buClr>
              <a:buSzPts val="6000"/>
              <a:buNone/>
              <a:defRPr sz="8000">
                <a:solidFill>
                  <a:schemeClr val="accent1"/>
                </a:solidFill>
              </a:defRPr>
            </a:lvl9pPr>
          </a:lstStyle>
          <a:p>
            <a:endParaRPr/>
          </a:p>
        </p:txBody>
      </p:sp>
      <p:sp>
        <p:nvSpPr>
          <p:cNvPr id="18" name="Google Shape;18;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91372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 name="Google Shape;21;p4"/>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1841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415600" y="1562233"/>
            <a:ext cx="5333200" cy="4529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7" name="Google Shape;27;p5"/>
          <p:cNvSpPr txBox="1">
            <a:spLocks noGrp="1"/>
          </p:cNvSpPr>
          <p:nvPr>
            <p:ph type="body" idx="2"/>
          </p:nvPr>
        </p:nvSpPr>
        <p:spPr>
          <a:xfrm>
            <a:off x="6443200" y="1562233"/>
            <a:ext cx="5333200" cy="4529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8" name="Google Shape;28;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4916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5460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4" name="Google Shape;34;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5" name="Google Shape;3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46903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701800"/>
            <a:ext cx="74720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7200">
                <a:solidFill>
                  <a:schemeClr val="accent1"/>
                </a:solidFill>
              </a:defRPr>
            </a:lvl1pPr>
            <a:lvl2pPr lvl="1">
              <a:spcBef>
                <a:spcPts val="0"/>
              </a:spcBef>
              <a:spcAft>
                <a:spcPts val="0"/>
              </a:spcAft>
              <a:buClr>
                <a:schemeClr val="accent1"/>
              </a:buClr>
              <a:buSzPts val="5400"/>
              <a:buNone/>
              <a:defRPr sz="7200">
                <a:solidFill>
                  <a:schemeClr val="accent1"/>
                </a:solidFill>
              </a:defRPr>
            </a:lvl2pPr>
            <a:lvl3pPr lvl="2">
              <a:spcBef>
                <a:spcPts val="0"/>
              </a:spcBef>
              <a:spcAft>
                <a:spcPts val="0"/>
              </a:spcAft>
              <a:buClr>
                <a:schemeClr val="accent1"/>
              </a:buClr>
              <a:buSzPts val="5400"/>
              <a:buNone/>
              <a:defRPr sz="7200">
                <a:solidFill>
                  <a:schemeClr val="accent1"/>
                </a:solidFill>
              </a:defRPr>
            </a:lvl3pPr>
            <a:lvl4pPr lvl="3">
              <a:spcBef>
                <a:spcPts val="0"/>
              </a:spcBef>
              <a:spcAft>
                <a:spcPts val="0"/>
              </a:spcAft>
              <a:buClr>
                <a:schemeClr val="accent1"/>
              </a:buClr>
              <a:buSzPts val="5400"/>
              <a:buNone/>
              <a:defRPr sz="7200">
                <a:solidFill>
                  <a:schemeClr val="accent1"/>
                </a:solidFill>
              </a:defRPr>
            </a:lvl4pPr>
            <a:lvl5pPr lvl="4">
              <a:spcBef>
                <a:spcPts val="0"/>
              </a:spcBef>
              <a:spcAft>
                <a:spcPts val="0"/>
              </a:spcAft>
              <a:buClr>
                <a:schemeClr val="accent1"/>
              </a:buClr>
              <a:buSzPts val="5400"/>
              <a:buNone/>
              <a:defRPr sz="7200">
                <a:solidFill>
                  <a:schemeClr val="accent1"/>
                </a:solidFill>
              </a:defRPr>
            </a:lvl5pPr>
            <a:lvl6pPr lvl="5">
              <a:spcBef>
                <a:spcPts val="0"/>
              </a:spcBef>
              <a:spcAft>
                <a:spcPts val="0"/>
              </a:spcAft>
              <a:buClr>
                <a:schemeClr val="accent1"/>
              </a:buClr>
              <a:buSzPts val="5400"/>
              <a:buNone/>
              <a:defRPr sz="7200">
                <a:solidFill>
                  <a:schemeClr val="accent1"/>
                </a:solidFill>
              </a:defRPr>
            </a:lvl6pPr>
            <a:lvl7pPr lvl="6">
              <a:spcBef>
                <a:spcPts val="0"/>
              </a:spcBef>
              <a:spcAft>
                <a:spcPts val="0"/>
              </a:spcAft>
              <a:buClr>
                <a:schemeClr val="accent1"/>
              </a:buClr>
              <a:buSzPts val="5400"/>
              <a:buNone/>
              <a:defRPr sz="7200">
                <a:solidFill>
                  <a:schemeClr val="accent1"/>
                </a:solidFill>
              </a:defRPr>
            </a:lvl7pPr>
            <a:lvl8pPr lvl="7">
              <a:spcBef>
                <a:spcPts val="0"/>
              </a:spcBef>
              <a:spcAft>
                <a:spcPts val="0"/>
              </a:spcAft>
              <a:buClr>
                <a:schemeClr val="accent1"/>
              </a:buClr>
              <a:buSzPts val="5400"/>
              <a:buNone/>
              <a:defRPr sz="7200">
                <a:solidFill>
                  <a:schemeClr val="accent1"/>
                </a:solidFill>
              </a:defRPr>
            </a:lvl8pPr>
            <a:lvl9pPr lvl="8">
              <a:spcBef>
                <a:spcPts val="0"/>
              </a:spcBef>
              <a:spcAft>
                <a:spcPts val="0"/>
              </a:spcAft>
              <a:buClr>
                <a:schemeClr val="accent1"/>
              </a:buClr>
              <a:buSzPts val="5400"/>
              <a:buNone/>
              <a:defRPr sz="7200">
                <a:solidFill>
                  <a:schemeClr val="accent1"/>
                </a:solidFill>
              </a:defRPr>
            </a:lvl9pPr>
          </a:lstStyle>
          <a:p>
            <a:endParaRPr/>
          </a:p>
        </p:txBody>
      </p:sp>
      <p:sp>
        <p:nvSpPr>
          <p:cNvPr id="38" name="Google Shape;38;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04026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cxnSp>
        <p:nvCxnSpPr>
          <p:cNvPr id="41" name="Google Shape;41;p9"/>
          <p:cNvCxnSpPr/>
          <p:nvPr/>
        </p:nvCxnSpPr>
        <p:spPr>
          <a:xfrm>
            <a:off x="6706233" y="5994000"/>
            <a:ext cx="9152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354000" y="1843133"/>
            <a:ext cx="5393600" cy="1777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5600">
                <a:solidFill>
                  <a:schemeClr val="lt2"/>
                </a:solidFill>
              </a:defRPr>
            </a:lvl1pPr>
            <a:lvl2pPr lvl="1" algn="ctr">
              <a:spcBef>
                <a:spcPts val="0"/>
              </a:spcBef>
              <a:spcAft>
                <a:spcPts val="0"/>
              </a:spcAft>
              <a:buClr>
                <a:schemeClr val="lt2"/>
              </a:buClr>
              <a:buSzPts val="4200"/>
              <a:buNone/>
              <a:defRPr sz="5600">
                <a:solidFill>
                  <a:schemeClr val="lt2"/>
                </a:solidFill>
              </a:defRPr>
            </a:lvl2pPr>
            <a:lvl3pPr lvl="2" algn="ctr">
              <a:spcBef>
                <a:spcPts val="0"/>
              </a:spcBef>
              <a:spcAft>
                <a:spcPts val="0"/>
              </a:spcAft>
              <a:buClr>
                <a:schemeClr val="lt2"/>
              </a:buClr>
              <a:buSzPts val="4200"/>
              <a:buNone/>
              <a:defRPr sz="5600">
                <a:solidFill>
                  <a:schemeClr val="lt2"/>
                </a:solidFill>
              </a:defRPr>
            </a:lvl3pPr>
            <a:lvl4pPr lvl="3" algn="ctr">
              <a:spcBef>
                <a:spcPts val="0"/>
              </a:spcBef>
              <a:spcAft>
                <a:spcPts val="0"/>
              </a:spcAft>
              <a:buClr>
                <a:schemeClr val="lt2"/>
              </a:buClr>
              <a:buSzPts val="4200"/>
              <a:buNone/>
              <a:defRPr sz="5600">
                <a:solidFill>
                  <a:schemeClr val="lt2"/>
                </a:solidFill>
              </a:defRPr>
            </a:lvl4pPr>
            <a:lvl5pPr lvl="4" algn="ctr">
              <a:spcBef>
                <a:spcPts val="0"/>
              </a:spcBef>
              <a:spcAft>
                <a:spcPts val="0"/>
              </a:spcAft>
              <a:buClr>
                <a:schemeClr val="lt2"/>
              </a:buClr>
              <a:buSzPts val="4200"/>
              <a:buNone/>
              <a:defRPr sz="5600">
                <a:solidFill>
                  <a:schemeClr val="lt2"/>
                </a:solidFill>
              </a:defRPr>
            </a:lvl5pPr>
            <a:lvl6pPr lvl="5" algn="ctr">
              <a:spcBef>
                <a:spcPts val="0"/>
              </a:spcBef>
              <a:spcAft>
                <a:spcPts val="0"/>
              </a:spcAft>
              <a:buClr>
                <a:schemeClr val="lt2"/>
              </a:buClr>
              <a:buSzPts val="4200"/>
              <a:buNone/>
              <a:defRPr sz="5600">
                <a:solidFill>
                  <a:schemeClr val="lt2"/>
                </a:solidFill>
              </a:defRPr>
            </a:lvl6pPr>
            <a:lvl7pPr lvl="6" algn="ctr">
              <a:spcBef>
                <a:spcPts val="0"/>
              </a:spcBef>
              <a:spcAft>
                <a:spcPts val="0"/>
              </a:spcAft>
              <a:buClr>
                <a:schemeClr val="lt2"/>
              </a:buClr>
              <a:buSzPts val="4200"/>
              <a:buNone/>
              <a:defRPr sz="5600">
                <a:solidFill>
                  <a:schemeClr val="lt2"/>
                </a:solidFill>
              </a:defRPr>
            </a:lvl7pPr>
            <a:lvl8pPr lvl="7" algn="ctr">
              <a:spcBef>
                <a:spcPts val="0"/>
              </a:spcBef>
              <a:spcAft>
                <a:spcPts val="0"/>
              </a:spcAft>
              <a:buClr>
                <a:schemeClr val="lt2"/>
              </a:buClr>
              <a:buSzPts val="4200"/>
              <a:buNone/>
              <a:defRPr sz="5600">
                <a:solidFill>
                  <a:schemeClr val="lt2"/>
                </a:solidFill>
              </a:defRPr>
            </a:lvl8pPr>
            <a:lvl9pPr lvl="8" algn="ctr">
              <a:spcBef>
                <a:spcPts val="0"/>
              </a:spcBef>
              <a:spcAft>
                <a:spcPts val="0"/>
              </a:spcAft>
              <a:buClr>
                <a:schemeClr val="lt2"/>
              </a:buClr>
              <a:buSzPts val="4200"/>
              <a:buNone/>
              <a:defRPr sz="5600">
                <a:solidFill>
                  <a:schemeClr val="lt2"/>
                </a:solidFill>
              </a:defRPr>
            </a:lvl9pPr>
          </a:lstStyle>
          <a:p>
            <a:endParaRPr/>
          </a:p>
        </p:txBody>
      </p:sp>
      <p:sp>
        <p:nvSpPr>
          <p:cNvPr id="43" name="Google Shape;43;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4" name="Google Shape;4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accent1"/>
              </a:buClr>
              <a:buSzPts val="1800"/>
              <a:buChar char="●"/>
              <a:defRPr>
                <a:solidFill>
                  <a:schemeClr val="accent1"/>
                </a:solidFill>
              </a:defRPr>
            </a:lvl1pPr>
            <a:lvl2pPr marL="1219170" lvl="1" indent="-423323">
              <a:spcBef>
                <a:spcPts val="0"/>
              </a:spcBef>
              <a:spcAft>
                <a:spcPts val="0"/>
              </a:spcAft>
              <a:buClr>
                <a:schemeClr val="accent1"/>
              </a:buClr>
              <a:buSzPts val="1400"/>
              <a:buChar char="○"/>
              <a:defRPr>
                <a:solidFill>
                  <a:schemeClr val="accent1"/>
                </a:solidFill>
              </a:defRPr>
            </a:lvl2pPr>
            <a:lvl3pPr marL="1828754" lvl="2" indent="-423323">
              <a:spcBef>
                <a:spcPts val="0"/>
              </a:spcBef>
              <a:spcAft>
                <a:spcPts val="0"/>
              </a:spcAft>
              <a:buClr>
                <a:schemeClr val="accent1"/>
              </a:buClr>
              <a:buSzPts val="1400"/>
              <a:buChar char="■"/>
              <a:defRPr>
                <a:solidFill>
                  <a:schemeClr val="accent1"/>
                </a:solidFill>
              </a:defRPr>
            </a:lvl3pPr>
            <a:lvl4pPr marL="2438339" lvl="3" indent="-423323">
              <a:spcBef>
                <a:spcPts val="0"/>
              </a:spcBef>
              <a:spcAft>
                <a:spcPts val="0"/>
              </a:spcAft>
              <a:buClr>
                <a:schemeClr val="accent1"/>
              </a:buClr>
              <a:buSzPts val="1400"/>
              <a:buChar char="●"/>
              <a:defRPr>
                <a:solidFill>
                  <a:schemeClr val="accent1"/>
                </a:solidFill>
              </a:defRPr>
            </a:lvl4pPr>
            <a:lvl5pPr marL="3047924" lvl="4" indent="-423323">
              <a:spcBef>
                <a:spcPts val="0"/>
              </a:spcBef>
              <a:spcAft>
                <a:spcPts val="0"/>
              </a:spcAft>
              <a:buClr>
                <a:schemeClr val="accent1"/>
              </a:buClr>
              <a:buSzPts val="1400"/>
              <a:buChar char="○"/>
              <a:defRPr>
                <a:solidFill>
                  <a:schemeClr val="accent1"/>
                </a:solidFill>
              </a:defRPr>
            </a:lvl5pPr>
            <a:lvl6pPr marL="3657509" lvl="5" indent="-423323">
              <a:spcBef>
                <a:spcPts val="0"/>
              </a:spcBef>
              <a:spcAft>
                <a:spcPts val="0"/>
              </a:spcAft>
              <a:buClr>
                <a:schemeClr val="accent1"/>
              </a:buClr>
              <a:buSzPts val="1400"/>
              <a:buChar char="■"/>
              <a:defRPr>
                <a:solidFill>
                  <a:schemeClr val="accent1"/>
                </a:solidFill>
              </a:defRPr>
            </a:lvl6pPr>
            <a:lvl7pPr marL="4267093" lvl="6" indent="-423323">
              <a:spcBef>
                <a:spcPts val="0"/>
              </a:spcBef>
              <a:spcAft>
                <a:spcPts val="0"/>
              </a:spcAft>
              <a:buClr>
                <a:schemeClr val="accent1"/>
              </a:buClr>
              <a:buSzPts val="1400"/>
              <a:buChar char="●"/>
              <a:defRPr>
                <a:solidFill>
                  <a:schemeClr val="accent1"/>
                </a:solidFill>
              </a:defRPr>
            </a:lvl7pPr>
            <a:lvl8pPr marL="4876678" lvl="7" indent="-423323">
              <a:spcBef>
                <a:spcPts val="0"/>
              </a:spcBef>
              <a:spcAft>
                <a:spcPts val="0"/>
              </a:spcAft>
              <a:buClr>
                <a:schemeClr val="accent1"/>
              </a:buClr>
              <a:buSzPts val="1400"/>
              <a:buChar char="○"/>
              <a:defRPr>
                <a:solidFill>
                  <a:schemeClr val="accent1"/>
                </a:solidFill>
              </a:defRPr>
            </a:lvl8pPr>
            <a:lvl9pPr marL="5486263" lvl="8" indent="-423323">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31151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5641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415600" y="1386200"/>
            <a:ext cx="11360800" cy="2808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8666" b="1"/>
            </a:lvl1pPr>
            <a:lvl2pPr lvl="1" algn="ctr">
              <a:spcBef>
                <a:spcPts val="0"/>
              </a:spcBef>
              <a:spcAft>
                <a:spcPts val="0"/>
              </a:spcAft>
              <a:buSzPts val="14000"/>
              <a:buNone/>
              <a:defRPr sz="18666" b="1"/>
            </a:lvl2pPr>
            <a:lvl3pPr lvl="2" algn="ctr">
              <a:spcBef>
                <a:spcPts val="0"/>
              </a:spcBef>
              <a:spcAft>
                <a:spcPts val="0"/>
              </a:spcAft>
              <a:buSzPts val="14000"/>
              <a:buNone/>
              <a:defRPr sz="18666" b="1"/>
            </a:lvl3pPr>
            <a:lvl4pPr lvl="3" algn="ctr">
              <a:spcBef>
                <a:spcPts val="0"/>
              </a:spcBef>
              <a:spcAft>
                <a:spcPts val="0"/>
              </a:spcAft>
              <a:buSzPts val="14000"/>
              <a:buNone/>
              <a:defRPr sz="18666" b="1"/>
            </a:lvl4pPr>
            <a:lvl5pPr lvl="4" algn="ctr">
              <a:spcBef>
                <a:spcPts val="0"/>
              </a:spcBef>
              <a:spcAft>
                <a:spcPts val="0"/>
              </a:spcAft>
              <a:buSzPts val="14000"/>
              <a:buNone/>
              <a:defRPr sz="18666" b="1"/>
            </a:lvl5pPr>
            <a:lvl6pPr lvl="5" algn="ctr">
              <a:spcBef>
                <a:spcPts val="0"/>
              </a:spcBef>
              <a:spcAft>
                <a:spcPts val="0"/>
              </a:spcAft>
              <a:buSzPts val="14000"/>
              <a:buNone/>
              <a:defRPr sz="18666" b="1"/>
            </a:lvl6pPr>
            <a:lvl7pPr lvl="6" algn="ctr">
              <a:spcBef>
                <a:spcPts val="0"/>
              </a:spcBef>
              <a:spcAft>
                <a:spcPts val="0"/>
              </a:spcAft>
              <a:buSzPts val="14000"/>
              <a:buNone/>
              <a:defRPr sz="18666" b="1"/>
            </a:lvl7pPr>
            <a:lvl8pPr lvl="7" algn="ctr">
              <a:spcBef>
                <a:spcPts val="0"/>
              </a:spcBef>
              <a:spcAft>
                <a:spcPts val="0"/>
              </a:spcAft>
              <a:buSzPts val="14000"/>
              <a:buNone/>
              <a:defRPr sz="18666" b="1"/>
            </a:lvl8pPr>
            <a:lvl9pPr lvl="8" algn="ctr">
              <a:spcBef>
                <a:spcPts val="0"/>
              </a:spcBef>
              <a:spcAft>
                <a:spcPts val="0"/>
              </a:spcAft>
              <a:buSzPts val="14000"/>
              <a:buNone/>
              <a:defRPr sz="18666" b="1"/>
            </a:lvl9pPr>
          </a:lstStyle>
          <a:p>
            <a:r>
              <a:t>xx%</a:t>
            </a:r>
          </a:p>
        </p:txBody>
      </p:sp>
      <p:sp>
        <p:nvSpPr>
          <p:cNvPr id="51" name="Google Shape;51;p11"/>
          <p:cNvSpPr txBox="1">
            <a:spLocks noGrp="1"/>
          </p:cNvSpPr>
          <p:nvPr>
            <p:ph type="body" idx="1"/>
          </p:nvPr>
        </p:nvSpPr>
        <p:spPr>
          <a:xfrm>
            <a:off x="415600" y="43045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8560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83946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817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415600" y="1562133"/>
            <a:ext cx="11360800" cy="4529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1"/>
                </a:solidFill>
                <a:latin typeface="Old Standard TT"/>
                <a:ea typeface="Old Standard TT"/>
                <a:cs typeface="Old Standard TT"/>
                <a:sym typeface="Old Standard TT"/>
              </a:defRPr>
            </a:lvl1pPr>
            <a:lvl2pPr lvl="1" algn="r">
              <a:buNone/>
              <a:defRPr sz="1333">
                <a:solidFill>
                  <a:schemeClr val="dk1"/>
                </a:solidFill>
                <a:latin typeface="Old Standard TT"/>
                <a:ea typeface="Old Standard TT"/>
                <a:cs typeface="Old Standard TT"/>
                <a:sym typeface="Old Standard TT"/>
              </a:defRPr>
            </a:lvl2pPr>
            <a:lvl3pPr lvl="2" algn="r">
              <a:buNone/>
              <a:defRPr sz="1333">
                <a:solidFill>
                  <a:schemeClr val="dk1"/>
                </a:solidFill>
                <a:latin typeface="Old Standard TT"/>
                <a:ea typeface="Old Standard TT"/>
                <a:cs typeface="Old Standard TT"/>
                <a:sym typeface="Old Standard TT"/>
              </a:defRPr>
            </a:lvl3pPr>
            <a:lvl4pPr lvl="3" algn="r">
              <a:buNone/>
              <a:defRPr sz="1333">
                <a:solidFill>
                  <a:schemeClr val="dk1"/>
                </a:solidFill>
                <a:latin typeface="Old Standard TT"/>
                <a:ea typeface="Old Standard TT"/>
                <a:cs typeface="Old Standard TT"/>
                <a:sym typeface="Old Standard TT"/>
              </a:defRPr>
            </a:lvl4pPr>
            <a:lvl5pPr lvl="4" algn="r">
              <a:buNone/>
              <a:defRPr sz="1333">
                <a:solidFill>
                  <a:schemeClr val="dk1"/>
                </a:solidFill>
                <a:latin typeface="Old Standard TT"/>
                <a:ea typeface="Old Standard TT"/>
                <a:cs typeface="Old Standard TT"/>
                <a:sym typeface="Old Standard TT"/>
              </a:defRPr>
            </a:lvl5pPr>
            <a:lvl6pPr lvl="5" algn="r">
              <a:buNone/>
              <a:defRPr sz="1333">
                <a:solidFill>
                  <a:schemeClr val="dk1"/>
                </a:solidFill>
                <a:latin typeface="Old Standard TT"/>
                <a:ea typeface="Old Standard TT"/>
                <a:cs typeface="Old Standard TT"/>
                <a:sym typeface="Old Standard TT"/>
              </a:defRPr>
            </a:lvl6pPr>
            <a:lvl7pPr lvl="6" algn="r">
              <a:buNone/>
              <a:defRPr sz="1333">
                <a:solidFill>
                  <a:schemeClr val="dk1"/>
                </a:solidFill>
                <a:latin typeface="Old Standard TT"/>
                <a:ea typeface="Old Standard TT"/>
                <a:cs typeface="Old Standard TT"/>
                <a:sym typeface="Old Standard TT"/>
              </a:defRPr>
            </a:lvl7pPr>
            <a:lvl8pPr lvl="7" algn="r">
              <a:buNone/>
              <a:defRPr sz="1333">
                <a:solidFill>
                  <a:schemeClr val="dk1"/>
                </a:solidFill>
                <a:latin typeface="Old Standard TT"/>
                <a:ea typeface="Old Standard TT"/>
                <a:cs typeface="Old Standard TT"/>
                <a:sym typeface="Old Standard TT"/>
              </a:defRPr>
            </a:lvl8pPr>
            <a:lvl9pPr lvl="8" algn="r">
              <a:buNone/>
              <a:defRPr sz="1333">
                <a:solidFill>
                  <a:schemeClr val="dk1"/>
                </a:solidFill>
                <a:latin typeface="Old Standard TT"/>
                <a:ea typeface="Old Standard TT"/>
                <a:cs typeface="Old Standard TT"/>
                <a:sym typeface="Old Standard T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5455190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2E0C3-2991-FFB8-C750-710A1B0F524D}"/>
              </a:ext>
            </a:extLst>
          </p:cNvPr>
          <p:cNvSpPr>
            <a:spLocks noGrp="1"/>
          </p:cNvSpPr>
          <p:nvPr>
            <p:ph type="title"/>
          </p:nvPr>
        </p:nvSpPr>
        <p:spPr>
          <a:xfrm>
            <a:off x="415600" y="593366"/>
            <a:ext cx="11360800" cy="4107785"/>
          </a:xfrm>
        </p:spPr>
        <p:txBody>
          <a:bodyPr>
            <a:noAutofit/>
          </a:bodyPr>
          <a:lstStyle/>
          <a:p>
            <a:pPr algn="ctr"/>
            <a:br>
              <a:rPr lang="en-US" sz="4800" b="1" dirty="0"/>
            </a:br>
            <a:br>
              <a:rPr lang="en-US" sz="4800" b="1" dirty="0"/>
            </a:br>
            <a:br>
              <a:rPr lang="en-US" sz="4800" b="1" dirty="0"/>
            </a:br>
            <a:r>
              <a:rPr lang="en-US" sz="4800" b="1" dirty="0"/>
              <a:t>Module-4</a:t>
            </a:r>
          </a:p>
        </p:txBody>
      </p:sp>
      <p:pic>
        <p:nvPicPr>
          <p:cNvPr id="4" name="Picture 3">
            <a:extLst>
              <a:ext uri="{FF2B5EF4-FFF2-40B4-BE49-F238E27FC236}">
                <a16:creationId xmlns:a16="http://schemas.microsoft.com/office/drawing/2014/main" id="{D7A0769C-61DB-EE1F-AE2E-7BD857E469ED}"/>
              </a:ext>
            </a:extLst>
          </p:cNvPr>
          <p:cNvPicPr>
            <a:picLocks noChangeAspect="1"/>
          </p:cNvPicPr>
          <p:nvPr/>
        </p:nvPicPr>
        <p:blipFill>
          <a:blip r:embed="rId2"/>
          <a:stretch>
            <a:fillRect/>
          </a:stretch>
        </p:blipFill>
        <p:spPr>
          <a:xfrm>
            <a:off x="1189304" y="3681289"/>
            <a:ext cx="9813393" cy="2039724"/>
          </a:xfrm>
          <a:prstGeom prst="rect">
            <a:avLst/>
          </a:prstGeom>
        </p:spPr>
      </p:pic>
    </p:spTree>
    <p:extLst>
      <p:ext uri="{BB962C8B-B14F-4D97-AF65-F5344CB8AC3E}">
        <p14:creationId xmlns:p14="http://schemas.microsoft.com/office/powerpoint/2010/main" val="3975021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BDD21-3825-6D25-5012-13C99DB32CA7}"/>
              </a:ext>
            </a:extLst>
          </p:cNvPr>
          <p:cNvSpPr>
            <a:spLocks noGrp="1"/>
          </p:cNvSpPr>
          <p:nvPr>
            <p:ph type="title"/>
          </p:nvPr>
        </p:nvSpPr>
        <p:spPr/>
        <p:txBody>
          <a:bodyPr>
            <a:normAutofit/>
          </a:bodyPr>
          <a:lstStyle/>
          <a:p>
            <a:r>
              <a:rPr lang="en-US" sz="2400" b="1" dirty="0">
                <a:latin typeface="ITCBaileyQuadCom-Bold"/>
              </a:rPr>
              <a:t>Security Management in the Cloud</a:t>
            </a:r>
            <a:endParaRPr lang="en-US" dirty="0"/>
          </a:p>
        </p:txBody>
      </p:sp>
      <p:sp>
        <p:nvSpPr>
          <p:cNvPr id="3" name="Text Placeholder 2">
            <a:extLst>
              <a:ext uri="{FF2B5EF4-FFF2-40B4-BE49-F238E27FC236}">
                <a16:creationId xmlns:a16="http://schemas.microsoft.com/office/drawing/2014/main" id="{81018B52-3763-8E4B-F68D-7CF501AC8883}"/>
              </a:ext>
            </a:extLst>
          </p:cNvPr>
          <p:cNvSpPr>
            <a:spLocks noGrp="1"/>
          </p:cNvSpPr>
          <p:nvPr>
            <p:ph type="body" idx="1"/>
          </p:nvPr>
        </p:nvSpPr>
        <p:spPr>
          <a:xfrm>
            <a:off x="415600" y="1281194"/>
            <a:ext cx="11360800" cy="4810540"/>
          </a:xfrm>
        </p:spPr>
        <p:txBody>
          <a:bodyPr>
            <a:normAutofit/>
          </a:bodyPr>
          <a:lstStyle/>
          <a:p>
            <a:pPr algn="just"/>
            <a:r>
              <a:rPr lang="en-US" sz="1867" dirty="0">
                <a:latin typeface="Times New Roman" panose="02020603050405020304" pitchFamily="18" charset="0"/>
                <a:cs typeface="Times New Roman" panose="02020603050405020304" pitchFamily="18" charset="0"/>
              </a:rPr>
              <a:t>WITH THE ADOPTION </a:t>
            </a:r>
            <a:r>
              <a:rPr lang="en-US" sz="1867" dirty="0">
                <a:solidFill>
                  <a:srgbClr val="FF0000"/>
                </a:solidFill>
                <a:latin typeface="Times New Roman" panose="02020603050405020304" pitchFamily="18" charset="0"/>
                <a:cs typeface="Times New Roman" panose="02020603050405020304" pitchFamily="18" charset="0"/>
              </a:rPr>
              <a:t>OF PUBLIC CLOUD SERVICES</a:t>
            </a:r>
            <a:r>
              <a:rPr lang="en-US" sz="1867" dirty="0">
                <a:latin typeface="Times New Roman" panose="02020603050405020304" pitchFamily="18" charset="0"/>
                <a:cs typeface="Times New Roman" panose="02020603050405020304" pitchFamily="18" charset="0"/>
              </a:rPr>
              <a:t>,  A LARGE PART OF YOUR NETWORK, system, applications, and data will move under third-party provider control. </a:t>
            </a:r>
          </a:p>
          <a:p>
            <a:pPr algn="just"/>
            <a:endParaRPr lang="en-US" sz="1867" dirty="0">
              <a:latin typeface="Times New Roman" panose="02020603050405020304" pitchFamily="18" charset="0"/>
              <a:cs typeface="Times New Roman" panose="02020603050405020304" pitchFamily="18" charset="0"/>
            </a:endParaRPr>
          </a:p>
          <a:p>
            <a:pPr algn="just"/>
            <a:r>
              <a:rPr lang="en-US" sz="1867" dirty="0">
                <a:latin typeface="Times New Roman" panose="02020603050405020304" pitchFamily="18" charset="0"/>
                <a:cs typeface="Times New Roman" panose="02020603050405020304" pitchFamily="18" charset="0"/>
              </a:rPr>
              <a:t>The cloud services delivery model will create islands (clouds) of virtual perimeters as well as a security model with responsibilities </a:t>
            </a:r>
            <a:r>
              <a:rPr lang="en-US" sz="1867" dirty="0">
                <a:solidFill>
                  <a:srgbClr val="FF0000"/>
                </a:solidFill>
                <a:latin typeface="Times New Roman" panose="02020603050405020304" pitchFamily="18" charset="0"/>
                <a:cs typeface="Times New Roman" panose="02020603050405020304" pitchFamily="18" charset="0"/>
              </a:rPr>
              <a:t>shared between the customer and the cloud service provider (CSP). </a:t>
            </a:r>
          </a:p>
          <a:p>
            <a:pPr algn="just"/>
            <a:endParaRPr lang="en-US" sz="1867" dirty="0">
              <a:solidFill>
                <a:srgbClr val="FF0000"/>
              </a:solidFill>
              <a:latin typeface="Times New Roman" panose="02020603050405020304" pitchFamily="18" charset="0"/>
              <a:cs typeface="Times New Roman" panose="02020603050405020304" pitchFamily="18" charset="0"/>
            </a:endParaRPr>
          </a:p>
          <a:p>
            <a:pPr algn="just"/>
            <a:r>
              <a:rPr lang="en-US" sz="1867" dirty="0">
                <a:latin typeface="Times New Roman" panose="02020603050405020304" pitchFamily="18" charset="0"/>
                <a:cs typeface="Times New Roman" panose="02020603050405020304" pitchFamily="18" charset="0"/>
              </a:rPr>
              <a:t>This shared responsibility model will bring new security management challenges to the organization’s IT operations staff. </a:t>
            </a:r>
          </a:p>
          <a:p>
            <a:pPr algn="just"/>
            <a:endParaRPr lang="en-US" sz="1867" dirty="0">
              <a:latin typeface="Times New Roman" panose="02020603050405020304" pitchFamily="18" charset="0"/>
              <a:cs typeface="Times New Roman" panose="02020603050405020304" pitchFamily="18" charset="0"/>
            </a:endParaRPr>
          </a:p>
          <a:p>
            <a:pPr algn="just"/>
            <a:r>
              <a:rPr lang="en-US" sz="1867" dirty="0">
                <a:latin typeface="Times New Roman" panose="02020603050405020304" pitchFamily="18" charset="0"/>
                <a:cs typeface="Times New Roman" panose="02020603050405020304" pitchFamily="18" charset="0"/>
              </a:rPr>
              <a:t>With that in mind, the first question a chief information security officer (CISO) must answer is </a:t>
            </a:r>
            <a:r>
              <a:rPr lang="en-US" sz="1867" b="1" dirty="0">
                <a:solidFill>
                  <a:srgbClr val="FF0000"/>
                </a:solidFill>
                <a:latin typeface="Times New Roman" panose="02020603050405020304" pitchFamily="18" charset="0"/>
                <a:cs typeface="Times New Roman" panose="02020603050405020304" pitchFamily="18" charset="0"/>
              </a:rPr>
              <a:t>whether she has adequate transparency from cloud services to manage the governance (shared responsibilities</a:t>
            </a:r>
            <a:r>
              <a:rPr lang="en-US" sz="1867" dirty="0">
                <a:latin typeface="Times New Roman" panose="02020603050405020304" pitchFamily="18" charset="0"/>
                <a:cs typeface="Times New Roman" panose="02020603050405020304" pitchFamily="18" charset="0"/>
              </a:rPr>
              <a:t>) and </a:t>
            </a:r>
            <a:r>
              <a:rPr lang="en-US" sz="1867" dirty="0">
                <a:solidFill>
                  <a:srgbClr val="FF0000"/>
                </a:solidFill>
                <a:latin typeface="Times New Roman" panose="02020603050405020304" pitchFamily="18" charset="0"/>
                <a:cs typeface="Times New Roman" panose="02020603050405020304" pitchFamily="18" charset="0"/>
              </a:rPr>
              <a:t>implementation of security management processes (preventive and detective controls) to assure the business </a:t>
            </a:r>
            <a:r>
              <a:rPr lang="en-US" sz="1867" dirty="0">
                <a:latin typeface="Times New Roman" panose="02020603050405020304" pitchFamily="18" charset="0"/>
                <a:cs typeface="Times New Roman" panose="02020603050405020304" pitchFamily="18" charset="0"/>
              </a:rPr>
              <a:t>that the data in the cloud is appropriately protected</a:t>
            </a:r>
          </a:p>
        </p:txBody>
      </p:sp>
    </p:spTree>
    <p:extLst>
      <p:ext uri="{BB962C8B-B14F-4D97-AF65-F5344CB8AC3E}">
        <p14:creationId xmlns:p14="http://schemas.microsoft.com/office/powerpoint/2010/main" val="1855295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BD10-4493-7DB4-1ABA-1BFAC85F67D1}"/>
              </a:ext>
            </a:extLst>
          </p:cNvPr>
          <p:cNvSpPr>
            <a:spLocks noGrp="1"/>
          </p:cNvSpPr>
          <p:nvPr>
            <p:ph type="title"/>
          </p:nvPr>
        </p:nvSpPr>
        <p:spPr/>
        <p:txBody>
          <a:bodyPr>
            <a:normAutofit/>
          </a:bodyPr>
          <a:lstStyle/>
          <a:p>
            <a:endParaRPr lang="en-US" dirty="0"/>
          </a:p>
        </p:txBody>
      </p:sp>
      <p:sp>
        <p:nvSpPr>
          <p:cNvPr id="3" name="Text Placeholder 2">
            <a:extLst>
              <a:ext uri="{FF2B5EF4-FFF2-40B4-BE49-F238E27FC236}">
                <a16:creationId xmlns:a16="http://schemas.microsoft.com/office/drawing/2014/main" id="{D53EEE7C-579D-4113-B993-976CD624A79A}"/>
              </a:ext>
            </a:extLst>
          </p:cNvPr>
          <p:cNvSpPr>
            <a:spLocks noGrp="1"/>
          </p:cNvSpPr>
          <p:nvPr>
            <p:ph type="body" idx="1"/>
          </p:nvPr>
        </p:nvSpPr>
        <p:spPr/>
        <p:txBody>
          <a:bodyPr/>
          <a:lstStyle/>
          <a:p>
            <a:pPr algn="just"/>
            <a:r>
              <a:rPr lang="en-US" sz="2400" dirty="0">
                <a:latin typeface="MeridienLTStd-Roman"/>
              </a:rPr>
              <a:t>The answer to this question has two parts: </a:t>
            </a:r>
            <a:r>
              <a:rPr lang="en-US" sz="2400" dirty="0">
                <a:solidFill>
                  <a:srgbClr val="FF0000"/>
                </a:solidFill>
                <a:latin typeface="MeridienLTStd-Roman"/>
              </a:rPr>
              <a:t>what security controls must the customer provide over and above the controls inherent in the cloud platform</a:t>
            </a:r>
            <a:r>
              <a:rPr lang="en-US" sz="2400" dirty="0">
                <a:latin typeface="MeridienLTStd-Roman"/>
              </a:rPr>
              <a:t>, and </a:t>
            </a:r>
            <a:r>
              <a:rPr lang="en-US" sz="2400" dirty="0">
                <a:solidFill>
                  <a:srgbClr val="0070C0"/>
                </a:solidFill>
                <a:latin typeface="MeridienLTStd-Roman"/>
              </a:rPr>
              <a:t>how must an enterprise’s security management tools and processes adapt to manage security in the cloud</a:t>
            </a:r>
            <a:r>
              <a:rPr lang="en-US" sz="2400" dirty="0">
                <a:latin typeface="MeridienLTStd-Roman"/>
              </a:rPr>
              <a:t>.</a:t>
            </a:r>
          </a:p>
          <a:p>
            <a:pPr algn="just"/>
            <a:endParaRPr lang="en-US" sz="2400" dirty="0">
              <a:latin typeface="MeridienLTStd-Roman"/>
            </a:endParaRPr>
          </a:p>
          <a:p>
            <a:pPr algn="just"/>
            <a:r>
              <a:rPr lang="en-US" sz="2400" dirty="0">
                <a:latin typeface="MeridienLTStd-Roman"/>
              </a:rPr>
              <a:t> Both answers must be continually reevaluated based on the sensitivity of the data and the service-level changes over time.</a:t>
            </a:r>
            <a:endParaRPr lang="en-US" dirty="0"/>
          </a:p>
        </p:txBody>
      </p:sp>
    </p:spTree>
    <p:extLst>
      <p:ext uri="{BB962C8B-B14F-4D97-AF65-F5344CB8AC3E}">
        <p14:creationId xmlns:p14="http://schemas.microsoft.com/office/powerpoint/2010/main" val="177768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DA77-2C53-297F-E816-D797320C7A02}"/>
              </a:ext>
            </a:extLst>
          </p:cNvPr>
          <p:cNvSpPr>
            <a:spLocks noGrp="1"/>
          </p:cNvSpPr>
          <p:nvPr>
            <p:ph type="title"/>
          </p:nvPr>
        </p:nvSpPr>
        <p:spPr/>
        <p:txBody>
          <a:bodyPr>
            <a:normAutofit/>
          </a:bodyPr>
          <a:lstStyle/>
          <a:p>
            <a:r>
              <a:rPr lang="en-US" dirty="0"/>
              <a:t>USER -Responsibility</a:t>
            </a:r>
          </a:p>
        </p:txBody>
      </p:sp>
      <p:sp>
        <p:nvSpPr>
          <p:cNvPr id="3" name="Text Placeholder 2">
            <a:extLst>
              <a:ext uri="{FF2B5EF4-FFF2-40B4-BE49-F238E27FC236}">
                <a16:creationId xmlns:a16="http://schemas.microsoft.com/office/drawing/2014/main" id="{92E29B61-8173-7DEB-4066-172757926D94}"/>
              </a:ext>
            </a:extLst>
          </p:cNvPr>
          <p:cNvSpPr>
            <a:spLocks noGrp="1"/>
          </p:cNvSpPr>
          <p:nvPr>
            <p:ph type="body" idx="1"/>
          </p:nvPr>
        </p:nvSpPr>
        <p:spPr/>
        <p:txBody>
          <a:bodyPr>
            <a:normAutofit/>
          </a:bodyPr>
          <a:lstStyle/>
          <a:p>
            <a:pPr algn="l"/>
            <a:r>
              <a:rPr lang="en-US" sz="2400" dirty="0">
                <a:solidFill>
                  <a:srgbClr val="000000"/>
                </a:solidFill>
                <a:latin typeface="MeridienLTStd-Roman"/>
              </a:rPr>
              <a:t>As a customer of the cloud, you should start with the exercise of understanding the </a:t>
            </a:r>
            <a:r>
              <a:rPr lang="en-US" sz="2400" b="1" dirty="0">
                <a:solidFill>
                  <a:srgbClr val="0070C0"/>
                </a:solidFill>
                <a:latin typeface="MeridienLTStd-Roman"/>
              </a:rPr>
              <a:t>trust boundary of your services in the cloud</a:t>
            </a:r>
            <a:r>
              <a:rPr lang="en-US" sz="2400" dirty="0">
                <a:solidFill>
                  <a:srgbClr val="000000"/>
                </a:solidFill>
                <a:latin typeface="MeridienLTStd-Roman"/>
              </a:rPr>
              <a:t>.</a:t>
            </a:r>
          </a:p>
          <a:p>
            <a:pPr algn="l"/>
            <a:r>
              <a:rPr lang="en-US" sz="2400" dirty="0">
                <a:solidFill>
                  <a:srgbClr val="000000"/>
                </a:solidFill>
                <a:latin typeface="MeridienLTStd-Roman"/>
              </a:rPr>
              <a:t> You should understand </a:t>
            </a:r>
            <a:r>
              <a:rPr lang="en-US" sz="2400" dirty="0">
                <a:solidFill>
                  <a:schemeClr val="accent6">
                    <a:lumMod val="50000"/>
                  </a:schemeClr>
                </a:solidFill>
                <a:latin typeface="MeridienLTStd-Roman"/>
              </a:rPr>
              <a:t>all the layers you own, touch, or interface with in the cloud service—network, host, application, database, storage, and web services including identity services . </a:t>
            </a:r>
          </a:p>
          <a:p>
            <a:pPr algn="l"/>
            <a:r>
              <a:rPr lang="en-US" sz="2400" dirty="0">
                <a:solidFill>
                  <a:srgbClr val="000000"/>
                </a:solidFill>
                <a:latin typeface="MeridienLTStd-Roman"/>
              </a:rPr>
              <a:t>You also need to understand the scope of IT system management and monitoring responsibilities that fall on your shoulders, including access, change, configuration, patch, and vulnerability management.</a:t>
            </a:r>
          </a:p>
        </p:txBody>
      </p:sp>
    </p:spTree>
    <p:extLst>
      <p:ext uri="{BB962C8B-B14F-4D97-AF65-F5344CB8AC3E}">
        <p14:creationId xmlns:p14="http://schemas.microsoft.com/office/powerpoint/2010/main" val="156800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31B1-C161-CFCD-3F29-257F47003C1E}"/>
              </a:ext>
            </a:extLst>
          </p:cNvPr>
          <p:cNvSpPr>
            <a:spLocks noGrp="1"/>
          </p:cNvSpPr>
          <p:nvPr>
            <p:ph type="title"/>
          </p:nvPr>
        </p:nvSpPr>
        <p:spPr/>
        <p:txBody>
          <a:bodyPr>
            <a:normAutofit/>
          </a:bodyPr>
          <a:lstStyle/>
          <a:p>
            <a:r>
              <a:rPr lang="en-US" dirty="0"/>
              <a:t>Security management and monitoring scope</a:t>
            </a:r>
          </a:p>
        </p:txBody>
      </p:sp>
      <p:sp>
        <p:nvSpPr>
          <p:cNvPr id="3" name="Text Placeholder 2">
            <a:extLst>
              <a:ext uri="{FF2B5EF4-FFF2-40B4-BE49-F238E27FC236}">
                <a16:creationId xmlns:a16="http://schemas.microsoft.com/office/drawing/2014/main" id="{2F39FCC0-F7AF-513D-D039-B4E30AEF4B6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95B35C3-4EAE-1511-AC6A-91277B595E47}"/>
              </a:ext>
            </a:extLst>
          </p:cNvPr>
          <p:cNvPicPr>
            <a:picLocks noChangeAspect="1"/>
          </p:cNvPicPr>
          <p:nvPr/>
        </p:nvPicPr>
        <p:blipFill>
          <a:blip r:embed="rId2"/>
          <a:stretch>
            <a:fillRect/>
          </a:stretch>
        </p:blipFill>
        <p:spPr>
          <a:xfrm>
            <a:off x="1720198" y="1198389"/>
            <a:ext cx="8565623" cy="5659611"/>
          </a:xfrm>
          <a:prstGeom prst="rect">
            <a:avLst/>
          </a:prstGeom>
        </p:spPr>
      </p:pic>
    </p:spTree>
    <p:extLst>
      <p:ext uri="{BB962C8B-B14F-4D97-AF65-F5344CB8AC3E}">
        <p14:creationId xmlns:p14="http://schemas.microsoft.com/office/powerpoint/2010/main" val="927910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5204-5DC0-68CB-4DA6-34B2B58A9641}"/>
              </a:ext>
            </a:extLst>
          </p:cNvPr>
          <p:cNvSpPr>
            <a:spLocks noGrp="1"/>
          </p:cNvSpPr>
          <p:nvPr>
            <p:ph type="title"/>
          </p:nvPr>
        </p:nvSpPr>
        <p:spPr/>
        <p:txBody>
          <a:bodyPr>
            <a:normAutofit fontScale="90000"/>
          </a:bodyPr>
          <a:lstStyle/>
          <a:p>
            <a:r>
              <a:rPr lang="en-US" b="1" dirty="0"/>
              <a:t>Cloud Security Management and ITIL Framework</a:t>
            </a:r>
            <a:br>
              <a:rPr lang="en-US" b="1" dirty="0"/>
            </a:br>
            <a:endParaRPr lang="en-US" dirty="0"/>
          </a:p>
        </p:txBody>
      </p:sp>
      <p:sp>
        <p:nvSpPr>
          <p:cNvPr id="3" name="Text Placeholder 2">
            <a:extLst>
              <a:ext uri="{FF2B5EF4-FFF2-40B4-BE49-F238E27FC236}">
                <a16:creationId xmlns:a16="http://schemas.microsoft.com/office/drawing/2014/main" id="{F51D79DC-E25D-FDBF-3E96-6BF60C2C49BD}"/>
              </a:ext>
            </a:extLst>
          </p:cNvPr>
          <p:cNvSpPr>
            <a:spLocks noGrp="1"/>
          </p:cNvSpPr>
          <p:nvPr>
            <p:ph type="body" idx="1"/>
          </p:nvPr>
        </p:nvSpPr>
        <p:spPr/>
        <p:txBody>
          <a:bodyPr/>
          <a:lstStyle/>
          <a:p>
            <a:pPr>
              <a:lnSpc>
                <a:spcPct val="200000"/>
              </a:lnSpc>
              <a:buNone/>
            </a:pPr>
            <a:r>
              <a:rPr lang="en-US" dirty="0"/>
              <a:t>When organizations adopt cloud services, some operational responsibilities are shifted to the provider. However, the </a:t>
            </a:r>
            <a:r>
              <a:rPr lang="en-US" b="1" dirty="0"/>
              <a:t>extent of responsibility varies</a:t>
            </a:r>
            <a:r>
              <a:rPr lang="en-US" dirty="0"/>
              <a:t> depending on factors such as:</a:t>
            </a:r>
          </a:p>
          <a:p>
            <a:pPr>
              <a:lnSpc>
                <a:spcPct val="200000"/>
              </a:lnSpc>
              <a:buFont typeface="Arial" panose="020B0604020202020204" pitchFamily="34" charset="0"/>
              <a:buChar char="•"/>
            </a:pPr>
            <a:r>
              <a:rPr lang="en-US" dirty="0">
                <a:solidFill>
                  <a:srgbClr val="FF0000"/>
                </a:solidFill>
              </a:rPr>
              <a:t>Service delivery model (SPI): SaaS, PaaS, or IaaS</a:t>
            </a:r>
          </a:p>
          <a:p>
            <a:pPr>
              <a:lnSpc>
                <a:spcPct val="200000"/>
              </a:lnSpc>
              <a:buFont typeface="Arial" panose="020B0604020202020204" pitchFamily="34" charset="0"/>
              <a:buChar char="•"/>
            </a:pPr>
            <a:r>
              <a:rPr lang="en-US" dirty="0">
                <a:solidFill>
                  <a:srgbClr val="FF0000"/>
                </a:solidFill>
              </a:rPr>
              <a:t>Provider’s SLA (Service-Level Agreement): what is formally guaranteed</a:t>
            </a:r>
          </a:p>
          <a:p>
            <a:pPr>
              <a:lnSpc>
                <a:spcPct val="200000"/>
              </a:lnSpc>
              <a:buFont typeface="Arial" panose="020B0604020202020204" pitchFamily="34" charset="0"/>
              <a:buChar char="•"/>
            </a:pPr>
            <a:r>
              <a:rPr lang="en-US" dirty="0">
                <a:solidFill>
                  <a:srgbClr val="FF0000"/>
                </a:solidFill>
              </a:rPr>
              <a:t>Provider’s capabilities: ability to integrate with your existing security processes and tools</a:t>
            </a:r>
          </a:p>
          <a:p>
            <a:endParaRPr lang="en-US" dirty="0"/>
          </a:p>
        </p:txBody>
      </p:sp>
    </p:spTree>
    <p:extLst>
      <p:ext uri="{BB962C8B-B14F-4D97-AF65-F5344CB8AC3E}">
        <p14:creationId xmlns:p14="http://schemas.microsoft.com/office/powerpoint/2010/main" val="4033144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4BAE-5849-595F-5867-CCAA05F0859E}"/>
              </a:ext>
            </a:extLst>
          </p:cNvPr>
          <p:cNvSpPr>
            <a:spLocks noGrp="1"/>
          </p:cNvSpPr>
          <p:nvPr>
            <p:ph type="title"/>
          </p:nvPr>
        </p:nvSpPr>
        <p:spPr/>
        <p:txBody>
          <a:bodyPr>
            <a:normAutofit fontScale="90000"/>
          </a:bodyPr>
          <a:lstStyle/>
          <a:p>
            <a:r>
              <a:rPr lang="en-US" b="1" dirty="0"/>
              <a:t>Role of Security Management Frameworks</a:t>
            </a:r>
            <a:br>
              <a:rPr lang="en-US" b="1" dirty="0"/>
            </a:br>
            <a:endParaRPr lang="en-US" dirty="0"/>
          </a:p>
        </p:txBody>
      </p:sp>
      <p:sp>
        <p:nvSpPr>
          <p:cNvPr id="3" name="Text Placeholder 2">
            <a:extLst>
              <a:ext uri="{FF2B5EF4-FFF2-40B4-BE49-F238E27FC236}">
                <a16:creationId xmlns:a16="http://schemas.microsoft.com/office/drawing/2014/main" id="{A8452E00-04A6-1872-F8B7-43A701D36BAE}"/>
              </a:ext>
            </a:extLst>
          </p:cNvPr>
          <p:cNvSpPr>
            <a:spLocks noGrp="1"/>
          </p:cNvSpPr>
          <p:nvPr>
            <p:ph type="body" idx="1"/>
          </p:nvPr>
        </p:nvSpPr>
        <p:spPr/>
        <p:txBody>
          <a:bodyPr>
            <a:normAutofit fontScale="92500"/>
          </a:bodyPr>
          <a:lstStyle/>
          <a:p>
            <a:pPr>
              <a:lnSpc>
                <a:spcPct val="250000"/>
              </a:lnSpc>
            </a:pPr>
            <a:r>
              <a:rPr lang="en-US" dirty="0"/>
              <a:t>Mature IT organizations often adopt </a:t>
            </a:r>
            <a:r>
              <a:rPr lang="en-US" b="1" dirty="0"/>
              <a:t>industry-standard frameworks</a:t>
            </a:r>
            <a:r>
              <a:rPr lang="en-US" dirty="0"/>
              <a:t> like:</a:t>
            </a:r>
          </a:p>
          <a:p>
            <a:pPr lvl="1">
              <a:lnSpc>
                <a:spcPct val="250000"/>
              </a:lnSpc>
            </a:pPr>
            <a:r>
              <a:rPr lang="en-US" b="1" dirty="0"/>
              <a:t>ISO/IEC 27000:</a:t>
            </a:r>
            <a:r>
              <a:rPr lang="en-US" dirty="0"/>
              <a:t> Provides best practices for information security management.</a:t>
            </a:r>
          </a:p>
          <a:p>
            <a:pPr lvl="1">
              <a:lnSpc>
                <a:spcPct val="250000"/>
              </a:lnSpc>
            </a:pPr>
            <a:r>
              <a:rPr lang="en-US" b="1" dirty="0"/>
              <a:t>ITIL (Information Technology Infrastructure Library):</a:t>
            </a:r>
            <a:r>
              <a:rPr lang="en-US" dirty="0"/>
              <a:t> Offers structured guidance for IT service management.</a:t>
            </a:r>
          </a:p>
          <a:p>
            <a:pPr>
              <a:lnSpc>
                <a:spcPct val="250000"/>
              </a:lnSpc>
            </a:pPr>
            <a:r>
              <a:rPr lang="en-US" dirty="0"/>
              <a:t>These frameworks:</a:t>
            </a:r>
          </a:p>
          <a:p>
            <a:pPr>
              <a:lnSpc>
                <a:spcPct val="250000"/>
              </a:lnSpc>
            </a:pPr>
            <a:r>
              <a:rPr lang="en-US" dirty="0"/>
              <a:t>Help plan and implement </a:t>
            </a:r>
            <a:r>
              <a:rPr lang="en-US" b="1" dirty="0"/>
              <a:t>governance programs</a:t>
            </a:r>
            <a:r>
              <a:rPr lang="en-US" dirty="0"/>
              <a:t> that protect information assets.</a:t>
            </a:r>
          </a:p>
          <a:p>
            <a:pPr>
              <a:lnSpc>
                <a:spcPct val="250000"/>
              </a:lnSpc>
            </a:pPr>
            <a:r>
              <a:rPr lang="en-US" dirty="0"/>
              <a:t>Provide </a:t>
            </a:r>
            <a:r>
              <a:rPr lang="en-US" b="1" dirty="0"/>
              <a:t>detailed practices, checklists, and procedures</a:t>
            </a:r>
            <a:r>
              <a:rPr lang="en-US" dirty="0"/>
              <a:t> that can be adapted to any IT organization.</a:t>
            </a:r>
          </a:p>
          <a:p>
            <a:endParaRPr lang="en-US" dirty="0"/>
          </a:p>
        </p:txBody>
      </p:sp>
    </p:spTree>
    <p:extLst>
      <p:ext uri="{BB962C8B-B14F-4D97-AF65-F5344CB8AC3E}">
        <p14:creationId xmlns:p14="http://schemas.microsoft.com/office/powerpoint/2010/main" val="2674923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F8DA-79CB-4D0A-CE0E-09E4735E6A34}"/>
              </a:ext>
            </a:extLst>
          </p:cNvPr>
          <p:cNvSpPr>
            <a:spLocks noGrp="1"/>
          </p:cNvSpPr>
          <p:nvPr>
            <p:ph type="title"/>
          </p:nvPr>
        </p:nvSpPr>
        <p:spPr/>
        <p:txBody>
          <a:bodyPr>
            <a:normAutofit fontScale="90000"/>
          </a:bodyPr>
          <a:lstStyle/>
          <a:p>
            <a:r>
              <a:rPr lang="en-US" b="1" dirty="0"/>
              <a:t>ITIL and Continuous Service Improvement</a:t>
            </a:r>
            <a:br>
              <a:rPr lang="en-US" b="1" dirty="0"/>
            </a:br>
            <a:endParaRPr lang="en-US" dirty="0"/>
          </a:p>
        </p:txBody>
      </p:sp>
      <p:sp>
        <p:nvSpPr>
          <p:cNvPr id="3" name="Text Placeholder 2">
            <a:extLst>
              <a:ext uri="{FF2B5EF4-FFF2-40B4-BE49-F238E27FC236}">
                <a16:creationId xmlns:a16="http://schemas.microsoft.com/office/drawing/2014/main" id="{0ACE00A0-CBAE-635C-83A0-7924883E82CC}"/>
              </a:ext>
            </a:extLst>
          </p:cNvPr>
          <p:cNvSpPr>
            <a:spLocks noGrp="1"/>
          </p:cNvSpPr>
          <p:nvPr>
            <p:ph type="body" idx="1"/>
          </p:nvPr>
        </p:nvSpPr>
        <p:spPr/>
        <p:txBody>
          <a:bodyPr/>
          <a:lstStyle/>
          <a:p>
            <a:pPr>
              <a:lnSpc>
                <a:spcPct val="150000"/>
              </a:lnSpc>
            </a:pPr>
            <a:r>
              <a:rPr lang="en-US" dirty="0"/>
              <a:t>A central principle of ITIL is recognizing that:</a:t>
            </a:r>
          </a:p>
          <a:p>
            <a:pPr lvl="1">
              <a:lnSpc>
                <a:spcPct val="150000"/>
              </a:lnSpc>
            </a:pPr>
            <a:r>
              <a:rPr lang="en-US" b="1" dirty="0"/>
              <a:t>Organizations, processes, and IT systems constantly change.</a:t>
            </a:r>
            <a:endParaRPr lang="en-US" dirty="0"/>
          </a:p>
          <a:p>
            <a:pPr lvl="1">
              <a:lnSpc>
                <a:spcPct val="150000"/>
              </a:lnSpc>
            </a:pPr>
            <a:r>
              <a:rPr lang="en-US" dirty="0"/>
              <a:t>Cloud computing, being </a:t>
            </a:r>
            <a:r>
              <a:rPr lang="en-US" b="1" dirty="0"/>
              <a:t>dynamic by nature, demands continuous alignment of IT services with business needs.</a:t>
            </a:r>
          </a:p>
          <a:p>
            <a:pPr>
              <a:lnSpc>
                <a:spcPct val="150000"/>
              </a:lnSpc>
            </a:pPr>
            <a:r>
              <a:rPr lang="en-US" b="1" dirty="0"/>
              <a:t>Continuous Service Improvement (CSI)</a:t>
            </a:r>
            <a:r>
              <a:rPr lang="en-US" dirty="0"/>
              <a:t> in ITIL means:</a:t>
            </a:r>
          </a:p>
          <a:p>
            <a:pPr lvl="1">
              <a:lnSpc>
                <a:spcPct val="150000"/>
              </a:lnSpc>
            </a:pPr>
            <a:r>
              <a:rPr lang="en-US" dirty="0"/>
              <a:t>Regularly identifying and implementing improvements in IT services.</a:t>
            </a:r>
          </a:p>
          <a:p>
            <a:pPr lvl="1">
              <a:lnSpc>
                <a:spcPct val="150000"/>
              </a:lnSpc>
            </a:pPr>
            <a:r>
              <a:rPr lang="en-US" dirty="0"/>
              <a:t>Ensuring IT services (e.g., cloud-hosted CRM or sales automation tools) continue to support evolving business processes effectively.</a:t>
            </a:r>
          </a:p>
          <a:p>
            <a:pPr>
              <a:lnSpc>
                <a:spcPct val="150000"/>
              </a:lnSpc>
            </a:pPr>
            <a:r>
              <a:rPr lang="en-US" dirty="0"/>
              <a:t>For cloud environments, this means </a:t>
            </a:r>
            <a:r>
              <a:rPr lang="en-US" b="1" dirty="0"/>
              <a:t>security management processes must be regularly revised</a:t>
            </a:r>
            <a:r>
              <a:rPr lang="en-US" dirty="0"/>
              <a:t> to stay effective and up to date.</a:t>
            </a:r>
          </a:p>
          <a:p>
            <a:endParaRPr lang="en-US" dirty="0"/>
          </a:p>
        </p:txBody>
      </p:sp>
    </p:spTree>
    <p:extLst>
      <p:ext uri="{BB962C8B-B14F-4D97-AF65-F5344CB8AC3E}">
        <p14:creationId xmlns:p14="http://schemas.microsoft.com/office/powerpoint/2010/main" val="1926923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96C87-721C-4355-9138-BB043BC2DC98}"/>
              </a:ext>
            </a:extLst>
          </p:cNvPr>
          <p:cNvSpPr>
            <a:spLocks noGrp="1"/>
          </p:cNvSpPr>
          <p:nvPr>
            <p:ph type="title"/>
          </p:nvPr>
        </p:nvSpPr>
        <p:spPr/>
        <p:txBody>
          <a:bodyPr>
            <a:normAutofit fontScale="90000"/>
          </a:bodyPr>
          <a:lstStyle/>
          <a:p>
            <a:r>
              <a:rPr lang="en-US" b="1" dirty="0"/>
              <a:t>Goals of the ITIL Security Management Framework</a:t>
            </a:r>
            <a:br>
              <a:rPr lang="en-US" b="1" dirty="0"/>
            </a:br>
            <a:endParaRPr lang="en-US" dirty="0"/>
          </a:p>
        </p:txBody>
      </p:sp>
      <p:sp>
        <p:nvSpPr>
          <p:cNvPr id="3" name="Text Placeholder 2">
            <a:extLst>
              <a:ext uri="{FF2B5EF4-FFF2-40B4-BE49-F238E27FC236}">
                <a16:creationId xmlns:a16="http://schemas.microsoft.com/office/drawing/2014/main" id="{41081E8B-49B9-F6AF-1A43-837F6519D76C}"/>
              </a:ext>
            </a:extLst>
          </p:cNvPr>
          <p:cNvSpPr>
            <a:spLocks noGrp="1"/>
          </p:cNvSpPr>
          <p:nvPr>
            <p:ph type="body" idx="1"/>
          </p:nvPr>
        </p:nvSpPr>
        <p:spPr/>
        <p:txBody>
          <a:bodyPr/>
          <a:lstStyle/>
          <a:p>
            <a:pPr>
              <a:lnSpc>
                <a:spcPct val="200000"/>
              </a:lnSpc>
            </a:pPr>
            <a:r>
              <a:rPr lang="en-US" b="1" dirty="0"/>
              <a:t>Realization of Security Requirements</a:t>
            </a:r>
            <a:endParaRPr lang="en-US" dirty="0"/>
          </a:p>
          <a:p>
            <a:pPr lvl="1">
              <a:lnSpc>
                <a:spcPct val="200000"/>
              </a:lnSpc>
            </a:pPr>
            <a:r>
              <a:rPr lang="en-US" dirty="0"/>
              <a:t>Defined in SLAs, contracts, legislation, or internal/external policies.</a:t>
            </a:r>
          </a:p>
          <a:p>
            <a:pPr>
              <a:lnSpc>
                <a:spcPct val="200000"/>
              </a:lnSpc>
            </a:pPr>
            <a:r>
              <a:rPr lang="en-US" b="1" dirty="0"/>
              <a:t>Realization of a Basic Level of Security</a:t>
            </a:r>
            <a:endParaRPr lang="en-US" dirty="0"/>
          </a:p>
          <a:p>
            <a:pPr lvl="1">
              <a:lnSpc>
                <a:spcPct val="200000"/>
              </a:lnSpc>
            </a:pPr>
            <a:r>
              <a:rPr lang="en-US" dirty="0"/>
              <a:t>Ensures </a:t>
            </a:r>
            <a:r>
              <a:rPr lang="en-US" b="1" dirty="0"/>
              <a:t>continuity and resilience</a:t>
            </a:r>
            <a:r>
              <a:rPr lang="en-US" dirty="0"/>
              <a:t> of the organization.</a:t>
            </a:r>
          </a:p>
          <a:p>
            <a:pPr lvl="1">
              <a:lnSpc>
                <a:spcPct val="200000"/>
              </a:lnSpc>
            </a:pPr>
            <a:r>
              <a:rPr lang="en-US" dirty="0"/>
              <a:t>Simplifies </a:t>
            </a:r>
            <a:r>
              <a:rPr lang="en-US" b="1" dirty="0"/>
              <a:t>service-level management</a:t>
            </a:r>
            <a:r>
              <a:rPr lang="en-US" dirty="0"/>
              <a:t> for security.</a:t>
            </a:r>
          </a:p>
          <a:p>
            <a:endParaRPr lang="en-US" dirty="0"/>
          </a:p>
        </p:txBody>
      </p:sp>
    </p:spTree>
    <p:extLst>
      <p:ext uri="{BB962C8B-B14F-4D97-AF65-F5344CB8AC3E}">
        <p14:creationId xmlns:p14="http://schemas.microsoft.com/office/powerpoint/2010/main" val="713981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1612-7A5B-09B3-B6F3-78DEC75271AD}"/>
              </a:ext>
            </a:extLst>
          </p:cNvPr>
          <p:cNvSpPr>
            <a:spLocks noGrp="1"/>
          </p:cNvSpPr>
          <p:nvPr>
            <p:ph type="title"/>
          </p:nvPr>
        </p:nvSpPr>
        <p:spPr>
          <a:xfrm>
            <a:off x="415600" y="227367"/>
            <a:ext cx="11360800" cy="538900"/>
          </a:xfrm>
        </p:spPr>
        <p:txBody>
          <a:bodyPr>
            <a:noAutofit/>
          </a:bodyPr>
          <a:lstStyle/>
          <a:p>
            <a:r>
              <a:rPr lang="en-US" sz="3200" b="1" dirty="0"/>
              <a:t>The ITIL life cycle in an enterprise</a:t>
            </a:r>
          </a:p>
        </p:txBody>
      </p:sp>
      <p:sp>
        <p:nvSpPr>
          <p:cNvPr id="3" name="Text Placeholder 2">
            <a:extLst>
              <a:ext uri="{FF2B5EF4-FFF2-40B4-BE49-F238E27FC236}">
                <a16:creationId xmlns:a16="http://schemas.microsoft.com/office/drawing/2014/main" id="{A353F52A-2DD7-83BB-97AB-7B8C9C570D8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8A123DC-A6F8-481C-4A7F-425FABEC426E}"/>
              </a:ext>
            </a:extLst>
          </p:cNvPr>
          <p:cNvPicPr>
            <a:picLocks noChangeAspect="1"/>
          </p:cNvPicPr>
          <p:nvPr/>
        </p:nvPicPr>
        <p:blipFill>
          <a:blip r:embed="rId2"/>
          <a:stretch>
            <a:fillRect/>
          </a:stretch>
        </p:blipFill>
        <p:spPr>
          <a:xfrm>
            <a:off x="826577" y="1132268"/>
            <a:ext cx="8016916" cy="5583665"/>
          </a:xfrm>
          <a:prstGeom prst="rect">
            <a:avLst/>
          </a:prstGeom>
        </p:spPr>
      </p:pic>
    </p:spTree>
    <p:extLst>
      <p:ext uri="{BB962C8B-B14F-4D97-AF65-F5344CB8AC3E}">
        <p14:creationId xmlns:p14="http://schemas.microsoft.com/office/powerpoint/2010/main" val="119854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55DD7-04E3-514D-5BAE-815764221BD3}"/>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63A4E7B5-2327-CD37-58B9-00700458F562}"/>
              </a:ext>
            </a:extLst>
          </p:cNvPr>
          <p:cNvSpPr>
            <a:spLocks noGrp="1"/>
          </p:cNvSpPr>
          <p:nvPr>
            <p:ph type="body" idx="1"/>
          </p:nvPr>
        </p:nvSpPr>
        <p:spPr/>
        <p:txBody>
          <a:bodyPr/>
          <a:lstStyle/>
          <a:p>
            <a:pPr marL="152396" indent="0">
              <a:lnSpc>
                <a:spcPct val="250000"/>
              </a:lnSpc>
              <a:buNone/>
            </a:pPr>
            <a:r>
              <a:rPr lang="en-US" b="1" dirty="0"/>
              <a:t>1. Strategic Processes (Top Level)</a:t>
            </a:r>
          </a:p>
          <a:p>
            <a:pPr>
              <a:lnSpc>
                <a:spcPct val="250000"/>
              </a:lnSpc>
            </a:pPr>
            <a:r>
              <a:rPr lang="en-US" b="1" dirty="0"/>
              <a:t>Service Strategy ---</a:t>
            </a:r>
            <a:r>
              <a:rPr lang="en-US" dirty="0"/>
              <a:t>Defines the overall goals and direction of IT services.</a:t>
            </a:r>
          </a:p>
          <a:p>
            <a:pPr>
              <a:lnSpc>
                <a:spcPct val="250000"/>
              </a:lnSpc>
            </a:pPr>
            <a:r>
              <a:rPr lang="en-US" b="1" dirty="0"/>
              <a:t>Service Design----</a:t>
            </a:r>
            <a:r>
              <a:rPr lang="en-US" dirty="0"/>
              <a:t> Translates strategy into detailed service specifications (availability, performance, security).</a:t>
            </a:r>
          </a:p>
          <a:p>
            <a:pPr>
              <a:lnSpc>
                <a:spcPct val="250000"/>
              </a:lnSpc>
            </a:pPr>
            <a:r>
              <a:rPr lang="en-US" b="1" dirty="0"/>
              <a:t>Service Transition</a:t>
            </a:r>
            <a:r>
              <a:rPr lang="en-US" dirty="0"/>
              <a:t>:----Focuses on introducing new/changed services into operations (configuration, patching).</a:t>
            </a:r>
          </a:p>
          <a:p>
            <a:pPr>
              <a:lnSpc>
                <a:spcPct val="250000"/>
              </a:lnSpc>
            </a:pPr>
            <a:r>
              <a:rPr lang="en-US" b="1" dirty="0"/>
              <a:t>Service Operations------</a:t>
            </a:r>
            <a:r>
              <a:rPr lang="en-US" dirty="0"/>
              <a:t> Day-to-day running of services (monitoring, incident management).</a:t>
            </a:r>
          </a:p>
          <a:p>
            <a:pPr>
              <a:lnSpc>
                <a:spcPct val="250000"/>
              </a:lnSpc>
            </a:pPr>
            <a:r>
              <a:rPr lang="en-US" b="1" dirty="0"/>
              <a:t>Monitor and Optimize------</a:t>
            </a:r>
            <a:r>
              <a:rPr lang="en-US" dirty="0"/>
              <a:t> Continuous feedback loop to improve efficiency and effectiveness.</a:t>
            </a:r>
          </a:p>
          <a:p>
            <a:endParaRPr lang="en-US" dirty="0"/>
          </a:p>
        </p:txBody>
      </p:sp>
    </p:spTree>
    <p:extLst>
      <p:ext uri="{BB962C8B-B14F-4D97-AF65-F5344CB8AC3E}">
        <p14:creationId xmlns:p14="http://schemas.microsoft.com/office/powerpoint/2010/main" val="1733707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918672B-42F1-1B97-FA53-83E252EB2BBA}"/>
              </a:ext>
            </a:extLst>
          </p:cNvPr>
          <p:cNvSpPr>
            <a:spLocks noGrp="1"/>
          </p:cNvSpPr>
          <p:nvPr>
            <p:ph type="body" idx="1"/>
          </p:nvPr>
        </p:nvSpPr>
        <p:spPr>
          <a:xfrm>
            <a:off x="415600" y="345440"/>
            <a:ext cx="11360800" cy="5746293"/>
          </a:xfrm>
        </p:spPr>
        <p:txBody>
          <a:bodyPr>
            <a:normAutofit fontScale="92500"/>
          </a:bodyPr>
          <a:lstStyle/>
          <a:p>
            <a:pPr marL="152396" indent="0">
              <a:lnSpc>
                <a:spcPct val="200000"/>
              </a:lnSpc>
              <a:buNone/>
            </a:pPr>
            <a:r>
              <a:rPr lang="en-US" b="1" dirty="0"/>
              <a:t>2. </a:t>
            </a:r>
            <a:r>
              <a:rPr lang="en-US" sz="2400" b="1" dirty="0"/>
              <a:t>Service Design (Right Side)</a:t>
            </a:r>
          </a:p>
          <a:p>
            <a:pPr>
              <a:lnSpc>
                <a:spcPct val="200000"/>
              </a:lnSpc>
            </a:pPr>
            <a:r>
              <a:rPr lang="en-US" sz="2400" dirty="0"/>
              <a:t>Includes </a:t>
            </a:r>
            <a:r>
              <a:rPr lang="en-US" sz="2400" b="1" dirty="0"/>
              <a:t>Availability Management</a:t>
            </a:r>
            <a:r>
              <a:rPr lang="en-US" sz="2400" dirty="0"/>
              <a:t> (ITIL): ensures services meet agreed availability levels.</a:t>
            </a:r>
            <a:br>
              <a:rPr lang="en-US" sz="2400" dirty="0"/>
            </a:br>
            <a:endParaRPr lang="en-US" sz="2400" dirty="0"/>
          </a:p>
          <a:p>
            <a:pPr marL="152396" indent="0">
              <a:lnSpc>
                <a:spcPct val="200000"/>
              </a:lnSpc>
              <a:buNone/>
            </a:pPr>
            <a:r>
              <a:rPr lang="en-US" sz="2400" b="1" dirty="0"/>
              <a:t>3. Service Transition (Left Side)</a:t>
            </a:r>
          </a:p>
          <a:p>
            <a:pPr>
              <a:lnSpc>
                <a:spcPct val="200000"/>
              </a:lnSpc>
            </a:pPr>
            <a:r>
              <a:rPr lang="en-US" sz="2400" dirty="0"/>
              <a:t>Covers how new or modified services are transitioned into live use.</a:t>
            </a:r>
          </a:p>
          <a:p>
            <a:pPr>
              <a:lnSpc>
                <a:spcPct val="200000"/>
              </a:lnSpc>
            </a:pPr>
            <a:r>
              <a:rPr lang="en-US" sz="2400" dirty="0"/>
              <a:t>Linked ITIL practices:</a:t>
            </a:r>
          </a:p>
          <a:p>
            <a:pPr lvl="1">
              <a:lnSpc>
                <a:spcPct val="200000"/>
              </a:lnSpc>
            </a:pPr>
            <a:r>
              <a:rPr lang="en-US" sz="2400" b="1" dirty="0"/>
              <a:t>Configuration Management</a:t>
            </a:r>
            <a:r>
              <a:rPr lang="en-US" sz="2400" dirty="0"/>
              <a:t>: Tracks and manages service assets and configurations.</a:t>
            </a:r>
          </a:p>
          <a:p>
            <a:pPr lvl="1">
              <a:lnSpc>
                <a:spcPct val="200000"/>
              </a:lnSpc>
            </a:pPr>
            <a:r>
              <a:rPr lang="en-US" sz="2400" b="1" dirty="0"/>
              <a:t>Patch Management</a:t>
            </a:r>
            <a:r>
              <a:rPr lang="en-US" sz="2400" dirty="0"/>
              <a:t>: Ensures software updates and fixes are applied securely.</a:t>
            </a:r>
          </a:p>
          <a:p>
            <a:endParaRPr lang="en-US" dirty="0"/>
          </a:p>
        </p:txBody>
      </p:sp>
    </p:spTree>
    <p:extLst>
      <p:ext uri="{BB962C8B-B14F-4D97-AF65-F5344CB8AC3E}">
        <p14:creationId xmlns:p14="http://schemas.microsoft.com/office/powerpoint/2010/main" val="142677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F489-1EEF-211F-1EC6-6CA6C6E39795}"/>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A3FF263F-D083-2CEE-43E2-D19B63874405}"/>
              </a:ext>
            </a:extLst>
          </p:cNvPr>
          <p:cNvSpPr>
            <a:spLocks noGrp="1"/>
          </p:cNvSpPr>
          <p:nvPr>
            <p:ph type="body" idx="1"/>
          </p:nvPr>
        </p:nvSpPr>
        <p:spPr/>
        <p:txBody>
          <a:bodyPr>
            <a:normAutofit fontScale="92500" lnSpcReduction="10000"/>
          </a:bodyPr>
          <a:lstStyle/>
          <a:p>
            <a:pPr marL="152396" indent="0">
              <a:lnSpc>
                <a:spcPct val="200000"/>
              </a:lnSpc>
              <a:buNone/>
            </a:pPr>
            <a:r>
              <a:rPr lang="en-US" b="1" dirty="0"/>
              <a:t>4. Information Security Management (Bottom Layer)</a:t>
            </a:r>
          </a:p>
          <a:p>
            <a:pPr>
              <a:lnSpc>
                <a:spcPct val="200000"/>
              </a:lnSpc>
            </a:pPr>
            <a:r>
              <a:rPr lang="en-US" sz="2000" dirty="0"/>
              <a:t>This underpins all ITIL processes and connects to ISO standards for security:</a:t>
            </a:r>
          </a:p>
          <a:p>
            <a:pPr>
              <a:lnSpc>
                <a:spcPct val="200000"/>
              </a:lnSpc>
            </a:pPr>
            <a:r>
              <a:rPr lang="en-US" sz="2000" b="1" dirty="0"/>
              <a:t>Access Control (ISO)-----</a:t>
            </a:r>
            <a:r>
              <a:rPr lang="en-US" sz="2000" dirty="0"/>
              <a:t> Ensures only authorized users have access.</a:t>
            </a:r>
          </a:p>
          <a:p>
            <a:pPr>
              <a:lnSpc>
                <a:spcPct val="200000"/>
              </a:lnSpc>
            </a:pPr>
            <a:r>
              <a:rPr lang="en-US" sz="2000" b="1" dirty="0"/>
              <a:t>Vulnerability Management (ISO):-----</a:t>
            </a:r>
            <a:r>
              <a:rPr lang="en-US" sz="2000" dirty="0"/>
              <a:t>Identifies and mitigates weaknesses.</a:t>
            </a:r>
          </a:p>
          <a:p>
            <a:pPr>
              <a:lnSpc>
                <a:spcPct val="200000"/>
              </a:lnSpc>
            </a:pPr>
            <a:r>
              <a:rPr lang="en-US" sz="2000" b="1" dirty="0"/>
              <a:t>Incident Response (ISO):---------</a:t>
            </a:r>
            <a:r>
              <a:rPr lang="en-US" sz="2000" dirty="0"/>
              <a:t> Processes for detecting, responding to, and recovering from security incidents.</a:t>
            </a:r>
          </a:p>
          <a:p>
            <a:pPr>
              <a:lnSpc>
                <a:spcPct val="200000"/>
              </a:lnSpc>
            </a:pPr>
            <a:r>
              <a:rPr lang="en-US" sz="2000" b="1" dirty="0"/>
              <a:t>System Use and Configuration Monitoring (ISO)-------</a:t>
            </a:r>
            <a:r>
              <a:rPr lang="en-US" sz="2000" dirty="0"/>
              <a:t>Ensures secure system usage and configuration consistency.</a:t>
            </a:r>
          </a:p>
          <a:p>
            <a:pPr>
              <a:lnSpc>
                <a:spcPct val="200000"/>
              </a:lnSpc>
            </a:pPr>
            <a:endParaRPr lang="en-US" dirty="0"/>
          </a:p>
        </p:txBody>
      </p:sp>
    </p:spTree>
    <p:extLst>
      <p:ext uri="{BB962C8B-B14F-4D97-AF65-F5344CB8AC3E}">
        <p14:creationId xmlns:p14="http://schemas.microsoft.com/office/powerpoint/2010/main" val="714858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9A1CB-41E3-DBCE-5A1C-1CC6DB7EDB6F}"/>
              </a:ext>
            </a:extLst>
          </p:cNvPr>
          <p:cNvSpPr>
            <a:spLocks noGrp="1"/>
          </p:cNvSpPr>
          <p:nvPr>
            <p:ph type="title"/>
          </p:nvPr>
        </p:nvSpPr>
        <p:spPr/>
        <p:txBody>
          <a:bodyPr/>
          <a:lstStyle/>
          <a:p>
            <a:r>
              <a:rPr lang="en-US" b="1" dirty="0"/>
              <a:t>Security Management Standards</a:t>
            </a:r>
            <a:endParaRPr lang="en-US" dirty="0"/>
          </a:p>
        </p:txBody>
      </p:sp>
      <p:sp>
        <p:nvSpPr>
          <p:cNvPr id="3" name="Text Placeholder 2">
            <a:extLst>
              <a:ext uri="{FF2B5EF4-FFF2-40B4-BE49-F238E27FC236}">
                <a16:creationId xmlns:a16="http://schemas.microsoft.com/office/drawing/2014/main" id="{29AE1696-7445-0B3A-54E5-7F054E0409E4}"/>
              </a:ext>
            </a:extLst>
          </p:cNvPr>
          <p:cNvSpPr>
            <a:spLocks noGrp="1"/>
          </p:cNvSpPr>
          <p:nvPr>
            <p:ph type="body" idx="1"/>
          </p:nvPr>
        </p:nvSpPr>
        <p:spPr/>
        <p:txBody>
          <a:bodyPr>
            <a:normAutofit/>
          </a:bodyPr>
          <a:lstStyle/>
          <a:p>
            <a:pPr>
              <a:lnSpc>
                <a:spcPct val="200000"/>
              </a:lnSpc>
            </a:pPr>
            <a:r>
              <a:rPr lang="en-US" sz="3600" b="1" dirty="0"/>
              <a:t>ITIL</a:t>
            </a:r>
          </a:p>
          <a:p>
            <a:pPr>
              <a:lnSpc>
                <a:spcPct val="200000"/>
              </a:lnSpc>
            </a:pPr>
            <a:r>
              <a:rPr lang="en-US" sz="3600" b="1" dirty="0"/>
              <a:t>ISO 27001/27002</a:t>
            </a:r>
            <a:endParaRPr lang="en-US" sz="3600" dirty="0"/>
          </a:p>
        </p:txBody>
      </p:sp>
    </p:spTree>
    <p:extLst>
      <p:ext uri="{BB962C8B-B14F-4D97-AF65-F5344CB8AC3E}">
        <p14:creationId xmlns:p14="http://schemas.microsoft.com/office/powerpoint/2010/main" val="3133127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B0DA3-ABF7-E99A-0048-DBB30116D643}"/>
              </a:ext>
            </a:extLst>
          </p:cNvPr>
          <p:cNvSpPr>
            <a:spLocks noGrp="1"/>
          </p:cNvSpPr>
          <p:nvPr>
            <p:ph type="title"/>
          </p:nvPr>
        </p:nvSpPr>
        <p:spPr/>
        <p:txBody>
          <a:bodyPr>
            <a:normAutofit fontScale="90000"/>
          </a:bodyPr>
          <a:lstStyle/>
          <a:p>
            <a:r>
              <a:rPr lang="en-US" sz="3200" b="1" dirty="0"/>
              <a:t>ITIL (Information Technology Infrastructure Library)</a:t>
            </a:r>
            <a:br>
              <a:rPr lang="en-US" sz="3200" b="1" dirty="0"/>
            </a:br>
            <a:endParaRPr lang="en-US" dirty="0"/>
          </a:p>
        </p:txBody>
      </p:sp>
      <p:sp>
        <p:nvSpPr>
          <p:cNvPr id="3" name="Text Placeholder 2">
            <a:extLst>
              <a:ext uri="{FF2B5EF4-FFF2-40B4-BE49-F238E27FC236}">
                <a16:creationId xmlns:a16="http://schemas.microsoft.com/office/drawing/2014/main" id="{248EA37A-BC20-7FB4-52B2-E0DA324B43E4}"/>
              </a:ext>
            </a:extLst>
          </p:cNvPr>
          <p:cNvSpPr>
            <a:spLocks noGrp="1"/>
          </p:cNvSpPr>
          <p:nvPr>
            <p:ph type="body" idx="1"/>
          </p:nvPr>
        </p:nvSpPr>
        <p:spPr>
          <a:xfrm>
            <a:off x="415600" y="1188720"/>
            <a:ext cx="11360800" cy="5374640"/>
          </a:xfrm>
        </p:spPr>
        <p:txBody>
          <a:bodyPr>
            <a:normAutofit fontScale="92500" lnSpcReduction="20000"/>
          </a:bodyPr>
          <a:lstStyle/>
          <a:p>
            <a:pPr marL="152396" indent="0">
              <a:lnSpc>
                <a:spcPct val="160000"/>
              </a:lnSpc>
              <a:buNone/>
            </a:pPr>
            <a:r>
              <a:rPr lang="en-US" b="1" dirty="0"/>
              <a:t>1. </a:t>
            </a:r>
            <a:r>
              <a:rPr lang="en-US" sz="1900" b="1" dirty="0"/>
              <a:t>What is ITIL?</a:t>
            </a:r>
          </a:p>
          <a:p>
            <a:pPr>
              <a:lnSpc>
                <a:spcPct val="160000"/>
              </a:lnSpc>
            </a:pPr>
            <a:r>
              <a:rPr lang="en-US" sz="1900" b="1" dirty="0"/>
              <a:t>ITIL (Information Technology Infrastructure Library)</a:t>
            </a:r>
            <a:r>
              <a:rPr lang="en-US" sz="1900" dirty="0"/>
              <a:t> = A set of </a:t>
            </a:r>
            <a:r>
              <a:rPr lang="en-US" sz="1900" b="1" dirty="0"/>
              <a:t>best practices</a:t>
            </a:r>
            <a:r>
              <a:rPr lang="en-US" sz="1900" dirty="0"/>
              <a:t> and </a:t>
            </a:r>
            <a:r>
              <a:rPr lang="en-US" sz="1900" b="1" dirty="0"/>
              <a:t>guidelines</a:t>
            </a:r>
            <a:r>
              <a:rPr lang="en-US" sz="1900" dirty="0"/>
              <a:t> for IT service management (ITSM).</a:t>
            </a:r>
          </a:p>
          <a:p>
            <a:pPr>
              <a:lnSpc>
                <a:spcPct val="160000"/>
              </a:lnSpc>
            </a:pPr>
            <a:r>
              <a:rPr lang="en-US" sz="1900" dirty="0"/>
              <a:t>Provides an </a:t>
            </a:r>
            <a:r>
              <a:rPr lang="en-US" sz="1900" b="1" dirty="0"/>
              <a:t>integrated, process-based approach</a:t>
            </a:r>
            <a:r>
              <a:rPr lang="en-US" sz="1900" dirty="0"/>
              <a:t> for delivering and managing IT services.</a:t>
            </a:r>
          </a:p>
          <a:p>
            <a:pPr>
              <a:lnSpc>
                <a:spcPct val="160000"/>
              </a:lnSpc>
            </a:pPr>
            <a:r>
              <a:rPr lang="en-US" sz="1900" dirty="0"/>
              <a:t>Applicable to almost any IT environment, including </a:t>
            </a:r>
            <a:r>
              <a:rPr lang="en-US" sz="1900" b="1" dirty="0"/>
              <a:t>cloud computing</a:t>
            </a:r>
            <a:r>
              <a:rPr lang="en-US" sz="1900" dirty="0"/>
              <a:t>.</a:t>
            </a:r>
          </a:p>
          <a:p>
            <a:pPr>
              <a:lnSpc>
                <a:spcPct val="160000"/>
              </a:lnSpc>
            </a:pPr>
            <a:endParaRPr lang="en-US" sz="1900" dirty="0"/>
          </a:p>
          <a:p>
            <a:pPr marL="152396" indent="0">
              <a:lnSpc>
                <a:spcPct val="160000"/>
              </a:lnSpc>
              <a:buNone/>
            </a:pPr>
            <a:r>
              <a:rPr lang="en-US" sz="1900" b="1" dirty="0"/>
              <a:t>2. ITIL &amp; Information Security</a:t>
            </a:r>
          </a:p>
          <a:p>
            <a:pPr>
              <a:lnSpc>
                <a:spcPct val="160000"/>
              </a:lnSpc>
            </a:pPr>
            <a:r>
              <a:rPr lang="en-US" sz="1900" dirty="0"/>
              <a:t>ITIL ensures </a:t>
            </a:r>
            <a:r>
              <a:rPr lang="en-US" sz="1900" b="1" dirty="0"/>
              <a:t>security is addressed at all levels</a:t>
            </a:r>
            <a:r>
              <a:rPr lang="en-US" sz="1900" dirty="0"/>
              <a:t>:</a:t>
            </a:r>
          </a:p>
          <a:p>
            <a:pPr lvl="1">
              <a:lnSpc>
                <a:spcPct val="160000"/>
              </a:lnSpc>
            </a:pPr>
            <a:r>
              <a:rPr lang="en-US" sz="2100" b="1" dirty="0"/>
              <a:t>Strategic</a:t>
            </a:r>
            <a:r>
              <a:rPr lang="en-US" sz="2100" dirty="0"/>
              <a:t> (long-term planning and goals).</a:t>
            </a:r>
          </a:p>
          <a:p>
            <a:pPr lvl="1">
              <a:lnSpc>
                <a:spcPct val="160000"/>
              </a:lnSpc>
            </a:pPr>
            <a:r>
              <a:rPr lang="en-US" sz="2100" b="1" dirty="0"/>
              <a:t>Tactical</a:t>
            </a:r>
            <a:r>
              <a:rPr lang="en-US" sz="2100" dirty="0"/>
              <a:t> (policies, processes, governance).</a:t>
            </a:r>
          </a:p>
          <a:p>
            <a:pPr lvl="1">
              <a:lnSpc>
                <a:spcPct val="160000"/>
              </a:lnSpc>
            </a:pPr>
            <a:r>
              <a:rPr lang="en-US" sz="2100" b="1" dirty="0"/>
              <a:t>Operational</a:t>
            </a:r>
            <a:r>
              <a:rPr lang="en-US" sz="2100" dirty="0"/>
              <a:t> (day-to-day security actions).</a:t>
            </a:r>
          </a:p>
          <a:p>
            <a:pPr>
              <a:lnSpc>
                <a:spcPct val="160000"/>
              </a:lnSpc>
            </a:pPr>
            <a:r>
              <a:rPr lang="en-US" sz="1900" dirty="0"/>
              <a:t>Treats </a:t>
            </a:r>
            <a:r>
              <a:rPr lang="en-US" sz="1900" b="1" dirty="0"/>
              <a:t>information security as an iterative process</a:t>
            </a:r>
            <a:r>
              <a:rPr lang="en-US" sz="1900" dirty="0"/>
              <a:t>:</a:t>
            </a:r>
          </a:p>
          <a:p>
            <a:pPr lvl="1">
              <a:lnSpc>
                <a:spcPct val="160000"/>
              </a:lnSpc>
            </a:pPr>
            <a:r>
              <a:rPr lang="en-US" sz="2100" dirty="0"/>
              <a:t>Controlled → Planned → Implemented → Evaluated → Maintained.</a:t>
            </a:r>
          </a:p>
          <a:p>
            <a:endParaRPr lang="en-US" dirty="0"/>
          </a:p>
        </p:txBody>
      </p:sp>
    </p:spTree>
    <p:extLst>
      <p:ext uri="{BB962C8B-B14F-4D97-AF65-F5344CB8AC3E}">
        <p14:creationId xmlns:p14="http://schemas.microsoft.com/office/powerpoint/2010/main" val="3115422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C7E6-74A1-0BE4-40AB-C73292E65AE3}"/>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9A037CF6-E8E4-266E-7CC0-E0011DAA550A}"/>
              </a:ext>
            </a:extLst>
          </p:cNvPr>
          <p:cNvSpPr>
            <a:spLocks noGrp="1"/>
          </p:cNvSpPr>
          <p:nvPr>
            <p:ph type="body" idx="1"/>
          </p:nvPr>
        </p:nvSpPr>
        <p:spPr/>
        <p:txBody>
          <a:bodyPr/>
          <a:lstStyle/>
          <a:p>
            <a:pPr marL="152396" indent="0">
              <a:lnSpc>
                <a:spcPct val="200000"/>
              </a:lnSpc>
              <a:buNone/>
            </a:pPr>
            <a:r>
              <a:rPr lang="en-US" b="1" dirty="0"/>
              <a:t>3. ITIL Security Framework Components</a:t>
            </a:r>
          </a:p>
          <a:p>
            <a:pPr>
              <a:lnSpc>
                <a:spcPct val="200000"/>
              </a:lnSpc>
            </a:pPr>
            <a:r>
              <a:rPr lang="en-US" b="1" dirty="0"/>
              <a:t>Policies</a:t>
            </a:r>
            <a:r>
              <a:rPr lang="en-US" dirty="0"/>
              <a:t> → Define overall security objectives.</a:t>
            </a:r>
          </a:p>
          <a:p>
            <a:pPr>
              <a:lnSpc>
                <a:spcPct val="200000"/>
              </a:lnSpc>
            </a:pPr>
            <a:r>
              <a:rPr lang="en-US" b="1" dirty="0"/>
              <a:t>Processes</a:t>
            </a:r>
            <a:r>
              <a:rPr lang="en-US" dirty="0"/>
              <a:t> → What needs to be done to achieve those objectives.</a:t>
            </a:r>
          </a:p>
          <a:p>
            <a:pPr>
              <a:lnSpc>
                <a:spcPct val="200000"/>
              </a:lnSpc>
            </a:pPr>
            <a:r>
              <a:rPr lang="en-US" b="1" dirty="0"/>
              <a:t>Procedures</a:t>
            </a:r>
            <a:r>
              <a:rPr lang="en-US" dirty="0"/>
              <a:t> → Who performs tasks, when, and how.</a:t>
            </a:r>
          </a:p>
          <a:p>
            <a:pPr>
              <a:lnSpc>
                <a:spcPct val="200000"/>
              </a:lnSpc>
            </a:pPr>
            <a:r>
              <a:rPr lang="en-US" b="1" dirty="0"/>
              <a:t>Work Instructions</a:t>
            </a:r>
            <a:r>
              <a:rPr lang="en-US" dirty="0"/>
              <a:t> → Detailed step-by-step instructions for specific actions.</a:t>
            </a:r>
          </a:p>
          <a:p>
            <a:endParaRPr lang="en-US" dirty="0"/>
          </a:p>
        </p:txBody>
      </p:sp>
    </p:spTree>
    <p:extLst>
      <p:ext uri="{BB962C8B-B14F-4D97-AF65-F5344CB8AC3E}">
        <p14:creationId xmlns:p14="http://schemas.microsoft.com/office/powerpoint/2010/main" val="1966597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305C75-6AC4-7D23-090C-55AC4B69C525}"/>
              </a:ext>
            </a:extLst>
          </p:cNvPr>
          <p:cNvSpPr>
            <a:spLocks noGrp="1"/>
          </p:cNvSpPr>
          <p:nvPr>
            <p:ph type="body" idx="1"/>
          </p:nvPr>
        </p:nvSpPr>
        <p:spPr>
          <a:xfrm>
            <a:off x="415600" y="254000"/>
            <a:ext cx="11360800" cy="5837733"/>
          </a:xfrm>
        </p:spPr>
        <p:txBody>
          <a:bodyPr/>
          <a:lstStyle/>
          <a:p>
            <a:pPr marL="152396" indent="0">
              <a:lnSpc>
                <a:spcPct val="150000"/>
              </a:lnSpc>
              <a:buNone/>
            </a:pPr>
            <a:r>
              <a:rPr lang="en-US" b="1" dirty="0"/>
              <a:t>4. Standards and Alignment</a:t>
            </a:r>
          </a:p>
          <a:p>
            <a:pPr>
              <a:lnSpc>
                <a:spcPct val="150000"/>
              </a:lnSpc>
            </a:pPr>
            <a:r>
              <a:rPr lang="en-US" dirty="0"/>
              <a:t>ITIL’s </a:t>
            </a:r>
            <a:r>
              <a:rPr lang="en-US" b="1" dirty="0"/>
              <a:t>security management process</a:t>
            </a:r>
            <a:r>
              <a:rPr lang="en-US" dirty="0"/>
              <a:t> is based on </a:t>
            </a:r>
            <a:r>
              <a:rPr lang="en-US" b="1" dirty="0"/>
              <a:t>ISO/IEC 17799:2005</a:t>
            </a:r>
            <a:r>
              <a:rPr lang="en-US" dirty="0"/>
              <a:t> (best practices for information security, now evolved into ISO/IEC 27002).</a:t>
            </a:r>
          </a:p>
          <a:p>
            <a:pPr>
              <a:lnSpc>
                <a:spcPct val="150000"/>
              </a:lnSpc>
            </a:pPr>
            <a:r>
              <a:rPr lang="en-US" dirty="0"/>
              <a:t>Strong relationships with other ITIL processes:</a:t>
            </a:r>
          </a:p>
          <a:p>
            <a:pPr lvl="1">
              <a:lnSpc>
                <a:spcPct val="150000"/>
              </a:lnSpc>
            </a:pPr>
            <a:r>
              <a:rPr lang="en-US" b="1" dirty="0"/>
              <a:t>Service-Level Management</a:t>
            </a:r>
            <a:r>
              <a:rPr lang="en-US" dirty="0"/>
              <a:t> → Defines and enforces security-related SLAs.</a:t>
            </a:r>
          </a:p>
          <a:p>
            <a:pPr lvl="1">
              <a:lnSpc>
                <a:spcPct val="150000"/>
              </a:lnSpc>
            </a:pPr>
            <a:r>
              <a:rPr lang="en-US" b="1" dirty="0"/>
              <a:t>Incident Management</a:t>
            </a:r>
            <a:r>
              <a:rPr lang="en-US" dirty="0"/>
              <a:t> → Responds to and mitigates security incidents.</a:t>
            </a:r>
          </a:p>
          <a:p>
            <a:pPr lvl="1">
              <a:lnSpc>
                <a:spcPct val="150000"/>
              </a:lnSpc>
            </a:pPr>
            <a:r>
              <a:rPr lang="en-US" b="1" dirty="0"/>
              <a:t>Change Management</a:t>
            </a:r>
            <a:r>
              <a:rPr lang="en-US" dirty="0"/>
              <a:t> → Ensures security is maintained during system changes.</a:t>
            </a:r>
          </a:p>
          <a:p>
            <a:pPr>
              <a:lnSpc>
                <a:spcPct val="150000"/>
              </a:lnSpc>
            </a:pPr>
            <a:r>
              <a:rPr lang="en-US" dirty="0"/>
              <a:t>ITIL is also related to </a:t>
            </a:r>
            <a:r>
              <a:rPr lang="en-US" b="1" dirty="0"/>
              <a:t>ISO/IEC 20000</a:t>
            </a:r>
            <a:r>
              <a:rPr lang="en-US" dirty="0"/>
              <a:t>:</a:t>
            </a:r>
          </a:p>
          <a:p>
            <a:pPr lvl="1">
              <a:lnSpc>
                <a:spcPct val="150000"/>
              </a:lnSpc>
            </a:pPr>
            <a:r>
              <a:rPr lang="en-US" dirty="0"/>
              <a:t>The </a:t>
            </a:r>
            <a:r>
              <a:rPr lang="en-US" b="1" dirty="0"/>
              <a:t>first international standard</a:t>
            </a:r>
            <a:r>
              <a:rPr lang="en-US" dirty="0"/>
              <a:t> for IT Service Management.</a:t>
            </a:r>
          </a:p>
          <a:p>
            <a:pPr lvl="1">
              <a:lnSpc>
                <a:spcPct val="150000"/>
              </a:lnSpc>
            </a:pPr>
            <a:r>
              <a:rPr lang="en-US" dirty="0"/>
              <a:t>Based on ITIL, but unlike ITIL, </a:t>
            </a:r>
            <a:r>
              <a:rPr lang="en-US" b="1" dirty="0"/>
              <a:t>ISO/IEC 20000 allows certification</a:t>
            </a:r>
            <a:r>
              <a:rPr lang="en-US" dirty="0"/>
              <a:t>.</a:t>
            </a:r>
          </a:p>
          <a:p>
            <a:endParaRPr lang="en-US" dirty="0"/>
          </a:p>
        </p:txBody>
      </p:sp>
    </p:spTree>
    <p:extLst>
      <p:ext uri="{BB962C8B-B14F-4D97-AF65-F5344CB8AC3E}">
        <p14:creationId xmlns:p14="http://schemas.microsoft.com/office/powerpoint/2010/main" val="1981421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E559-8F5F-B2C0-4C85-DE13FA9EC2CF}"/>
              </a:ext>
            </a:extLst>
          </p:cNvPr>
          <p:cNvSpPr>
            <a:spLocks noGrp="1"/>
          </p:cNvSpPr>
          <p:nvPr>
            <p:ph type="title"/>
          </p:nvPr>
        </p:nvSpPr>
        <p:spPr/>
        <p:txBody>
          <a:bodyPr/>
          <a:lstStyle/>
          <a:p>
            <a:r>
              <a:rPr lang="en-US" dirty="0"/>
              <a:t>ISO/IEC 27001 – Information Security Management System (ISMS)</a:t>
            </a:r>
          </a:p>
        </p:txBody>
      </p:sp>
      <p:sp>
        <p:nvSpPr>
          <p:cNvPr id="3" name="Text Placeholder 2">
            <a:extLst>
              <a:ext uri="{FF2B5EF4-FFF2-40B4-BE49-F238E27FC236}">
                <a16:creationId xmlns:a16="http://schemas.microsoft.com/office/drawing/2014/main" id="{924263B5-D4EF-4707-A835-6B0C01E51EF8}"/>
              </a:ext>
            </a:extLst>
          </p:cNvPr>
          <p:cNvSpPr>
            <a:spLocks noGrp="1"/>
          </p:cNvSpPr>
          <p:nvPr>
            <p:ph type="body" idx="1"/>
          </p:nvPr>
        </p:nvSpPr>
        <p:spPr>
          <a:xfrm>
            <a:off x="415600" y="1188720"/>
            <a:ext cx="11360800" cy="5425440"/>
          </a:xfrm>
        </p:spPr>
        <p:txBody>
          <a:bodyPr>
            <a:normAutofit lnSpcReduction="10000"/>
          </a:bodyPr>
          <a:lstStyle/>
          <a:p>
            <a:pPr marL="152396" indent="0">
              <a:lnSpc>
                <a:spcPct val="150000"/>
              </a:lnSpc>
              <a:buNone/>
            </a:pPr>
            <a:r>
              <a:rPr lang="en-US" b="1" dirty="0"/>
              <a:t>1</a:t>
            </a:r>
            <a:r>
              <a:rPr lang="en-US" sz="2000" b="1" dirty="0"/>
              <a:t>. Definition</a:t>
            </a:r>
          </a:p>
          <a:p>
            <a:pPr>
              <a:lnSpc>
                <a:spcPct val="150000"/>
              </a:lnSpc>
            </a:pPr>
            <a:r>
              <a:rPr lang="en-US" sz="2000" b="1" dirty="0"/>
              <a:t>ISO/IEC 27001</a:t>
            </a:r>
            <a:r>
              <a:rPr lang="en-US" sz="2000" dirty="0"/>
              <a:t> is an </a:t>
            </a:r>
            <a:r>
              <a:rPr lang="en-US" sz="2000" b="1" dirty="0"/>
              <a:t>international standard</a:t>
            </a:r>
            <a:r>
              <a:rPr lang="en-US" sz="2000" dirty="0"/>
              <a:t> that specifies the requirements for </a:t>
            </a:r>
            <a:r>
              <a:rPr lang="en-US" sz="2000" b="1" dirty="0">
                <a:solidFill>
                  <a:srgbClr val="00B050"/>
                </a:solidFill>
              </a:rPr>
              <a:t>establishing, implementing, maintaining, and continuall</a:t>
            </a:r>
            <a:r>
              <a:rPr lang="en-US" sz="2000" dirty="0"/>
              <a:t>y improving </a:t>
            </a:r>
            <a:r>
              <a:rPr lang="en-US" sz="2000" dirty="0">
                <a:solidFill>
                  <a:srgbClr val="FF0000"/>
                </a:solidFill>
              </a:rPr>
              <a:t>an </a:t>
            </a:r>
            <a:r>
              <a:rPr lang="en-US" sz="2000" b="1" dirty="0">
                <a:solidFill>
                  <a:srgbClr val="FF0000"/>
                </a:solidFill>
              </a:rPr>
              <a:t>Information Security Management System (ISMS)</a:t>
            </a:r>
            <a:r>
              <a:rPr lang="en-US" sz="2000" dirty="0">
                <a:solidFill>
                  <a:srgbClr val="FF0000"/>
                </a:solidFill>
              </a:rPr>
              <a:t>.</a:t>
            </a:r>
          </a:p>
          <a:p>
            <a:pPr>
              <a:lnSpc>
                <a:spcPct val="150000"/>
              </a:lnSpc>
            </a:pPr>
            <a:r>
              <a:rPr lang="en-US" sz="2000" dirty="0"/>
              <a:t>It provides a </a:t>
            </a:r>
            <a:r>
              <a:rPr lang="en-US" sz="2000" b="1" dirty="0"/>
              <a:t>risk-based framework</a:t>
            </a:r>
            <a:r>
              <a:rPr lang="en-US" sz="2000" dirty="0"/>
              <a:t> to protect </a:t>
            </a:r>
            <a:r>
              <a:rPr lang="en-US" sz="2000" dirty="0">
                <a:solidFill>
                  <a:srgbClr val="FF0000"/>
                </a:solidFill>
              </a:rPr>
              <a:t>the </a:t>
            </a:r>
            <a:r>
              <a:rPr lang="en-US" sz="2000" b="1" dirty="0">
                <a:solidFill>
                  <a:srgbClr val="FF0000"/>
                </a:solidFill>
              </a:rPr>
              <a:t>confidentiality, integrity, and availability</a:t>
            </a:r>
            <a:r>
              <a:rPr lang="en-US" sz="2000" dirty="0">
                <a:solidFill>
                  <a:srgbClr val="FF0000"/>
                </a:solidFill>
              </a:rPr>
              <a:t> (CIA triad) of information.</a:t>
            </a:r>
            <a:br>
              <a:rPr lang="en-US" sz="2000" dirty="0"/>
            </a:br>
            <a:endParaRPr lang="en-US" sz="2000" dirty="0"/>
          </a:p>
          <a:p>
            <a:pPr marL="152396" indent="0">
              <a:lnSpc>
                <a:spcPct val="150000"/>
              </a:lnSpc>
              <a:buNone/>
            </a:pPr>
            <a:r>
              <a:rPr lang="en-US" sz="2000" b="1" dirty="0"/>
              <a:t>2. Purpose</a:t>
            </a:r>
          </a:p>
          <a:p>
            <a:pPr>
              <a:lnSpc>
                <a:spcPct val="150000"/>
              </a:lnSpc>
            </a:pPr>
            <a:r>
              <a:rPr lang="en-US" sz="2000" dirty="0"/>
              <a:t>To </a:t>
            </a:r>
            <a:r>
              <a:rPr lang="en-US" sz="2000" b="1" dirty="0">
                <a:solidFill>
                  <a:srgbClr val="FF0000"/>
                </a:solidFill>
              </a:rPr>
              <a:t>help organizations </a:t>
            </a:r>
            <a:r>
              <a:rPr lang="en-US" sz="2000" b="1" dirty="0"/>
              <a:t>manage information security systematically</a:t>
            </a:r>
            <a:r>
              <a:rPr lang="en-US" sz="2000" dirty="0"/>
              <a:t> rather than ad hoc.</a:t>
            </a:r>
          </a:p>
          <a:p>
            <a:pPr>
              <a:lnSpc>
                <a:spcPct val="150000"/>
              </a:lnSpc>
            </a:pPr>
            <a:r>
              <a:rPr lang="en-US" sz="2000" dirty="0"/>
              <a:t>To ensure that </a:t>
            </a:r>
            <a:r>
              <a:rPr lang="en-US" sz="2000" b="1" dirty="0">
                <a:solidFill>
                  <a:srgbClr val="FF0000"/>
                </a:solidFill>
              </a:rPr>
              <a:t>security controls are aligned with business needs and risks.</a:t>
            </a:r>
          </a:p>
          <a:p>
            <a:pPr>
              <a:lnSpc>
                <a:spcPct val="150000"/>
              </a:lnSpc>
            </a:pPr>
            <a:r>
              <a:rPr lang="en-US" sz="2000" dirty="0"/>
              <a:t>To </a:t>
            </a:r>
            <a:r>
              <a:rPr lang="en-US" sz="2000" b="1" dirty="0">
                <a:solidFill>
                  <a:srgbClr val="FF0000"/>
                </a:solidFill>
              </a:rPr>
              <a:t>provide assurance to stakeholders </a:t>
            </a:r>
            <a:r>
              <a:rPr lang="en-US" sz="2000" dirty="0"/>
              <a:t>(customers, regulators, partners) that the organization manages information security responsibly.</a:t>
            </a:r>
          </a:p>
          <a:p>
            <a:endParaRPr lang="en-US" dirty="0"/>
          </a:p>
        </p:txBody>
      </p:sp>
    </p:spTree>
    <p:extLst>
      <p:ext uri="{BB962C8B-B14F-4D97-AF65-F5344CB8AC3E}">
        <p14:creationId xmlns:p14="http://schemas.microsoft.com/office/powerpoint/2010/main" val="1125757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EE93F8-4BF6-BACB-F522-DB840296D1BD}"/>
              </a:ext>
            </a:extLst>
          </p:cNvPr>
          <p:cNvSpPr>
            <a:spLocks noGrp="1"/>
          </p:cNvSpPr>
          <p:nvPr>
            <p:ph type="body" idx="1"/>
          </p:nvPr>
        </p:nvSpPr>
        <p:spPr>
          <a:xfrm>
            <a:off x="415600" y="274320"/>
            <a:ext cx="11360800" cy="5817413"/>
          </a:xfrm>
        </p:spPr>
        <p:txBody>
          <a:bodyPr>
            <a:normAutofit/>
          </a:bodyPr>
          <a:lstStyle/>
          <a:p>
            <a:pPr marL="152396" indent="0">
              <a:lnSpc>
                <a:spcPct val="200000"/>
              </a:lnSpc>
              <a:buNone/>
            </a:pPr>
            <a:r>
              <a:rPr lang="en-US" b="1" dirty="0"/>
              <a:t>3.Key Features</a:t>
            </a:r>
          </a:p>
          <a:p>
            <a:pPr>
              <a:lnSpc>
                <a:spcPct val="200000"/>
              </a:lnSpc>
            </a:pPr>
            <a:r>
              <a:rPr lang="en-US" b="1" dirty="0">
                <a:solidFill>
                  <a:srgbClr val="FF0000"/>
                </a:solidFill>
              </a:rPr>
              <a:t>Risk Management Approach </a:t>
            </a:r>
            <a:r>
              <a:rPr lang="en-US" dirty="0"/>
              <a:t>→ identify, assess, and treat risks to information assets.</a:t>
            </a:r>
          </a:p>
          <a:p>
            <a:pPr>
              <a:lnSpc>
                <a:spcPct val="200000"/>
              </a:lnSpc>
            </a:pPr>
            <a:r>
              <a:rPr lang="en-US" b="1" dirty="0">
                <a:solidFill>
                  <a:srgbClr val="FF0000"/>
                </a:solidFill>
              </a:rPr>
              <a:t>Mandatory Requirements </a:t>
            </a:r>
            <a:r>
              <a:rPr lang="en-US" dirty="0"/>
              <a:t>→ organizations must document policies, assign roles, conduct risk assessments, monitor performance, and implement continual improvement.</a:t>
            </a:r>
          </a:p>
          <a:p>
            <a:pPr>
              <a:lnSpc>
                <a:spcPct val="200000"/>
              </a:lnSpc>
            </a:pPr>
            <a:r>
              <a:rPr lang="en-US" b="1" dirty="0">
                <a:solidFill>
                  <a:srgbClr val="FF0000"/>
                </a:solidFill>
              </a:rPr>
              <a:t>Certifiable Standard </a:t>
            </a:r>
            <a:r>
              <a:rPr lang="en-US" dirty="0"/>
              <a:t>→ organizations can undergo an </a:t>
            </a:r>
            <a:r>
              <a:rPr lang="en-US" b="1" dirty="0"/>
              <a:t>independent audit</a:t>
            </a:r>
            <a:r>
              <a:rPr lang="en-US" dirty="0"/>
              <a:t> and achieve </a:t>
            </a:r>
            <a:r>
              <a:rPr lang="en-US" b="1" dirty="0"/>
              <a:t>ISO/IEC 27001 certification</a:t>
            </a:r>
            <a:r>
              <a:rPr lang="en-US" dirty="0"/>
              <a:t>.</a:t>
            </a:r>
          </a:p>
          <a:p>
            <a:pPr marL="152396" indent="0">
              <a:lnSpc>
                <a:spcPct val="200000"/>
              </a:lnSpc>
              <a:buNone/>
            </a:pPr>
            <a:r>
              <a:rPr lang="en-US" b="1" dirty="0"/>
              <a:t>4. Scope of ISO 27001</a:t>
            </a:r>
          </a:p>
          <a:p>
            <a:pPr>
              <a:lnSpc>
                <a:spcPct val="200000"/>
              </a:lnSpc>
            </a:pPr>
            <a:r>
              <a:rPr lang="en-US" dirty="0"/>
              <a:t>Covers </a:t>
            </a:r>
            <a:r>
              <a:rPr lang="en-US" b="1" dirty="0">
                <a:solidFill>
                  <a:srgbClr val="FF0000"/>
                </a:solidFill>
              </a:rPr>
              <a:t>all types of information assets</a:t>
            </a:r>
            <a:r>
              <a:rPr lang="en-US" dirty="0"/>
              <a:t>: digital, physical, intellectual property, employee knowledge.</a:t>
            </a:r>
          </a:p>
          <a:p>
            <a:pPr>
              <a:lnSpc>
                <a:spcPct val="200000"/>
              </a:lnSpc>
            </a:pPr>
            <a:r>
              <a:rPr lang="en-US" dirty="0"/>
              <a:t>Applies </a:t>
            </a:r>
            <a:r>
              <a:rPr lang="en-US" dirty="0">
                <a:solidFill>
                  <a:srgbClr val="FF0000"/>
                </a:solidFill>
              </a:rPr>
              <a:t>to </a:t>
            </a:r>
            <a:r>
              <a:rPr lang="en-US" b="1" dirty="0">
                <a:solidFill>
                  <a:srgbClr val="FF0000"/>
                </a:solidFill>
              </a:rPr>
              <a:t>organizations of all sizes and industries</a:t>
            </a:r>
            <a:r>
              <a:rPr lang="en-US" dirty="0">
                <a:solidFill>
                  <a:srgbClr val="FF0000"/>
                </a:solidFill>
              </a:rPr>
              <a:t> </a:t>
            </a:r>
            <a:r>
              <a:rPr lang="en-US" dirty="0"/>
              <a:t>(corporate, government, startups, etc.).</a:t>
            </a:r>
          </a:p>
          <a:p>
            <a:pPr>
              <a:lnSpc>
                <a:spcPct val="200000"/>
              </a:lnSpc>
            </a:pPr>
            <a:r>
              <a:rPr lang="en-US" dirty="0"/>
              <a:t>Covers </a:t>
            </a:r>
            <a:r>
              <a:rPr lang="en-US" b="1" dirty="0">
                <a:solidFill>
                  <a:srgbClr val="FF0000"/>
                </a:solidFill>
              </a:rPr>
              <a:t>people, processes, and technology </a:t>
            </a:r>
            <a:r>
              <a:rPr lang="en-US" dirty="0"/>
              <a:t>in information security.</a:t>
            </a:r>
          </a:p>
          <a:p>
            <a:endParaRPr lang="en-US" dirty="0"/>
          </a:p>
        </p:txBody>
      </p:sp>
    </p:spTree>
    <p:extLst>
      <p:ext uri="{BB962C8B-B14F-4D97-AF65-F5344CB8AC3E}">
        <p14:creationId xmlns:p14="http://schemas.microsoft.com/office/powerpoint/2010/main" val="454322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C3581-31D4-3A3B-FC33-82A8AC53C5DC}"/>
              </a:ext>
            </a:extLst>
          </p:cNvPr>
          <p:cNvSpPr>
            <a:spLocks noGrp="1"/>
          </p:cNvSpPr>
          <p:nvPr>
            <p:ph type="title"/>
          </p:nvPr>
        </p:nvSpPr>
        <p:spPr/>
        <p:txBody>
          <a:bodyPr>
            <a:normAutofit fontScale="90000"/>
          </a:bodyPr>
          <a:lstStyle/>
          <a:p>
            <a:r>
              <a:rPr lang="en-US" b="1" dirty="0"/>
              <a:t>Security Management in the Cloud</a:t>
            </a:r>
            <a:br>
              <a:rPr lang="en-US" b="1" dirty="0"/>
            </a:br>
            <a:endParaRPr lang="en-US" dirty="0"/>
          </a:p>
        </p:txBody>
      </p:sp>
      <p:sp>
        <p:nvSpPr>
          <p:cNvPr id="3" name="Text Placeholder 2">
            <a:extLst>
              <a:ext uri="{FF2B5EF4-FFF2-40B4-BE49-F238E27FC236}">
                <a16:creationId xmlns:a16="http://schemas.microsoft.com/office/drawing/2014/main" id="{13BF1DD7-540F-59AF-18A5-CB9051CECCBB}"/>
              </a:ext>
            </a:extLst>
          </p:cNvPr>
          <p:cNvSpPr>
            <a:spLocks noGrp="1"/>
          </p:cNvSpPr>
          <p:nvPr>
            <p:ph type="body" idx="1"/>
          </p:nvPr>
        </p:nvSpPr>
        <p:spPr/>
        <p:txBody>
          <a:bodyPr/>
          <a:lstStyle/>
          <a:p>
            <a:pPr>
              <a:lnSpc>
                <a:spcPct val="150000"/>
              </a:lnSpc>
            </a:pPr>
            <a:r>
              <a:rPr lang="en-US" dirty="0"/>
              <a:t>After analyzing </a:t>
            </a:r>
            <a:r>
              <a:rPr lang="en-US" b="1" dirty="0">
                <a:solidFill>
                  <a:srgbClr val="FF0000"/>
                </a:solidFill>
              </a:rPr>
              <a:t>the management process disciplines across the ITIL and ISO frameworks</a:t>
            </a:r>
            <a:r>
              <a:rPr lang="en-US" dirty="0"/>
              <a:t>, (the researchers ) identified the following </a:t>
            </a:r>
            <a:r>
              <a:rPr lang="en-US" b="1" dirty="0">
                <a:solidFill>
                  <a:srgbClr val="FF0000"/>
                </a:solidFill>
              </a:rPr>
              <a:t>relevant processes</a:t>
            </a:r>
            <a:r>
              <a:rPr lang="en-US" dirty="0"/>
              <a:t> as the </a:t>
            </a:r>
            <a:r>
              <a:rPr lang="en-US" b="1" dirty="0">
                <a:solidFill>
                  <a:srgbClr val="FF0000"/>
                </a:solidFill>
              </a:rPr>
              <a:t>recommended security management</a:t>
            </a:r>
            <a:r>
              <a:rPr lang="en-US" b="1" dirty="0"/>
              <a:t> </a:t>
            </a:r>
            <a:r>
              <a:rPr lang="en-US" dirty="0"/>
              <a:t>focus areas for securing services in the cloud:</a:t>
            </a:r>
          </a:p>
          <a:p>
            <a:pPr>
              <a:lnSpc>
                <a:spcPct val="150000"/>
              </a:lnSpc>
              <a:buFont typeface="+mj-lt"/>
              <a:buAutoNum type="arabicPeriod"/>
            </a:pPr>
            <a:r>
              <a:rPr lang="en-US" b="1" dirty="0">
                <a:solidFill>
                  <a:srgbClr val="FF0000"/>
                </a:solidFill>
              </a:rPr>
              <a:t>Availability management (ITIL)</a:t>
            </a:r>
          </a:p>
          <a:p>
            <a:pPr>
              <a:lnSpc>
                <a:spcPct val="150000"/>
              </a:lnSpc>
              <a:buFont typeface="+mj-lt"/>
              <a:buAutoNum type="arabicPeriod"/>
            </a:pPr>
            <a:r>
              <a:rPr lang="en-US" b="1" dirty="0">
                <a:solidFill>
                  <a:srgbClr val="FF0000"/>
                </a:solidFill>
              </a:rPr>
              <a:t>Access control (ISO/IEC 27002, ITIL)</a:t>
            </a:r>
          </a:p>
          <a:p>
            <a:pPr>
              <a:lnSpc>
                <a:spcPct val="150000"/>
              </a:lnSpc>
              <a:buFont typeface="+mj-lt"/>
              <a:buAutoNum type="arabicPeriod"/>
            </a:pPr>
            <a:r>
              <a:rPr lang="en-US" b="1" dirty="0">
                <a:solidFill>
                  <a:srgbClr val="FF0000"/>
                </a:solidFill>
              </a:rPr>
              <a:t>Vulnerability management (ISO/IEC 27002)</a:t>
            </a:r>
          </a:p>
          <a:p>
            <a:pPr>
              <a:lnSpc>
                <a:spcPct val="150000"/>
              </a:lnSpc>
              <a:buFont typeface="+mj-lt"/>
              <a:buAutoNum type="arabicPeriod"/>
            </a:pPr>
            <a:r>
              <a:rPr lang="en-US" b="1" dirty="0">
                <a:solidFill>
                  <a:srgbClr val="FF0000"/>
                </a:solidFill>
              </a:rPr>
              <a:t>Patch management (ITIL)</a:t>
            </a:r>
          </a:p>
          <a:p>
            <a:pPr>
              <a:lnSpc>
                <a:spcPct val="150000"/>
              </a:lnSpc>
              <a:buFont typeface="+mj-lt"/>
              <a:buAutoNum type="arabicPeriod"/>
            </a:pPr>
            <a:r>
              <a:rPr lang="en-US" b="1" dirty="0">
                <a:solidFill>
                  <a:srgbClr val="FF0000"/>
                </a:solidFill>
              </a:rPr>
              <a:t>Configuration management (ITIL)</a:t>
            </a:r>
          </a:p>
          <a:p>
            <a:pPr>
              <a:lnSpc>
                <a:spcPct val="150000"/>
              </a:lnSpc>
              <a:buFont typeface="+mj-lt"/>
              <a:buAutoNum type="arabicPeriod"/>
            </a:pPr>
            <a:r>
              <a:rPr lang="it-IT" b="1" dirty="0">
                <a:solidFill>
                  <a:srgbClr val="FF0000"/>
                </a:solidFill>
              </a:rPr>
              <a:t>Incident response (ISO/IEC 27002)</a:t>
            </a:r>
          </a:p>
          <a:p>
            <a:pPr>
              <a:lnSpc>
                <a:spcPct val="150000"/>
              </a:lnSpc>
              <a:buFont typeface="+mj-lt"/>
              <a:buAutoNum type="arabicPeriod"/>
            </a:pPr>
            <a:r>
              <a:rPr lang="en-US" b="1" dirty="0">
                <a:solidFill>
                  <a:srgbClr val="FF0000"/>
                </a:solidFill>
              </a:rPr>
              <a:t>System use and access monitoring (ISO/IEC 27002)</a:t>
            </a:r>
          </a:p>
        </p:txBody>
      </p:sp>
    </p:spTree>
    <p:extLst>
      <p:ext uri="{BB962C8B-B14F-4D97-AF65-F5344CB8AC3E}">
        <p14:creationId xmlns:p14="http://schemas.microsoft.com/office/powerpoint/2010/main" val="1884301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EBE6-BCF9-9E6A-F9B5-8BC1824F9691}"/>
              </a:ext>
            </a:extLst>
          </p:cNvPr>
          <p:cNvSpPr>
            <a:spLocks noGrp="1"/>
          </p:cNvSpPr>
          <p:nvPr>
            <p:ph type="title"/>
          </p:nvPr>
        </p:nvSpPr>
        <p:spPr/>
        <p:txBody>
          <a:bodyPr>
            <a:normAutofit fontScale="90000"/>
          </a:bodyPr>
          <a:lstStyle/>
          <a:p>
            <a:r>
              <a:rPr lang="en-US" sz="3200" b="1" dirty="0"/>
              <a:t>Availability management (ITIL)</a:t>
            </a:r>
            <a:br>
              <a:rPr lang="en-US" sz="3200" dirty="0"/>
            </a:br>
            <a:endParaRPr lang="en-US" dirty="0"/>
          </a:p>
        </p:txBody>
      </p:sp>
      <p:sp>
        <p:nvSpPr>
          <p:cNvPr id="3" name="Text Placeholder 2">
            <a:extLst>
              <a:ext uri="{FF2B5EF4-FFF2-40B4-BE49-F238E27FC236}">
                <a16:creationId xmlns:a16="http://schemas.microsoft.com/office/drawing/2014/main" id="{4592B60C-889A-F7BB-21CE-6C69B35FC419}"/>
              </a:ext>
            </a:extLst>
          </p:cNvPr>
          <p:cNvSpPr>
            <a:spLocks noGrp="1"/>
          </p:cNvSpPr>
          <p:nvPr>
            <p:ph type="body" idx="1"/>
          </p:nvPr>
        </p:nvSpPr>
        <p:spPr/>
        <p:txBody>
          <a:bodyPr>
            <a:normAutofit lnSpcReduction="10000"/>
          </a:bodyPr>
          <a:lstStyle/>
          <a:p>
            <a:pPr marL="643462" indent="-457200"/>
            <a:r>
              <a:rPr lang="en-US" sz="3200" dirty="0"/>
              <a:t>Availability management (ITIL)</a:t>
            </a:r>
            <a:br>
              <a:rPr lang="en-US" sz="3200" dirty="0"/>
            </a:br>
            <a:r>
              <a:rPr lang="en-US" sz="3200" b="1" dirty="0"/>
              <a:t>Factors Impacting Availability</a:t>
            </a:r>
          </a:p>
          <a:p>
            <a:pPr lvl="2"/>
            <a:r>
              <a:rPr lang="en-US" sz="3267" b="1" dirty="0"/>
              <a:t>SaaS Availability Management</a:t>
            </a:r>
          </a:p>
          <a:p>
            <a:pPr lvl="3"/>
            <a:r>
              <a:rPr lang="en-US" sz="3267" b="1" dirty="0"/>
              <a:t>Customer Responsibility</a:t>
            </a:r>
          </a:p>
          <a:p>
            <a:pPr lvl="2"/>
            <a:r>
              <a:rPr lang="en-US" sz="3267" b="1" dirty="0"/>
              <a:t>PaaS Availability Management</a:t>
            </a:r>
          </a:p>
          <a:p>
            <a:pPr lvl="3"/>
            <a:r>
              <a:rPr lang="en-US" sz="3267" b="1" dirty="0"/>
              <a:t>Customer Responsibility</a:t>
            </a:r>
          </a:p>
          <a:p>
            <a:pPr lvl="3"/>
            <a:r>
              <a:rPr lang="en-US" sz="3267" b="1" dirty="0"/>
              <a:t>PaaS Health Monitoring</a:t>
            </a:r>
          </a:p>
          <a:p>
            <a:pPr lvl="2"/>
            <a:r>
              <a:rPr lang="en-US" sz="3267" b="1" dirty="0"/>
              <a:t>IaaS Availability Management</a:t>
            </a:r>
            <a:endParaRPr lang="en-US" sz="4467" dirty="0"/>
          </a:p>
          <a:p>
            <a:endParaRPr lang="en-US" dirty="0"/>
          </a:p>
        </p:txBody>
      </p:sp>
    </p:spTree>
    <p:extLst>
      <p:ext uri="{BB962C8B-B14F-4D97-AF65-F5344CB8AC3E}">
        <p14:creationId xmlns:p14="http://schemas.microsoft.com/office/powerpoint/2010/main" val="3715007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74CF-583F-AC0D-53E7-FC69ED32A0DD}"/>
              </a:ext>
            </a:extLst>
          </p:cNvPr>
          <p:cNvSpPr>
            <a:spLocks noGrp="1"/>
          </p:cNvSpPr>
          <p:nvPr>
            <p:ph type="title"/>
          </p:nvPr>
        </p:nvSpPr>
        <p:spPr/>
        <p:txBody>
          <a:bodyPr>
            <a:normAutofit fontScale="90000"/>
          </a:bodyPr>
          <a:lstStyle/>
          <a:p>
            <a:r>
              <a:rPr lang="en-US" sz="2800" b="1" dirty="0"/>
              <a:t>Availability management (ITIL)</a:t>
            </a:r>
            <a:br>
              <a:rPr lang="en-US" sz="2800" b="1" dirty="0"/>
            </a:br>
            <a:endParaRPr lang="en-US" b="1" dirty="0"/>
          </a:p>
        </p:txBody>
      </p:sp>
      <p:sp>
        <p:nvSpPr>
          <p:cNvPr id="6" name="Rectangle 3">
            <a:extLst>
              <a:ext uri="{FF2B5EF4-FFF2-40B4-BE49-F238E27FC236}">
                <a16:creationId xmlns:a16="http://schemas.microsoft.com/office/drawing/2014/main" id="{91030267-1243-6C85-E9B6-7004F6CA0FA2}"/>
              </a:ext>
            </a:extLst>
          </p:cNvPr>
          <p:cNvSpPr>
            <a:spLocks noGrp="1" noChangeArrowheads="1"/>
          </p:cNvSpPr>
          <p:nvPr>
            <p:ph type="body" idx="1"/>
          </p:nvPr>
        </p:nvSpPr>
        <p:spPr bwMode="auto">
          <a:xfrm>
            <a:off x="415600" y="1195444"/>
            <a:ext cx="1005936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2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services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immune to outages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plan for failure.</a:t>
            </a:r>
          </a:p>
          <a:p>
            <a:pPr marL="342900" indent="-342900" eaLnBrk="0" fontAlgn="base" hangingPunct="0">
              <a:lnSpc>
                <a:spcPct val="200000"/>
              </a:lnSpc>
              <a:spcBef>
                <a:spcPct val="0"/>
              </a:spcBef>
              <a:spcAft>
                <a:spcPct val="0"/>
              </a:spcAft>
              <a:buClrTx/>
              <a:buSzTx/>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Availability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shared responsibility between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customer and CSP.</a:t>
            </a:r>
          </a:p>
          <a:p>
            <a:pPr marL="342900" indent="-342900" eaLnBrk="0" fontAlgn="base" hangingPunct="0">
              <a:lnSpc>
                <a:spcPct val="200000"/>
              </a:lnSpc>
              <a:spcBef>
                <a:spcPct val="0"/>
              </a:spcBef>
              <a:spcAft>
                <a:spcPct val="0"/>
              </a:spcAft>
              <a:buClrTx/>
              <a:buSzTx/>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Criticality of the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determines business impact.</a:t>
            </a:r>
          </a:p>
          <a:p>
            <a:pPr marL="342900" indent="-342900" eaLnBrk="0" fontAlgn="base" hangingPunct="0">
              <a:lnSpc>
                <a:spcPct val="2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 outages can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still cause large financial or reputational loss.</a:t>
            </a:r>
          </a:p>
          <a:p>
            <a:pPr marL="342900" indent="-342900" eaLnBrk="0" fontAlgn="base" hangingPunct="0">
              <a:lnSpc>
                <a:spcPct val="200000"/>
              </a:lnSpc>
              <a:spcBef>
                <a:spcPct val="0"/>
              </a:spcBef>
              <a:spcAft>
                <a:spcPct val="0"/>
              </a:spcAft>
              <a:buClrTx/>
              <a:buSzTx/>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Productivity loss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internal teams and customers.</a:t>
            </a:r>
          </a:p>
          <a:p>
            <a:pPr marL="342900" indent="-342900" eaLnBrk="0" fontAlgn="base" hangingPunct="0">
              <a:lnSpc>
                <a:spcPct val="2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Direct revenue loss (e-commerce, transactions, billings).</a:t>
            </a:r>
          </a:p>
          <a:p>
            <a:pPr marL="342900" indent="-342900" eaLnBrk="0" fontAlgn="base" hangingPunct="0">
              <a:lnSpc>
                <a:spcPct val="200000"/>
              </a:lnSpc>
              <a:spcBef>
                <a:spcPct val="0"/>
              </a:spcBef>
              <a:spcAft>
                <a:spcPct val="0"/>
              </a:spcAft>
              <a:buClrTx/>
              <a:buSzTx/>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Regulatory and SLA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penalties for downtime.</a:t>
            </a:r>
          </a:p>
        </p:txBody>
      </p:sp>
    </p:spTree>
    <p:extLst>
      <p:ext uri="{BB962C8B-B14F-4D97-AF65-F5344CB8AC3E}">
        <p14:creationId xmlns:p14="http://schemas.microsoft.com/office/powerpoint/2010/main" val="3505240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C761EB-A20F-2388-91D6-7BC19C822872}"/>
              </a:ext>
            </a:extLst>
          </p:cNvPr>
          <p:cNvSpPr>
            <a:spLocks noGrp="1"/>
          </p:cNvSpPr>
          <p:nvPr>
            <p:ph type="body" idx="1"/>
          </p:nvPr>
        </p:nvSpPr>
        <p:spPr>
          <a:xfrm>
            <a:off x="415600" y="528320"/>
            <a:ext cx="11360800" cy="5974080"/>
          </a:xfrm>
        </p:spPr>
        <p:txBody>
          <a:bodyPr>
            <a:normAutofit/>
          </a:bodyPr>
          <a:lstStyle/>
          <a:p>
            <a:r>
              <a:rPr lang="en-US" sz="2000" b="1" dirty="0">
                <a:latin typeface="Times New Roman" panose="02020603050405020304" pitchFamily="18" charset="0"/>
                <a:cs typeface="Times New Roman" panose="02020603050405020304" pitchFamily="18" charset="0"/>
              </a:rPr>
              <a:t>Outage Characteristics (expanded)</a:t>
            </a:r>
          </a:p>
          <a:p>
            <a:pPr lvl="1">
              <a:lnSpc>
                <a:spcPct val="250000"/>
              </a:lnSpc>
            </a:pPr>
            <a:r>
              <a:rPr lang="en-US" sz="2000" b="1" dirty="0">
                <a:latin typeface="Times New Roman" panose="02020603050405020304" pitchFamily="18" charset="0"/>
                <a:cs typeface="Times New Roman" panose="02020603050405020304" pitchFamily="18" charset="0"/>
              </a:rPr>
              <a:t>Duration</a:t>
            </a:r>
            <a:r>
              <a:rPr lang="en-US" sz="2000" dirty="0">
                <a:latin typeface="Times New Roman" panose="02020603050405020304" pitchFamily="18" charset="0"/>
                <a:cs typeface="Times New Roman" panose="02020603050405020304" pitchFamily="18" charset="0"/>
              </a:rPr>
              <a:t>: minutes → hours → rare multi-day events.</a:t>
            </a:r>
          </a:p>
          <a:p>
            <a:pPr lvl="1">
              <a:lnSpc>
                <a:spcPct val="250000"/>
              </a:lnSpc>
            </a:pPr>
            <a:r>
              <a:rPr lang="en-US" sz="2000" b="1" dirty="0">
                <a:latin typeface="Times New Roman" panose="02020603050405020304" pitchFamily="18" charset="0"/>
                <a:cs typeface="Times New Roman" panose="02020603050405020304" pitchFamily="18" charset="0"/>
              </a:rPr>
              <a:t>Scope: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single region, single service, multi-region, or global</a:t>
            </a:r>
            <a:r>
              <a:rPr lang="en-US" sz="2000" dirty="0">
                <a:latin typeface="Times New Roman" panose="02020603050405020304" pitchFamily="18" charset="0"/>
                <a:cs typeface="Times New Roman" panose="02020603050405020304" pitchFamily="18" charset="0"/>
              </a:rPr>
              <a:t>.</a:t>
            </a:r>
          </a:p>
          <a:p>
            <a:pPr lvl="1">
              <a:lnSpc>
                <a:spcPct val="250000"/>
              </a:lnSpc>
            </a:pPr>
            <a:r>
              <a:rPr lang="en-US" sz="2000" b="1" dirty="0">
                <a:latin typeface="Times New Roman" panose="02020603050405020304" pitchFamily="18" charset="0"/>
                <a:cs typeface="Times New Roman" panose="02020603050405020304" pitchFamily="18" charset="0"/>
              </a:rPr>
              <a:t>Type</a:t>
            </a:r>
            <a:r>
              <a:rPr lang="en-US" sz="2000" dirty="0">
                <a:latin typeface="Times New Roman" panose="02020603050405020304" pitchFamily="18" charset="0"/>
                <a:cs typeface="Times New Roman" panose="02020603050405020304" pitchFamily="18" charset="0"/>
              </a:rPr>
              <a:t>: complete outage, partial degradation, or intermittent failures.</a:t>
            </a:r>
          </a:p>
          <a:p>
            <a:r>
              <a:rPr lang="en-US" sz="2000" b="1" dirty="0">
                <a:latin typeface="Times New Roman" panose="02020603050405020304" pitchFamily="18" charset="0"/>
                <a:cs typeface="Times New Roman" panose="02020603050405020304" pitchFamily="18" charset="0"/>
              </a:rPr>
              <a:t>Common Root Causes</a:t>
            </a:r>
          </a:p>
          <a:p>
            <a:pPr lvl="1">
              <a:lnSpc>
                <a:spcPct val="150000"/>
              </a:lnSpc>
            </a:pPr>
            <a:r>
              <a:rPr lang="en-US" sz="2000" dirty="0">
                <a:latin typeface="Times New Roman" panose="02020603050405020304" pitchFamily="18" charset="0"/>
                <a:cs typeface="Times New Roman" panose="02020603050405020304" pitchFamily="18" charset="0"/>
              </a:rPr>
              <a:t>Network/routing/DNS misconfigurations or BGP issues.</a:t>
            </a:r>
          </a:p>
          <a:p>
            <a:pPr lvl="1">
              <a:lnSpc>
                <a:spcPct val="150000"/>
              </a:lnSpc>
            </a:pPr>
            <a:r>
              <a:rPr lang="en-US" sz="2000" dirty="0">
                <a:latin typeface="Times New Roman" panose="02020603050405020304" pitchFamily="18" charset="0"/>
                <a:cs typeface="Times New Roman" panose="02020603050405020304" pitchFamily="18" charset="0"/>
              </a:rPr>
              <a:t>Vendor/service software bugs and platform upgrades gone wrong.</a:t>
            </a:r>
          </a:p>
          <a:p>
            <a:pPr lvl="1">
              <a:lnSpc>
                <a:spcPct val="150000"/>
              </a:lnSpc>
            </a:pPr>
            <a:r>
              <a:rPr lang="en-US" sz="2000" dirty="0">
                <a:latin typeface="Times New Roman" panose="02020603050405020304" pitchFamily="18" charset="0"/>
                <a:cs typeface="Times New Roman" panose="02020603050405020304" pitchFamily="18" charset="0"/>
              </a:rPr>
              <a:t>Database cluster failures or storage corruption.</a:t>
            </a:r>
          </a:p>
          <a:p>
            <a:pPr lvl="1">
              <a:lnSpc>
                <a:spcPct val="150000"/>
              </a:lnSpc>
            </a:pPr>
            <a:r>
              <a:rPr lang="en-US" sz="2000" dirty="0">
                <a:latin typeface="Times New Roman" panose="02020603050405020304" pitchFamily="18" charset="0"/>
                <a:cs typeface="Times New Roman" panose="02020603050405020304" pitchFamily="18" charset="0"/>
              </a:rPr>
              <a:t>Human/configuration error during deployment (wrong rollback).</a:t>
            </a:r>
          </a:p>
          <a:p>
            <a:pPr lvl="1">
              <a:lnSpc>
                <a:spcPct val="150000"/>
              </a:lnSpc>
            </a:pPr>
            <a:r>
              <a:rPr lang="en-US" sz="2000" dirty="0">
                <a:latin typeface="Times New Roman" panose="02020603050405020304" pitchFamily="18" charset="0"/>
                <a:cs typeface="Times New Roman" panose="02020603050405020304" pitchFamily="18" charset="0"/>
              </a:rPr>
              <a:t>Capacity overloads and cascading failures under load.</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628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0E013-CC49-40AA-D15E-17D3BB52AE27}"/>
              </a:ext>
            </a:extLst>
          </p:cNvPr>
          <p:cNvSpPr>
            <a:spLocks noGrp="1"/>
          </p:cNvSpPr>
          <p:nvPr>
            <p:ph type="title"/>
          </p:nvPr>
        </p:nvSpPr>
        <p:spPr/>
        <p:txBody>
          <a:bodyPr/>
          <a:lstStyle/>
          <a:p>
            <a:r>
              <a:rPr lang="en-US" b="1" dirty="0"/>
              <a:t>Factors Impacting Availability</a:t>
            </a:r>
            <a:endParaRPr lang="en-US" dirty="0"/>
          </a:p>
        </p:txBody>
      </p:sp>
      <p:sp>
        <p:nvSpPr>
          <p:cNvPr id="3" name="Text Placeholder 2">
            <a:extLst>
              <a:ext uri="{FF2B5EF4-FFF2-40B4-BE49-F238E27FC236}">
                <a16:creationId xmlns:a16="http://schemas.microsoft.com/office/drawing/2014/main" id="{803EB763-2AF7-5BCA-2A93-6C49D6848863}"/>
              </a:ext>
            </a:extLst>
          </p:cNvPr>
          <p:cNvSpPr>
            <a:spLocks noGrp="1"/>
          </p:cNvSpPr>
          <p:nvPr>
            <p:ph type="body" idx="1"/>
          </p:nvPr>
        </p:nvSpPr>
        <p:spPr>
          <a:xfrm>
            <a:off x="415600" y="1107440"/>
            <a:ext cx="11360800" cy="4984293"/>
          </a:xfrm>
        </p:spPr>
        <p:txBody>
          <a:bodyPr/>
          <a:lstStyle/>
          <a:p>
            <a:pPr>
              <a:lnSpc>
                <a:spcPct val="150000"/>
              </a:lnSpc>
            </a:pPr>
            <a:r>
              <a:rPr lang="en-US" dirty="0"/>
              <a:t>The cloud service resiliency and availability depend on a few factors, </a:t>
            </a:r>
            <a:r>
              <a:rPr lang="en-US" b="1" dirty="0">
                <a:solidFill>
                  <a:srgbClr val="FF0000"/>
                </a:solidFill>
              </a:rPr>
              <a:t>including the CSP’s data center architecture </a:t>
            </a:r>
            <a:r>
              <a:rPr lang="en-US" dirty="0"/>
              <a:t>(load balancers, networks, systems</a:t>
            </a:r>
            <a:r>
              <a:rPr lang="en-US" b="1" dirty="0">
                <a:solidFill>
                  <a:srgbClr val="FF0000"/>
                </a:solidFill>
              </a:rPr>
              <a:t>), application architecture, hosting location redundancy, diversity of Internet service providers (ISPs), and data storage architecture.</a:t>
            </a:r>
          </a:p>
          <a:p>
            <a:pPr>
              <a:lnSpc>
                <a:spcPct val="150000"/>
              </a:lnSpc>
            </a:pPr>
            <a:r>
              <a:rPr lang="en-US" dirty="0"/>
              <a:t> Following is a list of the major factors:</a:t>
            </a:r>
          </a:p>
          <a:p>
            <a:pPr marL="1253047" lvl="1" indent="-457200">
              <a:lnSpc>
                <a:spcPct val="150000"/>
              </a:lnSpc>
              <a:buFont typeface="+mj-lt"/>
              <a:buAutoNum type="arabicPeriod"/>
            </a:pPr>
            <a:r>
              <a:rPr lang="en-US" b="1" dirty="0">
                <a:solidFill>
                  <a:srgbClr val="FF0000"/>
                </a:solidFill>
              </a:rPr>
              <a:t>SaaS and PaaS application architecture and redundancy.</a:t>
            </a:r>
          </a:p>
          <a:p>
            <a:pPr marL="1253047" lvl="1" indent="-457200">
              <a:lnSpc>
                <a:spcPct val="150000"/>
              </a:lnSpc>
              <a:buFont typeface="+mj-lt"/>
              <a:buAutoNum type="arabicPeriod"/>
            </a:pPr>
            <a:r>
              <a:rPr lang="en-US" dirty="0"/>
              <a:t>Cloud service </a:t>
            </a:r>
            <a:r>
              <a:rPr lang="en-US" b="1" dirty="0"/>
              <a:t>data center architecture, and network and systems architecture</a:t>
            </a:r>
            <a:r>
              <a:rPr lang="en-US" dirty="0"/>
              <a:t>, including geographically diverse and fault-tolerance architecture.</a:t>
            </a:r>
          </a:p>
          <a:p>
            <a:pPr marL="1253047" lvl="1" indent="-457200">
              <a:lnSpc>
                <a:spcPct val="150000"/>
              </a:lnSpc>
              <a:buFont typeface="+mj-lt"/>
              <a:buAutoNum type="arabicPeriod"/>
            </a:pPr>
            <a:r>
              <a:rPr lang="en-US" dirty="0"/>
              <a:t>Reliability and redundancy </a:t>
            </a:r>
            <a:r>
              <a:rPr lang="en-US" b="1" dirty="0">
                <a:solidFill>
                  <a:srgbClr val="FF0000"/>
                </a:solidFill>
              </a:rPr>
              <a:t>of Internet connectivity </a:t>
            </a:r>
            <a:r>
              <a:rPr lang="en-US" dirty="0"/>
              <a:t>used by </a:t>
            </a:r>
            <a:r>
              <a:rPr lang="en-US" b="1" dirty="0">
                <a:solidFill>
                  <a:srgbClr val="FF0000"/>
                </a:solidFill>
              </a:rPr>
              <a:t>the customer and the CSP.</a:t>
            </a:r>
          </a:p>
          <a:p>
            <a:pPr marL="1253047" lvl="1" indent="-457200">
              <a:lnSpc>
                <a:spcPct val="150000"/>
              </a:lnSpc>
              <a:buFont typeface="+mj-lt"/>
              <a:buAutoNum type="arabicPeriod"/>
            </a:pPr>
            <a:r>
              <a:rPr lang="en-US" dirty="0"/>
              <a:t>Customer’s ability to respond </a:t>
            </a:r>
            <a:r>
              <a:rPr lang="en-US" b="1" dirty="0">
                <a:solidFill>
                  <a:srgbClr val="FF0000"/>
                </a:solidFill>
              </a:rPr>
              <a:t>quickly and fall back on internal applications </a:t>
            </a:r>
            <a:r>
              <a:rPr lang="en-US" dirty="0"/>
              <a:t>and other processes, including manual procedures.</a:t>
            </a:r>
          </a:p>
        </p:txBody>
      </p:sp>
    </p:spTree>
    <p:extLst>
      <p:ext uri="{BB962C8B-B14F-4D97-AF65-F5344CB8AC3E}">
        <p14:creationId xmlns:p14="http://schemas.microsoft.com/office/powerpoint/2010/main" val="2875538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E5F5F2-2216-805E-7EF2-2CD80EE79728}"/>
              </a:ext>
            </a:extLst>
          </p:cNvPr>
          <p:cNvSpPr>
            <a:spLocks noGrp="1"/>
          </p:cNvSpPr>
          <p:nvPr>
            <p:ph type="body" idx="1"/>
          </p:nvPr>
        </p:nvSpPr>
        <p:spPr>
          <a:xfrm>
            <a:off x="415600" y="243840"/>
            <a:ext cx="11360800" cy="5847893"/>
          </a:xfrm>
        </p:spPr>
        <p:txBody>
          <a:bodyPr>
            <a:normAutofit fontScale="92500" lnSpcReduction="10000"/>
          </a:bodyPr>
          <a:lstStyle/>
          <a:p>
            <a:pPr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Customer’s visibility of the fault. In some downtime events, if the impact affects a small subset of users, it may be difficult to get a full picture of the impact and can make it harder to troubleshoot the situation.[</a:t>
            </a:r>
            <a:r>
              <a:rPr lang="en-US" sz="2000" b="1" dirty="0">
                <a:solidFill>
                  <a:srgbClr val="FF0000"/>
                </a:solidFill>
              </a:rPr>
              <a:t>when only a small group of users is affected, typical global monitors and dashboards can look “green,” so you may not see the problem right away. That lack of obvious signals makes it harder to detect, scope and troubleshoot the root cause.]</a:t>
            </a:r>
            <a:endParaRPr lang="en-US" sz="2000" b="1" dirty="0">
              <a:solidFill>
                <a:srgbClr val="FF0000"/>
              </a:solidFill>
              <a:latin typeface="Times New Roman" panose="02020603050405020304" pitchFamily="18" charset="0"/>
              <a:cs typeface="Times New Roman" panose="02020603050405020304" pitchFamily="18" charset="0"/>
            </a:endParaRPr>
          </a:p>
          <a:p>
            <a:pPr algn="just">
              <a:lnSpc>
                <a:spcPct val="200000"/>
              </a:lnSpc>
              <a:buFont typeface="+mj-lt"/>
              <a:buAutoNum type="arabicPeriod"/>
            </a:pPr>
            <a:r>
              <a:rPr lang="en-US" sz="2000" b="1" dirty="0">
                <a:solidFill>
                  <a:srgbClr val="FF0000"/>
                </a:solidFill>
                <a:latin typeface="Times New Roman" panose="02020603050405020304" pitchFamily="18" charset="0"/>
                <a:cs typeface="Times New Roman" panose="02020603050405020304" pitchFamily="18" charset="0"/>
              </a:rPr>
              <a:t>Reliability of hardware and software components </a:t>
            </a:r>
            <a:r>
              <a:rPr lang="en-US" sz="2000" dirty="0">
                <a:latin typeface="Times New Roman" panose="02020603050405020304" pitchFamily="18" charset="0"/>
                <a:cs typeface="Times New Roman" panose="02020603050405020304" pitchFamily="18" charset="0"/>
              </a:rPr>
              <a:t>used in delivering the cloud service.</a:t>
            </a:r>
          </a:p>
          <a:p>
            <a:pPr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Efficacy of the </a:t>
            </a:r>
            <a:r>
              <a:rPr lang="en-US" sz="2000" b="1" dirty="0">
                <a:solidFill>
                  <a:srgbClr val="FF0000"/>
                </a:solidFill>
                <a:latin typeface="Times New Roman" panose="02020603050405020304" pitchFamily="18" charset="0"/>
                <a:cs typeface="Times New Roman" panose="02020603050405020304" pitchFamily="18" charset="0"/>
              </a:rPr>
              <a:t>security and network infrastructure </a:t>
            </a:r>
            <a:r>
              <a:rPr lang="en-US" sz="2000" dirty="0">
                <a:latin typeface="Times New Roman" panose="02020603050405020304" pitchFamily="18" charset="0"/>
                <a:cs typeface="Times New Roman" panose="02020603050405020304" pitchFamily="18" charset="0"/>
              </a:rPr>
              <a:t>to withstand a distributed </a:t>
            </a:r>
            <a:r>
              <a:rPr lang="en-US" sz="2000" b="1" dirty="0">
                <a:solidFill>
                  <a:srgbClr val="FF0000"/>
                </a:solidFill>
                <a:latin typeface="Times New Roman" panose="02020603050405020304" pitchFamily="18" charset="0"/>
                <a:cs typeface="Times New Roman" panose="02020603050405020304" pitchFamily="18" charset="0"/>
              </a:rPr>
              <a:t>denial of service (DDoS) attack </a:t>
            </a:r>
            <a:r>
              <a:rPr lang="en-US" sz="2000" dirty="0">
                <a:latin typeface="Times New Roman" panose="02020603050405020304" pitchFamily="18" charset="0"/>
                <a:cs typeface="Times New Roman" panose="02020603050405020304" pitchFamily="18" charset="0"/>
              </a:rPr>
              <a:t>on the cloud service.</a:t>
            </a:r>
          </a:p>
          <a:p>
            <a:pPr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Efficacy of </a:t>
            </a:r>
            <a:r>
              <a:rPr lang="en-US" sz="2000" b="1" dirty="0">
                <a:solidFill>
                  <a:srgbClr val="FF0000"/>
                </a:solidFill>
                <a:latin typeface="Times New Roman" panose="02020603050405020304" pitchFamily="18" charset="0"/>
                <a:cs typeface="Times New Roman" panose="02020603050405020304" pitchFamily="18" charset="0"/>
              </a:rPr>
              <a:t>security controls and processes that reduce human error and protect infrastructure </a:t>
            </a:r>
            <a:r>
              <a:rPr lang="en-US" sz="2000" dirty="0">
                <a:latin typeface="Times New Roman" panose="02020603050405020304" pitchFamily="18" charset="0"/>
                <a:cs typeface="Times New Roman" panose="02020603050405020304" pitchFamily="18" charset="0"/>
              </a:rPr>
              <a:t>from malicious </a:t>
            </a:r>
            <a:r>
              <a:rPr lang="en-US" sz="2000" b="1" dirty="0">
                <a:solidFill>
                  <a:srgbClr val="FF0000"/>
                </a:solidFill>
                <a:latin typeface="Times New Roman" panose="02020603050405020304" pitchFamily="18" charset="0"/>
                <a:cs typeface="Times New Roman" panose="02020603050405020304" pitchFamily="18" charset="0"/>
              </a:rPr>
              <a:t>internal and external threats</a:t>
            </a:r>
            <a:r>
              <a:rPr lang="en-US" sz="2000" dirty="0">
                <a:latin typeface="Times New Roman" panose="02020603050405020304" pitchFamily="18" charset="0"/>
                <a:cs typeface="Times New Roman" panose="02020603050405020304" pitchFamily="18" charset="0"/>
              </a:rPr>
              <a:t>, e.g., privileged users abusing privileges.</a:t>
            </a:r>
          </a:p>
        </p:txBody>
      </p:sp>
    </p:spTree>
    <p:extLst>
      <p:ext uri="{BB962C8B-B14F-4D97-AF65-F5344CB8AC3E}">
        <p14:creationId xmlns:p14="http://schemas.microsoft.com/office/powerpoint/2010/main" val="2408740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67A9-DEC0-1A07-F3AA-4199A13FD5BB}"/>
              </a:ext>
            </a:extLst>
          </p:cNvPr>
          <p:cNvSpPr>
            <a:spLocks noGrp="1"/>
          </p:cNvSpPr>
          <p:nvPr>
            <p:ph type="title"/>
          </p:nvPr>
        </p:nvSpPr>
        <p:spPr/>
        <p:txBody>
          <a:bodyPr/>
          <a:lstStyle/>
          <a:p>
            <a:r>
              <a:rPr lang="en-US" b="1" dirty="0"/>
              <a:t>SaaS Availability Management</a:t>
            </a:r>
          </a:p>
        </p:txBody>
      </p:sp>
      <p:sp>
        <p:nvSpPr>
          <p:cNvPr id="4" name="Rectangle 1">
            <a:extLst>
              <a:ext uri="{FF2B5EF4-FFF2-40B4-BE49-F238E27FC236}">
                <a16:creationId xmlns:a16="http://schemas.microsoft.com/office/drawing/2014/main" id="{1598E3EE-78AE-3ACF-30E0-14B6C457B358}"/>
              </a:ext>
            </a:extLst>
          </p:cNvPr>
          <p:cNvSpPr>
            <a:spLocks noGrp="1" noChangeArrowheads="1"/>
          </p:cNvSpPr>
          <p:nvPr>
            <p:ph type="body" idx="1"/>
          </p:nvPr>
        </p:nvSpPr>
        <p:spPr bwMode="auto">
          <a:xfrm>
            <a:off x="415600" y="1318555"/>
            <a:ext cx="1228733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SaaS providers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own business continuity, application and infrastructure management.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shifts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operational responsibilities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IT to the CSP.</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must map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internal service-level needs to vendor SLAs and terms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Governance challenge: align business criticality (e.g., Marketing app) with what the SaaS vendor actually promises.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vendors provide formal SLAs; others rely on terms &amp; conditions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Uptime / availability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goal (e.g., 99.5% / 99.9%).Scheduled vs unscheduled maintenance (what counts as downtime).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Service credit / remediation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rules and how to claim them.</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Exclusions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(customer-caused issues , third-party failures).</a:t>
            </a:r>
          </a:p>
        </p:txBody>
      </p:sp>
    </p:spTree>
    <p:extLst>
      <p:ext uri="{BB962C8B-B14F-4D97-AF65-F5344CB8AC3E}">
        <p14:creationId xmlns:p14="http://schemas.microsoft.com/office/powerpoint/2010/main" val="3394131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09A2-2058-AD91-3F82-C90AED25FD79}"/>
              </a:ext>
            </a:extLst>
          </p:cNvPr>
          <p:cNvSpPr>
            <a:spLocks noGrp="1"/>
          </p:cNvSpPr>
          <p:nvPr>
            <p:ph type="title"/>
          </p:nvPr>
        </p:nvSpPr>
        <p:spPr/>
        <p:txBody>
          <a:bodyPr/>
          <a:lstStyle/>
          <a:p>
            <a:r>
              <a:rPr lang="en-US" dirty="0"/>
              <a:t>SaaS Health Monitoring </a:t>
            </a:r>
          </a:p>
        </p:txBody>
      </p:sp>
      <p:sp>
        <p:nvSpPr>
          <p:cNvPr id="3" name="Text Placeholder 2">
            <a:extLst>
              <a:ext uri="{FF2B5EF4-FFF2-40B4-BE49-F238E27FC236}">
                <a16:creationId xmlns:a16="http://schemas.microsoft.com/office/drawing/2014/main" id="{9B511169-D7D9-A592-2278-86034B7EC793}"/>
              </a:ext>
            </a:extLst>
          </p:cNvPr>
          <p:cNvSpPr>
            <a:spLocks noGrp="1"/>
          </p:cNvSpPr>
          <p:nvPr>
            <p:ph type="body" idx="1"/>
          </p:nvPr>
        </p:nvSpPr>
        <p:spPr/>
        <p:txBody>
          <a:bodyPr>
            <a:normAutofit/>
          </a:bodyPr>
          <a:lstStyle/>
          <a:p>
            <a:r>
              <a:rPr lang="en-US" sz="2400" b="1" dirty="0">
                <a:solidFill>
                  <a:srgbClr val="FF0000"/>
                </a:solidFill>
              </a:rPr>
              <a:t>The following options are available to customers to stay informed on the health of their service:</a:t>
            </a:r>
          </a:p>
          <a:p>
            <a:pPr marL="609596" indent="-457200">
              <a:buFont typeface="+mj-lt"/>
              <a:buAutoNum type="arabicPeriod"/>
            </a:pPr>
            <a:r>
              <a:rPr lang="en-US" sz="2400" dirty="0"/>
              <a:t>Service </a:t>
            </a:r>
            <a:r>
              <a:rPr lang="en-US" sz="2400" b="1" dirty="0">
                <a:solidFill>
                  <a:srgbClr val="FF0000"/>
                </a:solidFill>
              </a:rPr>
              <a:t>health dashboard </a:t>
            </a:r>
            <a:r>
              <a:rPr lang="en-US" sz="2400" dirty="0"/>
              <a:t>published by the CSP. Usually SaaS providers, such as </a:t>
            </a:r>
            <a:r>
              <a:rPr lang="en-US" sz="2400" dirty="0">
                <a:solidFill>
                  <a:srgbClr val="FF0000"/>
                </a:solidFill>
              </a:rPr>
              <a:t>Salesforce.com, publish the current state of the service, current outages that may impact customers, and upcoming scheduled maintenance services on their websit</a:t>
            </a:r>
            <a:r>
              <a:rPr lang="en-US" sz="2400" dirty="0"/>
              <a:t>e (e.g., </a:t>
            </a:r>
            <a:r>
              <a:rPr lang="en-US" sz="2400" i="1" dirty="0"/>
              <a:t>http:// trust.salesforce.com/trust/status/</a:t>
            </a:r>
            <a:r>
              <a:rPr lang="en-US" sz="2400" dirty="0"/>
              <a:t>).</a:t>
            </a:r>
          </a:p>
          <a:p>
            <a:pPr algn="just"/>
            <a:r>
              <a:rPr lang="en-US" sz="2400" dirty="0"/>
              <a:t>The </a:t>
            </a:r>
            <a:r>
              <a:rPr lang="en-US" sz="2400" b="1" dirty="0">
                <a:solidFill>
                  <a:srgbClr val="FF0000"/>
                </a:solidFill>
              </a:rPr>
              <a:t>Cloud Computing Incidents Database (CCID). </a:t>
            </a:r>
            <a:r>
              <a:rPr lang="en-US" sz="2400" dirty="0"/>
              <a:t>(This database is generally community supported, and may </a:t>
            </a:r>
            <a:r>
              <a:rPr lang="en-US" sz="2400" b="1" dirty="0">
                <a:solidFill>
                  <a:srgbClr val="FF0000"/>
                </a:solidFill>
              </a:rPr>
              <a:t>not reflect all CSPs and all incidents </a:t>
            </a:r>
            <a:r>
              <a:rPr lang="en-US" sz="2400" dirty="0"/>
              <a:t>that have occurred.)</a:t>
            </a:r>
            <a:endParaRPr lang="en-US" sz="4000" dirty="0"/>
          </a:p>
        </p:txBody>
      </p:sp>
    </p:spTree>
    <p:extLst>
      <p:ext uri="{BB962C8B-B14F-4D97-AF65-F5344CB8AC3E}">
        <p14:creationId xmlns:p14="http://schemas.microsoft.com/office/powerpoint/2010/main" val="1924424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72A1F-981A-C9E9-203F-324C8FA8D04A}"/>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6B129F21-37CD-107F-905C-BCD9306B8E70}"/>
              </a:ext>
            </a:extLst>
          </p:cNvPr>
          <p:cNvSpPr>
            <a:spLocks noGrp="1"/>
          </p:cNvSpPr>
          <p:nvPr>
            <p:ph type="body" idx="1"/>
          </p:nvPr>
        </p:nvSpPr>
        <p:spPr/>
        <p:txBody>
          <a:bodyPr>
            <a:normAutofit/>
          </a:bodyPr>
          <a:lstStyle/>
          <a:p>
            <a:r>
              <a:rPr lang="en-US" sz="3200" b="1" dirty="0">
                <a:solidFill>
                  <a:srgbClr val="FF0000"/>
                </a:solidFill>
              </a:rPr>
              <a:t>Customer mailing list</a:t>
            </a:r>
            <a:r>
              <a:rPr lang="en-US" sz="3200" dirty="0"/>
              <a:t> that notifies customers of occurring and recently occurred outages.</a:t>
            </a:r>
          </a:p>
          <a:p>
            <a:r>
              <a:rPr lang="en-US" sz="3200" dirty="0"/>
              <a:t>Internal or third-party-based service monitoring tools that periodically check SaaS provider health and alert customers when service becomes unavailable (e.g., Nagios monitoring tool).</a:t>
            </a:r>
          </a:p>
          <a:p>
            <a:r>
              <a:rPr lang="en-US" sz="3200" dirty="0"/>
              <a:t> RSS feed hosted at the SaaS service provider.</a:t>
            </a:r>
          </a:p>
        </p:txBody>
      </p:sp>
    </p:spTree>
    <p:extLst>
      <p:ext uri="{BB962C8B-B14F-4D97-AF65-F5344CB8AC3E}">
        <p14:creationId xmlns:p14="http://schemas.microsoft.com/office/powerpoint/2010/main" val="2942622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057F-1E32-BEC4-34AB-AAE5E34B6CFB}"/>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C25DA808-B674-4D82-2912-8D0B111D2CF3}"/>
              </a:ext>
            </a:extLst>
          </p:cNvPr>
          <p:cNvSpPr>
            <a:spLocks noGrp="1"/>
          </p:cNvSpPr>
          <p:nvPr>
            <p:ph type="body" idx="1"/>
          </p:nvPr>
        </p:nvSpPr>
        <p:spPr/>
        <p:txBody>
          <a:bodyPr/>
          <a:lstStyle/>
          <a:p>
            <a:pPr algn="just"/>
            <a:r>
              <a:rPr lang="en-US" sz="2800" b="1" dirty="0"/>
              <a:t>What is an RSS feed from a SaaS provider?</a:t>
            </a:r>
          </a:p>
          <a:p>
            <a:pPr algn="just"/>
            <a:r>
              <a:rPr lang="en-US" sz="2800" dirty="0"/>
              <a:t>An </a:t>
            </a:r>
            <a:r>
              <a:rPr lang="en-US" sz="2800" b="1" dirty="0"/>
              <a:t>RSS feed</a:t>
            </a:r>
            <a:r>
              <a:rPr lang="en-US" sz="2800" dirty="0"/>
              <a:t> (Really Simple Syndication) is a machine-readable XML feed the provider publishes to broadcast short updates — </a:t>
            </a:r>
            <a:r>
              <a:rPr lang="en-US" sz="2800" dirty="0">
                <a:solidFill>
                  <a:srgbClr val="FF0000"/>
                </a:solidFill>
              </a:rPr>
              <a:t>typically status updates, outage notices, and scheduled-maintenance announcements</a:t>
            </a:r>
            <a:r>
              <a:rPr lang="en-US" sz="2800" dirty="0"/>
              <a:t>. Subscribing to that RSS feed means you’ll automatically receive those updates (</a:t>
            </a:r>
            <a:r>
              <a:rPr lang="en-US" sz="2800" b="1" dirty="0">
                <a:solidFill>
                  <a:srgbClr val="FF0000"/>
                </a:solidFill>
              </a:rPr>
              <a:t>in a feed reader, monitoring tool, or custom scrip</a:t>
            </a:r>
            <a:r>
              <a:rPr lang="en-US" sz="2800" dirty="0"/>
              <a:t>t) as soon as the provider posts them.</a:t>
            </a:r>
          </a:p>
          <a:p>
            <a:endParaRPr lang="en-US" dirty="0"/>
          </a:p>
        </p:txBody>
      </p:sp>
    </p:spTree>
    <p:extLst>
      <p:ext uri="{BB962C8B-B14F-4D97-AF65-F5344CB8AC3E}">
        <p14:creationId xmlns:p14="http://schemas.microsoft.com/office/powerpoint/2010/main" val="3101222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B628-2DA3-72DE-B230-FBADEDE662E7}"/>
              </a:ext>
            </a:extLst>
          </p:cNvPr>
          <p:cNvSpPr>
            <a:spLocks noGrp="1"/>
          </p:cNvSpPr>
          <p:nvPr>
            <p:ph type="title"/>
          </p:nvPr>
        </p:nvSpPr>
        <p:spPr/>
        <p:txBody>
          <a:bodyPr/>
          <a:lstStyle/>
          <a:p>
            <a:r>
              <a:rPr lang="en-US" dirty="0"/>
              <a:t>What an RSS item looks like (example)</a:t>
            </a:r>
          </a:p>
        </p:txBody>
      </p:sp>
      <p:sp>
        <p:nvSpPr>
          <p:cNvPr id="3" name="Text Placeholder 2">
            <a:extLst>
              <a:ext uri="{FF2B5EF4-FFF2-40B4-BE49-F238E27FC236}">
                <a16:creationId xmlns:a16="http://schemas.microsoft.com/office/drawing/2014/main" id="{1C5883D7-EB37-10A0-0996-4C457BCCFE5E}"/>
              </a:ext>
            </a:extLst>
          </p:cNvPr>
          <p:cNvSpPr>
            <a:spLocks noGrp="1"/>
          </p:cNvSpPr>
          <p:nvPr>
            <p:ph type="body" idx="1"/>
          </p:nvPr>
        </p:nvSpPr>
        <p:spPr/>
        <p:txBody>
          <a:bodyPr/>
          <a:lstStyle/>
          <a:p>
            <a:pPr marL="152396" indent="0">
              <a:lnSpc>
                <a:spcPct val="200000"/>
              </a:lnSpc>
              <a:buNone/>
            </a:pPr>
            <a:r>
              <a:rPr lang="en-US" sz="2000" b="1" dirty="0"/>
              <a:t>&lt;item&gt;</a:t>
            </a:r>
          </a:p>
          <a:p>
            <a:pPr marL="152396" indent="0">
              <a:lnSpc>
                <a:spcPct val="200000"/>
              </a:lnSpc>
              <a:buNone/>
            </a:pPr>
            <a:r>
              <a:rPr lang="en-US" sz="2000" b="1" dirty="0"/>
              <a:t>  &lt;title&gt;Scheduled Maintenance: Database cluster&lt;/title&gt;</a:t>
            </a:r>
          </a:p>
          <a:p>
            <a:pPr marL="152396" indent="0">
              <a:lnSpc>
                <a:spcPct val="200000"/>
              </a:lnSpc>
              <a:buNone/>
            </a:pPr>
            <a:r>
              <a:rPr lang="en-US" sz="2000" b="1" dirty="0"/>
              <a:t>  &lt;link&gt;https://trust.example.com/incidents/123&lt;/link&gt;</a:t>
            </a:r>
          </a:p>
          <a:p>
            <a:pPr marL="152396" indent="0">
              <a:lnSpc>
                <a:spcPct val="200000"/>
              </a:lnSpc>
              <a:buNone/>
            </a:pPr>
            <a:r>
              <a:rPr lang="en-US" sz="2000" b="1" dirty="0"/>
              <a:t>  &lt;</a:t>
            </a:r>
            <a:r>
              <a:rPr lang="en-US" sz="2000" b="1" dirty="0" err="1"/>
              <a:t>pubDate</a:t>
            </a:r>
            <a:r>
              <a:rPr lang="en-US" sz="2000" b="1" dirty="0"/>
              <a:t>&gt;Tue, 30 Sep 2025 22:00:00 GMT&lt;/</a:t>
            </a:r>
            <a:r>
              <a:rPr lang="en-US" sz="2000" b="1" dirty="0" err="1"/>
              <a:t>pubDate</a:t>
            </a:r>
            <a:r>
              <a:rPr lang="en-US" sz="2000" b="1" dirty="0"/>
              <a:t>&gt;</a:t>
            </a:r>
          </a:p>
          <a:p>
            <a:pPr marL="152396" indent="0">
              <a:lnSpc>
                <a:spcPct val="200000"/>
              </a:lnSpc>
              <a:buNone/>
            </a:pPr>
            <a:r>
              <a:rPr lang="en-US" sz="2000" b="1" dirty="0"/>
              <a:t>  &lt;description&gt;We will perform maintenance on DB cluster starting 22:00 UTC.&lt;/description&gt;</a:t>
            </a:r>
          </a:p>
          <a:p>
            <a:pPr marL="152396" indent="0">
              <a:lnSpc>
                <a:spcPct val="200000"/>
              </a:lnSpc>
              <a:buNone/>
            </a:pPr>
            <a:r>
              <a:rPr lang="en-US" sz="2000" b="1" dirty="0"/>
              <a:t>  &lt;</a:t>
            </a:r>
            <a:r>
              <a:rPr lang="en-US" sz="2000" b="1" dirty="0" err="1"/>
              <a:t>guid</a:t>
            </a:r>
            <a:r>
              <a:rPr lang="en-US" sz="2000" b="1" dirty="0"/>
              <a:t>&gt;https://trust.example.com/incidents/123&lt;/guid&gt;</a:t>
            </a:r>
          </a:p>
          <a:p>
            <a:pPr marL="152396" indent="0">
              <a:lnSpc>
                <a:spcPct val="200000"/>
              </a:lnSpc>
              <a:buNone/>
            </a:pPr>
            <a:r>
              <a:rPr lang="en-US" sz="2000" b="1" dirty="0"/>
              <a:t>&lt;/item&gt;</a:t>
            </a:r>
          </a:p>
          <a:p>
            <a:endParaRPr lang="en-US" dirty="0"/>
          </a:p>
        </p:txBody>
      </p:sp>
    </p:spTree>
    <p:extLst>
      <p:ext uri="{BB962C8B-B14F-4D97-AF65-F5344CB8AC3E}">
        <p14:creationId xmlns:p14="http://schemas.microsoft.com/office/powerpoint/2010/main" val="3969600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D933-7CFA-4D40-672B-67DD2CFD6523}"/>
              </a:ext>
            </a:extLst>
          </p:cNvPr>
          <p:cNvSpPr>
            <a:spLocks noGrp="1"/>
          </p:cNvSpPr>
          <p:nvPr>
            <p:ph type="title"/>
          </p:nvPr>
        </p:nvSpPr>
        <p:spPr/>
        <p:txBody>
          <a:bodyPr/>
          <a:lstStyle/>
          <a:p>
            <a:r>
              <a:rPr lang="en-US" b="1" dirty="0"/>
              <a:t>PaaS Availability Management</a:t>
            </a:r>
            <a:endParaRPr lang="en-US" dirty="0"/>
          </a:p>
        </p:txBody>
      </p:sp>
      <p:sp>
        <p:nvSpPr>
          <p:cNvPr id="3" name="Text Placeholder 2">
            <a:extLst>
              <a:ext uri="{FF2B5EF4-FFF2-40B4-BE49-F238E27FC236}">
                <a16:creationId xmlns:a16="http://schemas.microsoft.com/office/drawing/2014/main" id="{335B0BE3-7F46-F335-C285-1E10B493D8E8}"/>
              </a:ext>
            </a:extLst>
          </p:cNvPr>
          <p:cNvSpPr>
            <a:spLocks noGrp="1"/>
          </p:cNvSpPr>
          <p:nvPr>
            <p:ph type="body" idx="1"/>
          </p:nvPr>
        </p:nvSpPr>
        <p:spPr/>
        <p:txBody>
          <a:bodyPr>
            <a:normAutofit/>
          </a:bodyPr>
          <a:lstStyle/>
          <a:p>
            <a:r>
              <a:rPr lang="en-US" sz="2800" b="1" dirty="0">
                <a:solidFill>
                  <a:srgbClr val="FF0000"/>
                </a:solidFill>
              </a:rPr>
              <a:t>Availability management of the PaaS application can be complicated?</a:t>
            </a:r>
          </a:p>
          <a:p>
            <a:r>
              <a:rPr lang="en-US" sz="2800" b="1" dirty="0">
                <a:solidFill>
                  <a:srgbClr val="FF0000"/>
                </a:solidFill>
              </a:rPr>
              <a:t>Why ?</a:t>
            </a:r>
          </a:p>
        </p:txBody>
      </p:sp>
    </p:spTree>
    <p:extLst>
      <p:ext uri="{BB962C8B-B14F-4D97-AF65-F5344CB8AC3E}">
        <p14:creationId xmlns:p14="http://schemas.microsoft.com/office/powerpoint/2010/main" val="2709142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FB6E-67A8-5008-1AED-1121754EA49A}"/>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BCA8A28-9FFA-549E-35DD-E88639AF5803}"/>
              </a:ext>
            </a:extLst>
          </p:cNvPr>
          <p:cNvSpPr>
            <a:spLocks noGrp="1"/>
          </p:cNvSpPr>
          <p:nvPr>
            <p:ph type="body" idx="1"/>
          </p:nvPr>
        </p:nvSpPr>
        <p:spPr/>
        <p:txBody>
          <a:bodyPr>
            <a:normAutofit fontScale="92500"/>
          </a:bodyPr>
          <a:lstStyle/>
          <a:p>
            <a:pPr algn="just">
              <a:lnSpc>
                <a:spcPct val="150000"/>
              </a:lnSpc>
            </a:pPr>
            <a:r>
              <a:rPr lang="en-US" sz="2400" dirty="0"/>
              <a:t>In a typical PaaS service, </a:t>
            </a:r>
            <a:r>
              <a:rPr lang="en-US" sz="2400" dirty="0">
                <a:solidFill>
                  <a:srgbClr val="FF0000"/>
                </a:solidFill>
              </a:rPr>
              <a:t>customers (developers) build and deploy PaaS applications on top of the CSP-supplied PaaS platform. </a:t>
            </a:r>
          </a:p>
          <a:p>
            <a:pPr algn="just">
              <a:lnSpc>
                <a:spcPct val="150000"/>
              </a:lnSpc>
            </a:pPr>
            <a:r>
              <a:rPr lang="en-US" sz="2400" dirty="0"/>
              <a:t>The PaaS platform is typically built on a </a:t>
            </a:r>
            <a:r>
              <a:rPr lang="en-US" sz="2400" dirty="0">
                <a:solidFill>
                  <a:srgbClr val="FF0000"/>
                </a:solidFill>
              </a:rPr>
              <a:t>CSP owned and managed network, servers, operating systems, storage infrastructure, and application components (web services). </a:t>
            </a:r>
          </a:p>
          <a:p>
            <a:pPr algn="just">
              <a:lnSpc>
                <a:spcPct val="150000"/>
              </a:lnSpc>
            </a:pPr>
            <a:r>
              <a:rPr lang="en-US" sz="2400" dirty="0"/>
              <a:t>Given that the customer PaaS applications are assembled with CSP-supplied application components and, in some cases, third-party web services components (mash-up applications</a:t>
            </a:r>
            <a:r>
              <a:rPr lang="en-US" sz="2400" dirty="0">
                <a:solidFill>
                  <a:srgbClr val="FF0000"/>
                </a:solidFill>
              </a:rPr>
              <a:t>), availability management of the PaaS application can be complicated—</a:t>
            </a:r>
          </a:p>
        </p:txBody>
      </p:sp>
    </p:spTree>
    <p:extLst>
      <p:ext uri="{BB962C8B-B14F-4D97-AF65-F5344CB8AC3E}">
        <p14:creationId xmlns:p14="http://schemas.microsoft.com/office/powerpoint/2010/main" val="2225165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4A33CB-32C4-11D1-5CFF-C97F87F24417}"/>
              </a:ext>
            </a:extLst>
          </p:cNvPr>
          <p:cNvSpPr>
            <a:spLocks noGrp="1"/>
          </p:cNvSpPr>
          <p:nvPr>
            <p:ph type="body" idx="1"/>
          </p:nvPr>
        </p:nvSpPr>
        <p:spPr>
          <a:xfrm>
            <a:off x="415600" y="213360"/>
            <a:ext cx="11360800" cy="6258560"/>
          </a:xfrm>
        </p:spPr>
        <p:txBody>
          <a:bodyPr>
            <a:normAutofit fontScale="85000" lnSpcReduction="10000"/>
          </a:bodyPr>
          <a:lstStyle/>
          <a:p>
            <a:pPr algn="just">
              <a:lnSpc>
                <a:spcPct val="160000"/>
              </a:lnSpc>
            </a:pPr>
            <a:r>
              <a:rPr lang="en-US" sz="2800" b="1" dirty="0">
                <a:solidFill>
                  <a:srgbClr val="FF0000"/>
                </a:solidFill>
              </a:rPr>
              <a:t>Shared-responsibility model </a:t>
            </a:r>
            <a:r>
              <a:rPr lang="en-US" sz="2800" dirty="0"/>
              <a:t>— the CSP owns the PaaS platform and underlying infra; the customer owns the application code and any third-party services the app uses.</a:t>
            </a:r>
          </a:p>
          <a:p>
            <a:pPr algn="just">
              <a:lnSpc>
                <a:spcPct val="160000"/>
              </a:lnSpc>
            </a:pPr>
            <a:r>
              <a:rPr lang="en-US" sz="2800" b="1" dirty="0">
                <a:solidFill>
                  <a:srgbClr val="FF0000"/>
                </a:solidFill>
              </a:rPr>
              <a:t>CSP-managed infrastructure </a:t>
            </a:r>
            <a:r>
              <a:rPr lang="en-US" sz="2800" dirty="0"/>
              <a:t>— PaaS runs on provider-controlled network, servers, OS, storage and platform components (so platform availability is the provider’s responsibility).</a:t>
            </a:r>
          </a:p>
          <a:p>
            <a:pPr algn="just">
              <a:lnSpc>
                <a:spcPct val="160000"/>
              </a:lnSpc>
            </a:pPr>
            <a:r>
              <a:rPr lang="en-US" sz="2800" b="1" dirty="0">
                <a:solidFill>
                  <a:srgbClr val="FF0000"/>
                </a:solidFill>
              </a:rPr>
              <a:t>Mash-ups increase risk </a:t>
            </a:r>
            <a:r>
              <a:rPr lang="en-US" sz="2800" dirty="0"/>
              <a:t>— apps that combine CSP-supplied components and external web services (e.g., Google Maps, Facebook APIs) have more points of failure.</a:t>
            </a:r>
          </a:p>
          <a:p>
            <a:pPr algn="just">
              <a:lnSpc>
                <a:spcPct val="160000"/>
              </a:lnSpc>
            </a:pPr>
            <a:r>
              <a:rPr lang="en-US" sz="2800" b="1" dirty="0">
                <a:solidFill>
                  <a:srgbClr val="FF0000"/>
                </a:solidFill>
              </a:rPr>
              <a:t>Dependency mapping is essential </a:t>
            </a:r>
            <a:r>
              <a:rPr lang="en-US" sz="2800" dirty="0"/>
              <a:t>— identify and document every external service (CSP components + third parties) your app depends on and the impact if each fails.</a:t>
            </a:r>
          </a:p>
        </p:txBody>
      </p:sp>
    </p:spTree>
    <p:extLst>
      <p:ext uri="{BB962C8B-B14F-4D97-AF65-F5344CB8AC3E}">
        <p14:creationId xmlns:p14="http://schemas.microsoft.com/office/powerpoint/2010/main" val="1952121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2EF4-DAD8-3D3A-3D39-F06F818DEF5E}"/>
              </a:ext>
            </a:extLst>
          </p:cNvPr>
          <p:cNvSpPr>
            <a:spLocks noGrp="1"/>
          </p:cNvSpPr>
          <p:nvPr>
            <p:ph type="title"/>
          </p:nvPr>
        </p:nvSpPr>
        <p:spPr/>
        <p:txBody>
          <a:bodyPr/>
          <a:lstStyle/>
          <a:p>
            <a:r>
              <a:rPr lang="en-US" b="1" dirty="0">
                <a:solidFill>
                  <a:srgbClr val="FF0000"/>
                </a:solidFill>
              </a:rPr>
              <a:t>Example:</a:t>
            </a:r>
          </a:p>
        </p:txBody>
      </p:sp>
      <p:sp>
        <p:nvSpPr>
          <p:cNvPr id="3" name="Text Placeholder 2">
            <a:extLst>
              <a:ext uri="{FF2B5EF4-FFF2-40B4-BE49-F238E27FC236}">
                <a16:creationId xmlns:a16="http://schemas.microsoft.com/office/drawing/2014/main" id="{A7C6C067-CD64-B718-72F6-FFC953CA432E}"/>
              </a:ext>
            </a:extLst>
          </p:cNvPr>
          <p:cNvSpPr>
            <a:spLocks noGrp="1"/>
          </p:cNvSpPr>
          <p:nvPr>
            <p:ph type="body" idx="1"/>
          </p:nvPr>
        </p:nvSpPr>
        <p:spPr/>
        <p:txBody>
          <a:bodyPr>
            <a:normAutofit/>
          </a:bodyPr>
          <a:lstStyle/>
          <a:p>
            <a:pPr algn="just"/>
            <a:r>
              <a:rPr lang="en-US" sz="2800" dirty="0"/>
              <a:t>The customer is responsible for managing the </a:t>
            </a:r>
            <a:r>
              <a:rPr lang="en-US" sz="2800" b="1" dirty="0">
                <a:solidFill>
                  <a:srgbClr val="FF0000"/>
                </a:solidFill>
              </a:rPr>
              <a:t>availability of the customer-developed application and third-party services,</a:t>
            </a:r>
            <a:r>
              <a:rPr lang="en-US" sz="2800" dirty="0"/>
              <a:t> and the </a:t>
            </a:r>
            <a:r>
              <a:rPr lang="en-US" sz="2800" dirty="0">
                <a:solidFill>
                  <a:srgbClr val="00B0F0"/>
                </a:solidFill>
              </a:rPr>
              <a:t>PaaS CSP is responsible for the PaaS platform and any other services supplied by the CSP.</a:t>
            </a:r>
          </a:p>
          <a:p>
            <a:pPr algn="just"/>
            <a:r>
              <a:rPr lang="en-US" sz="2800" dirty="0"/>
              <a:t> For example, Force.com is responsible for the management of the AppExchange platform, and customers are responsible for managing the applications developed and deployed on that platform.</a:t>
            </a:r>
          </a:p>
        </p:txBody>
      </p:sp>
    </p:spTree>
    <p:extLst>
      <p:ext uri="{BB962C8B-B14F-4D97-AF65-F5344CB8AC3E}">
        <p14:creationId xmlns:p14="http://schemas.microsoft.com/office/powerpoint/2010/main" val="3685031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2263-0FAF-E479-327D-8DE294E68822}"/>
              </a:ext>
            </a:extLst>
          </p:cNvPr>
          <p:cNvSpPr>
            <a:spLocks noGrp="1"/>
          </p:cNvSpPr>
          <p:nvPr>
            <p:ph type="title"/>
          </p:nvPr>
        </p:nvSpPr>
        <p:spPr>
          <a:xfrm>
            <a:off x="415600" y="629920"/>
            <a:ext cx="11360800" cy="375920"/>
          </a:xfrm>
        </p:spPr>
        <p:txBody>
          <a:bodyPr>
            <a:normAutofit fontScale="90000"/>
          </a:bodyPr>
          <a:lstStyle/>
          <a:p>
            <a:r>
              <a:rPr lang="en-US" b="1" dirty="0">
                <a:solidFill>
                  <a:srgbClr val="FF0000"/>
                </a:solidFill>
              </a:rPr>
              <a:t>PaaS Quotas &amp; Service Levels</a:t>
            </a:r>
          </a:p>
        </p:txBody>
      </p:sp>
      <p:sp>
        <p:nvSpPr>
          <p:cNvPr id="3" name="Text Placeholder 2">
            <a:extLst>
              <a:ext uri="{FF2B5EF4-FFF2-40B4-BE49-F238E27FC236}">
                <a16:creationId xmlns:a16="http://schemas.microsoft.com/office/drawing/2014/main" id="{E5FA134C-EE24-9EEE-C974-3D2E505BE0B4}"/>
              </a:ext>
            </a:extLst>
          </p:cNvPr>
          <p:cNvSpPr>
            <a:spLocks noGrp="1"/>
          </p:cNvSpPr>
          <p:nvPr>
            <p:ph type="body" idx="1"/>
          </p:nvPr>
        </p:nvSpPr>
        <p:spPr>
          <a:xfrm>
            <a:off x="415600" y="1178560"/>
            <a:ext cx="11360800" cy="4913173"/>
          </a:xfrm>
        </p:spPr>
        <p:txBody>
          <a:bodyPr>
            <a:normAutofit/>
          </a:bodyPr>
          <a:lstStyle/>
          <a:p>
            <a:pPr algn="just"/>
            <a:r>
              <a:rPr lang="en-US" sz="2400" dirty="0"/>
              <a:t>Customers are encouraged to </a:t>
            </a:r>
            <a:r>
              <a:rPr lang="en-US" sz="2400" b="1" dirty="0">
                <a:solidFill>
                  <a:srgbClr val="FF0000"/>
                </a:solidFill>
              </a:rPr>
              <a:t>read and understand the PaaS platform service levels </a:t>
            </a:r>
            <a:r>
              <a:rPr lang="en-US" sz="2400" dirty="0"/>
              <a:t>(if available), including </a:t>
            </a:r>
            <a:r>
              <a:rPr lang="en-US" sz="2400" dirty="0">
                <a:solidFill>
                  <a:srgbClr val="FF0000"/>
                </a:solidFill>
              </a:rPr>
              <a:t>quota triggers </a:t>
            </a:r>
            <a:r>
              <a:rPr lang="en-US" sz="2400" dirty="0"/>
              <a:t>that may limit resource availability for their application (usually outlined in the SLA, or in the terms and conditions of the PaaS service).</a:t>
            </a:r>
          </a:p>
          <a:p>
            <a:pPr algn="just"/>
            <a:r>
              <a:rPr lang="en-US" sz="2400" dirty="0"/>
              <a:t> In cases where </a:t>
            </a:r>
            <a:r>
              <a:rPr lang="en-US" sz="2400" dirty="0">
                <a:solidFill>
                  <a:srgbClr val="FF0000"/>
                </a:solidFill>
              </a:rPr>
              <a:t>the PaaS platform enforces quotas on compute resources (CPU, memory, network I/O), upon reaching the thresholds the application may not be able to respond within the normal latency expectations and could eventually become unavailable.</a:t>
            </a:r>
          </a:p>
          <a:p>
            <a:pPr algn="just"/>
            <a:r>
              <a:rPr lang="en-US" sz="2400" dirty="0"/>
              <a:t> For example, </a:t>
            </a:r>
            <a:r>
              <a:rPr lang="en-US" sz="2400" b="1" dirty="0">
                <a:solidFill>
                  <a:srgbClr val="FF0000"/>
                </a:solidFill>
              </a:rPr>
              <a:t>the Google App Engine has a quota system</a:t>
            </a:r>
            <a:r>
              <a:rPr lang="en-US" sz="2400" dirty="0"/>
              <a:t> whereby each App Engine resource is measured against one of two kinds of quotas: a </a:t>
            </a:r>
            <a:r>
              <a:rPr lang="en-US" sz="2400" b="1" dirty="0">
                <a:solidFill>
                  <a:srgbClr val="FF0000"/>
                </a:solidFill>
              </a:rPr>
              <a:t>billable quota or a fixed quota.</a:t>
            </a:r>
          </a:p>
        </p:txBody>
      </p:sp>
    </p:spTree>
    <p:extLst>
      <p:ext uri="{BB962C8B-B14F-4D97-AF65-F5344CB8AC3E}">
        <p14:creationId xmlns:p14="http://schemas.microsoft.com/office/powerpoint/2010/main" val="3425207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8734EE-8AAB-D4D3-CA59-BE14C6C804AB}"/>
              </a:ext>
            </a:extLst>
          </p:cNvPr>
          <p:cNvSpPr>
            <a:spLocks noGrp="1"/>
          </p:cNvSpPr>
          <p:nvPr>
            <p:ph type="body" idx="1"/>
          </p:nvPr>
        </p:nvSpPr>
        <p:spPr>
          <a:xfrm>
            <a:off x="415600" y="243840"/>
            <a:ext cx="11360800" cy="5847893"/>
          </a:xfrm>
        </p:spPr>
        <p:txBody>
          <a:bodyPr>
            <a:normAutofit/>
          </a:bodyPr>
          <a:lstStyle/>
          <a:p>
            <a:pPr algn="just"/>
            <a:r>
              <a:rPr lang="en-US" sz="2400" dirty="0"/>
              <a:t>What are Quotas?</a:t>
            </a:r>
          </a:p>
          <a:p>
            <a:pPr lvl="1" algn="just"/>
            <a:r>
              <a:rPr lang="en-US" sz="2400" dirty="0"/>
              <a:t>Quotas limit resources (CPU, memory, network I/O, API calls) to protect platform </a:t>
            </a:r>
            <a:r>
              <a:rPr lang="en-US" sz="2400" dirty="0" err="1"/>
              <a:t>integrity.They</a:t>
            </a:r>
            <a:r>
              <a:rPr lang="en-US" sz="2400" dirty="0"/>
              <a:t> can be billable (you control &amp; pay to raise) or fixed (provider-enforced hard limits).</a:t>
            </a:r>
          </a:p>
          <a:p>
            <a:r>
              <a:rPr lang="en-US" sz="2400" b="1" dirty="0"/>
              <a:t>Billable Quotas (user-controlled)</a:t>
            </a:r>
          </a:p>
          <a:p>
            <a:pPr lvl="1"/>
            <a:r>
              <a:rPr lang="en-US" sz="2467" dirty="0"/>
              <a:t>Set by the </a:t>
            </a:r>
            <a:r>
              <a:rPr lang="en-US" sz="2467" b="1" dirty="0">
                <a:solidFill>
                  <a:srgbClr val="FF0000"/>
                </a:solidFill>
              </a:rPr>
              <a:t>app admin to cap spend</a:t>
            </a:r>
            <a:r>
              <a:rPr lang="en-US" sz="2467" dirty="0"/>
              <a:t>; you can increase them by enabling </a:t>
            </a:r>
            <a:r>
              <a:rPr lang="en-US" sz="2467" b="1" dirty="0"/>
              <a:t>billing and allocating budget.</a:t>
            </a:r>
          </a:p>
          <a:p>
            <a:pPr lvl="1"/>
            <a:r>
              <a:rPr lang="en-US" sz="2467" dirty="0"/>
              <a:t>Every app usually gets free-tier amounts; charges apply only above free thresholds.</a:t>
            </a:r>
          </a:p>
          <a:p>
            <a:pPr lvl="1"/>
            <a:r>
              <a:rPr lang="en-US" sz="2467" dirty="0"/>
              <a:t>Use billable quotas to </a:t>
            </a:r>
            <a:r>
              <a:rPr lang="en-US" sz="2467" b="1" dirty="0">
                <a:solidFill>
                  <a:srgbClr val="FF0000"/>
                </a:solidFill>
              </a:rPr>
              <a:t>prevent unexpected costs </a:t>
            </a:r>
            <a:r>
              <a:rPr lang="en-US" sz="2467" dirty="0"/>
              <a:t>while allowing scaling when needed.</a:t>
            </a:r>
          </a:p>
          <a:p>
            <a:pPr algn="just"/>
            <a:endParaRPr lang="en-US" sz="2333" dirty="0"/>
          </a:p>
        </p:txBody>
      </p:sp>
    </p:spTree>
    <p:extLst>
      <p:ext uri="{BB962C8B-B14F-4D97-AF65-F5344CB8AC3E}">
        <p14:creationId xmlns:p14="http://schemas.microsoft.com/office/powerpoint/2010/main" val="128192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4F88-50DC-87FC-FB21-B48D5D85335C}"/>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2C83838-A5FF-D03A-811F-ECCF048537E3}"/>
              </a:ext>
            </a:extLst>
          </p:cNvPr>
          <p:cNvSpPr>
            <a:spLocks noGrp="1"/>
          </p:cNvSpPr>
          <p:nvPr>
            <p:ph type="body" idx="1"/>
          </p:nvPr>
        </p:nvSpPr>
        <p:spPr/>
        <p:txBody>
          <a:bodyPr/>
          <a:lstStyle/>
          <a:p>
            <a:pPr>
              <a:lnSpc>
                <a:spcPct val="200000"/>
              </a:lnSpc>
              <a:buNone/>
            </a:pPr>
            <a:r>
              <a:rPr lang="en-US" sz="2400" b="1" dirty="0"/>
              <a:t>Fixed Quotas (provider-controlled)</a:t>
            </a:r>
          </a:p>
          <a:p>
            <a:pPr>
              <a:lnSpc>
                <a:spcPct val="200000"/>
              </a:lnSpc>
              <a:buFont typeface="Arial" panose="020B0604020202020204" pitchFamily="34" charset="0"/>
              <a:buChar char="•"/>
            </a:pPr>
            <a:r>
              <a:rPr lang="en-US" sz="2400" dirty="0"/>
              <a:t>Enforced by the platform to ensure </a:t>
            </a:r>
            <a:r>
              <a:rPr lang="en-US" sz="2400" b="1" dirty="0"/>
              <a:t>fairness and system stability.</a:t>
            </a:r>
          </a:p>
          <a:p>
            <a:pPr>
              <a:lnSpc>
                <a:spcPct val="200000"/>
              </a:lnSpc>
              <a:buFont typeface="Arial" panose="020B0604020202020204" pitchFamily="34" charset="0"/>
              <a:buChar char="•"/>
            </a:pPr>
            <a:r>
              <a:rPr lang="en-US" sz="2400" dirty="0"/>
              <a:t>Cannot be exceeded; hitting a fixed quota can cause throttling, errors, or app unavailability.</a:t>
            </a:r>
          </a:p>
          <a:p>
            <a:pPr>
              <a:lnSpc>
                <a:spcPct val="200000"/>
              </a:lnSpc>
              <a:buFont typeface="Arial" panose="020B0604020202020204" pitchFamily="34" charset="0"/>
              <a:buChar char="•"/>
            </a:pPr>
            <a:r>
              <a:rPr lang="en-US" sz="2400" dirty="0"/>
              <a:t>Examples: </a:t>
            </a:r>
            <a:r>
              <a:rPr lang="en-US" sz="2400" dirty="0">
                <a:solidFill>
                  <a:srgbClr val="FF0000"/>
                </a:solidFill>
              </a:rPr>
              <a:t>per-minute API calls, thread limits, per-request CPU time.</a:t>
            </a:r>
          </a:p>
          <a:p>
            <a:endParaRPr lang="en-US" dirty="0"/>
          </a:p>
        </p:txBody>
      </p:sp>
    </p:spTree>
    <p:extLst>
      <p:ext uri="{BB962C8B-B14F-4D97-AF65-F5344CB8AC3E}">
        <p14:creationId xmlns:p14="http://schemas.microsoft.com/office/powerpoint/2010/main" val="2337340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F5F6-7CB5-5CFF-AC3B-BDB16E8872B6}"/>
              </a:ext>
            </a:extLst>
          </p:cNvPr>
          <p:cNvSpPr>
            <a:spLocks noGrp="1"/>
          </p:cNvSpPr>
          <p:nvPr>
            <p:ph type="title"/>
          </p:nvPr>
        </p:nvSpPr>
        <p:spPr/>
        <p:txBody>
          <a:bodyPr/>
          <a:lstStyle/>
          <a:p>
            <a:r>
              <a:rPr lang="en-US" b="1" dirty="0"/>
              <a:t>Customer Responsibility</a:t>
            </a:r>
            <a:endParaRPr lang="en-US" dirty="0"/>
          </a:p>
        </p:txBody>
      </p:sp>
      <p:sp>
        <p:nvSpPr>
          <p:cNvPr id="3" name="Text Placeholder 2">
            <a:extLst>
              <a:ext uri="{FF2B5EF4-FFF2-40B4-BE49-F238E27FC236}">
                <a16:creationId xmlns:a16="http://schemas.microsoft.com/office/drawing/2014/main" id="{177E4517-BE97-5F76-DB35-4DA3199FDC93}"/>
              </a:ext>
            </a:extLst>
          </p:cNvPr>
          <p:cNvSpPr>
            <a:spLocks noGrp="1"/>
          </p:cNvSpPr>
          <p:nvPr>
            <p:ph type="body" idx="1"/>
          </p:nvPr>
        </p:nvSpPr>
        <p:spPr/>
        <p:txBody>
          <a:bodyPr/>
          <a:lstStyle/>
          <a:p>
            <a:pPr>
              <a:lnSpc>
                <a:spcPct val="200000"/>
              </a:lnSpc>
            </a:pPr>
            <a:r>
              <a:rPr lang="en-US" dirty="0"/>
              <a:t>Considering all of the variable parameters in availability management</a:t>
            </a:r>
            <a:r>
              <a:rPr lang="en-US" b="1" dirty="0">
                <a:solidFill>
                  <a:srgbClr val="FF0000"/>
                </a:solidFill>
              </a:rPr>
              <a:t>, the PaaS application customer should carefully analyze the dependencies of the application on the third-party web services </a:t>
            </a:r>
            <a:r>
              <a:rPr lang="en-US" dirty="0"/>
              <a:t>(components) and </a:t>
            </a:r>
            <a:r>
              <a:rPr lang="en-US" dirty="0">
                <a:solidFill>
                  <a:srgbClr val="FF0000"/>
                </a:solidFill>
              </a:rPr>
              <a:t>outline a holistic management strategy to manage and monitor all the dependencies.</a:t>
            </a:r>
          </a:p>
          <a:p>
            <a:pPr>
              <a:lnSpc>
                <a:spcPct val="200000"/>
              </a:lnSpc>
            </a:pPr>
            <a:r>
              <a:rPr lang="en-US" dirty="0"/>
              <a:t>The following considerations are for PaaS customers:</a:t>
            </a:r>
          </a:p>
          <a:p>
            <a:pPr>
              <a:lnSpc>
                <a:spcPct val="200000"/>
              </a:lnSpc>
              <a:buFont typeface="+mj-lt"/>
              <a:buAutoNum type="arabicPeriod"/>
            </a:pPr>
            <a:r>
              <a:rPr lang="en-US" b="1" i="1" dirty="0"/>
              <a:t>PaaS platform service levels</a:t>
            </a:r>
          </a:p>
          <a:p>
            <a:pPr lvl="1">
              <a:lnSpc>
                <a:spcPct val="200000"/>
              </a:lnSpc>
            </a:pPr>
            <a:r>
              <a:rPr lang="en-US" dirty="0"/>
              <a:t>Customers should </a:t>
            </a:r>
            <a:r>
              <a:rPr lang="en-US" dirty="0">
                <a:solidFill>
                  <a:srgbClr val="FF0000"/>
                </a:solidFill>
              </a:rPr>
              <a:t>carefully review the terms and conditions of the CSP’s SLAs and understand the availability constraints.</a:t>
            </a:r>
          </a:p>
        </p:txBody>
      </p:sp>
    </p:spTree>
    <p:extLst>
      <p:ext uri="{BB962C8B-B14F-4D97-AF65-F5344CB8AC3E}">
        <p14:creationId xmlns:p14="http://schemas.microsoft.com/office/powerpoint/2010/main" val="337217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F2400-950C-8826-1BC6-1724A270428F}"/>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C0CD54AD-C262-194A-0D51-D7519D66F5B0}"/>
              </a:ext>
            </a:extLst>
          </p:cNvPr>
          <p:cNvSpPr>
            <a:spLocks noGrp="1"/>
          </p:cNvSpPr>
          <p:nvPr>
            <p:ph type="body" idx="1"/>
          </p:nvPr>
        </p:nvSpPr>
        <p:spPr/>
        <p:txBody>
          <a:bodyPr/>
          <a:lstStyle/>
          <a:p>
            <a:pPr marL="152396" indent="0" algn="l">
              <a:buNone/>
            </a:pPr>
            <a:r>
              <a:rPr lang="en-US" sz="1800" b="0" i="1" u="none" strike="noStrike" baseline="0" dirty="0">
                <a:latin typeface="MeridienLTStd-Italic"/>
              </a:rPr>
              <a:t>2</a:t>
            </a:r>
            <a:r>
              <a:rPr lang="en-US" sz="1800" b="1" i="1" u="none" strike="noStrike" baseline="0" dirty="0">
                <a:solidFill>
                  <a:srgbClr val="FF0000"/>
                </a:solidFill>
                <a:latin typeface="MeridienLTStd-Italic"/>
              </a:rPr>
              <a:t>. </a:t>
            </a:r>
            <a:r>
              <a:rPr lang="en-US" sz="2800" b="1" i="1" u="none" strike="noStrike" baseline="0" dirty="0">
                <a:solidFill>
                  <a:srgbClr val="FF0000"/>
                </a:solidFill>
                <a:latin typeface="Times New Roman" panose="02020603050405020304" pitchFamily="18" charset="0"/>
                <a:cs typeface="Times New Roman" panose="02020603050405020304" pitchFamily="18" charset="0"/>
              </a:rPr>
              <a:t>Third-party web services provider service levels</a:t>
            </a:r>
          </a:p>
          <a:p>
            <a:pPr algn="l"/>
            <a:r>
              <a:rPr lang="en-US" sz="2800" b="0" i="0" u="none" strike="noStrike" baseline="0" dirty="0">
                <a:latin typeface="Times New Roman" panose="02020603050405020304" pitchFamily="18" charset="0"/>
                <a:cs typeface="Times New Roman" panose="02020603050405020304" pitchFamily="18" charset="0"/>
              </a:rPr>
              <a:t>When your PaaS application depends on a third-party service, it is critical to understand the SLA of that service.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5730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E44C-2EDF-ABEC-53C7-6101E8FBA036}"/>
              </a:ext>
            </a:extLst>
          </p:cNvPr>
          <p:cNvSpPr>
            <a:spLocks noGrp="1"/>
          </p:cNvSpPr>
          <p:nvPr>
            <p:ph type="title"/>
          </p:nvPr>
        </p:nvSpPr>
        <p:spPr/>
        <p:txBody>
          <a:bodyPr/>
          <a:lstStyle/>
          <a:p>
            <a:r>
              <a:rPr lang="en-US" b="1" dirty="0"/>
              <a:t>PaaS Health Monitoring</a:t>
            </a:r>
          </a:p>
        </p:txBody>
      </p:sp>
      <p:sp>
        <p:nvSpPr>
          <p:cNvPr id="3" name="Text Placeholder 2">
            <a:extLst>
              <a:ext uri="{FF2B5EF4-FFF2-40B4-BE49-F238E27FC236}">
                <a16:creationId xmlns:a16="http://schemas.microsoft.com/office/drawing/2014/main" id="{8BADB4DC-9161-7E10-4EFC-3A386F209244}"/>
              </a:ext>
            </a:extLst>
          </p:cNvPr>
          <p:cNvSpPr>
            <a:spLocks noGrp="1"/>
          </p:cNvSpPr>
          <p:nvPr>
            <p:ph type="body" idx="1"/>
          </p:nvPr>
        </p:nvSpPr>
        <p:spPr/>
        <p:txBody>
          <a:bodyPr>
            <a:normAutofit lnSpcReduction="10000"/>
          </a:bodyPr>
          <a:lstStyle/>
          <a:p>
            <a:pPr algn="just"/>
            <a:r>
              <a:rPr lang="en-US" sz="2400" b="1" dirty="0">
                <a:solidFill>
                  <a:srgbClr val="FF0000"/>
                </a:solidFill>
              </a:rPr>
              <a:t>The following options are available to customers to monitor the health of their service:</a:t>
            </a:r>
          </a:p>
          <a:p>
            <a:pPr algn="just">
              <a:buFont typeface="+mj-lt"/>
              <a:buAutoNum type="arabicPeriod"/>
            </a:pPr>
            <a:r>
              <a:rPr lang="en-US" sz="2400" dirty="0"/>
              <a:t> </a:t>
            </a:r>
            <a:r>
              <a:rPr lang="en-US" sz="2400" b="1" dirty="0">
                <a:solidFill>
                  <a:srgbClr val="FF0000"/>
                </a:solidFill>
              </a:rPr>
              <a:t>Service health dashboard </a:t>
            </a:r>
            <a:r>
              <a:rPr lang="en-US" sz="2400" dirty="0"/>
              <a:t>published by the CSP (e.g., http://status.zoho.com)</a:t>
            </a:r>
          </a:p>
          <a:p>
            <a:pPr algn="just">
              <a:buFont typeface="+mj-lt"/>
              <a:buAutoNum type="arabicPeriod"/>
            </a:pPr>
            <a:r>
              <a:rPr lang="en-US" sz="2400" b="1" dirty="0">
                <a:solidFill>
                  <a:srgbClr val="FF0000"/>
                </a:solidFill>
              </a:rPr>
              <a:t>CCID</a:t>
            </a:r>
            <a:r>
              <a:rPr lang="en-US" sz="2400" dirty="0"/>
              <a:t> (this database is generally community-supported, and may not reflect all CSPs and all incidents that have occurred)</a:t>
            </a:r>
          </a:p>
          <a:p>
            <a:pPr algn="just">
              <a:buFont typeface="+mj-lt"/>
              <a:buAutoNum type="arabicPeriod"/>
            </a:pPr>
            <a:r>
              <a:rPr lang="en-US" sz="2400" dirty="0"/>
              <a:t> CSP customer </a:t>
            </a:r>
            <a:r>
              <a:rPr lang="en-US" sz="2400" b="1" dirty="0">
                <a:solidFill>
                  <a:srgbClr val="FF0000"/>
                </a:solidFill>
              </a:rPr>
              <a:t>mailing list </a:t>
            </a:r>
            <a:r>
              <a:rPr lang="en-US" sz="2400" dirty="0"/>
              <a:t>that notifies customers of occurring and recently occurred</a:t>
            </a:r>
          </a:p>
          <a:p>
            <a:pPr algn="just">
              <a:buFont typeface="+mj-lt"/>
              <a:buAutoNum type="arabicPeriod"/>
            </a:pPr>
            <a:r>
              <a:rPr lang="en-US" sz="2400" dirty="0"/>
              <a:t>outages</a:t>
            </a:r>
          </a:p>
          <a:p>
            <a:pPr algn="just">
              <a:buFont typeface="+mj-lt"/>
              <a:buAutoNum type="arabicPeriod"/>
            </a:pPr>
            <a:r>
              <a:rPr lang="en-US" sz="2400" b="1" dirty="0">
                <a:solidFill>
                  <a:srgbClr val="FF0000"/>
                </a:solidFill>
              </a:rPr>
              <a:t>RSS feed </a:t>
            </a:r>
            <a:r>
              <a:rPr lang="en-US" sz="2400" dirty="0"/>
              <a:t>for RSS readers with availability and outage information</a:t>
            </a:r>
          </a:p>
          <a:p>
            <a:pPr algn="just">
              <a:buFont typeface="+mj-lt"/>
              <a:buAutoNum type="arabicPeriod"/>
            </a:pPr>
            <a:r>
              <a:rPr lang="en-US" sz="2400" b="1" dirty="0">
                <a:solidFill>
                  <a:srgbClr val="FF0000"/>
                </a:solidFill>
              </a:rPr>
              <a:t>Internal or third-party-based service monitoring tools </a:t>
            </a:r>
            <a:r>
              <a:rPr lang="en-US" sz="2400" dirty="0"/>
              <a:t>that periodically check your PaaS application, as well as third-party web services that monitor your application (e.g., Nagios monitoring tool)</a:t>
            </a:r>
          </a:p>
        </p:txBody>
      </p:sp>
    </p:spTree>
    <p:extLst>
      <p:ext uri="{BB962C8B-B14F-4D97-AF65-F5344CB8AC3E}">
        <p14:creationId xmlns:p14="http://schemas.microsoft.com/office/powerpoint/2010/main" val="3109736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570B4-AFE1-B59E-C400-687975ACBA8F}"/>
              </a:ext>
            </a:extLst>
          </p:cNvPr>
          <p:cNvSpPr>
            <a:spLocks noGrp="1"/>
          </p:cNvSpPr>
          <p:nvPr>
            <p:ph type="title"/>
          </p:nvPr>
        </p:nvSpPr>
        <p:spPr/>
        <p:txBody>
          <a:bodyPr/>
          <a:lstStyle/>
          <a:p>
            <a:r>
              <a:rPr lang="en-US" b="1" dirty="0"/>
              <a:t>IaaS Availability Management</a:t>
            </a:r>
            <a:endParaRPr lang="en-US" dirty="0"/>
          </a:p>
        </p:txBody>
      </p:sp>
      <p:sp>
        <p:nvSpPr>
          <p:cNvPr id="3" name="Text Placeholder 2">
            <a:extLst>
              <a:ext uri="{FF2B5EF4-FFF2-40B4-BE49-F238E27FC236}">
                <a16:creationId xmlns:a16="http://schemas.microsoft.com/office/drawing/2014/main" id="{5DD7B5CD-404A-183C-2BD7-71E0E87F4759}"/>
              </a:ext>
            </a:extLst>
          </p:cNvPr>
          <p:cNvSpPr>
            <a:spLocks noGrp="1"/>
          </p:cNvSpPr>
          <p:nvPr>
            <p:ph type="body" idx="1"/>
          </p:nvPr>
        </p:nvSpPr>
        <p:spPr/>
        <p:txBody>
          <a:bodyPr>
            <a:normAutofit fontScale="92500" lnSpcReduction="20000"/>
          </a:bodyPr>
          <a:lstStyle/>
          <a:p>
            <a:pPr algn="just">
              <a:lnSpc>
                <a:spcPct val="200000"/>
              </a:lnSpc>
            </a:pPr>
            <a:r>
              <a:rPr lang="en-US" sz="2400" dirty="0"/>
              <a:t>Availability considerations for the IaaS delivery model should include </a:t>
            </a:r>
            <a:r>
              <a:rPr lang="en-US" sz="2400" dirty="0">
                <a:solidFill>
                  <a:srgbClr val="FF0000"/>
                </a:solidFill>
              </a:rPr>
              <a:t>both a computing and storage (persistent and ephemeral) infrastructure in the cloud.</a:t>
            </a:r>
          </a:p>
          <a:p>
            <a:pPr algn="just">
              <a:lnSpc>
                <a:spcPct val="200000"/>
              </a:lnSpc>
            </a:pPr>
            <a:r>
              <a:rPr lang="en-US" sz="2400" dirty="0"/>
              <a:t> IaaS providers may also offer other services such </a:t>
            </a:r>
            <a:r>
              <a:rPr lang="en-US" sz="2400" dirty="0">
                <a:solidFill>
                  <a:srgbClr val="FF0000"/>
                </a:solidFill>
              </a:rPr>
              <a:t>as account management, a message queue service, an identity and authentication service, a database service, a billing service, and monitoring services.</a:t>
            </a:r>
          </a:p>
          <a:p>
            <a:pPr algn="just">
              <a:lnSpc>
                <a:spcPct val="200000"/>
              </a:lnSpc>
            </a:pPr>
            <a:r>
              <a:rPr lang="en-US" sz="2400" dirty="0"/>
              <a:t>Hence, availability management should take </a:t>
            </a:r>
            <a:r>
              <a:rPr lang="en-US" sz="2400" dirty="0">
                <a:solidFill>
                  <a:srgbClr val="FF0000"/>
                </a:solidFill>
              </a:rPr>
              <a:t>into consideration all the services that you depend on for your IT and business needs.</a:t>
            </a:r>
          </a:p>
        </p:txBody>
      </p:sp>
    </p:spTree>
    <p:extLst>
      <p:ext uri="{BB962C8B-B14F-4D97-AF65-F5344CB8AC3E}">
        <p14:creationId xmlns:p14="http://schemas.microsoft.com/office/powerpoint/2010/main" val="3834429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30E4-7D48-3143-57A9-C4408B43D860}"/>
              </a:ext>
            </a:extLst>
          </p:cNvPr>
          <p:cNvSpPr>
            <a:spLocks noGrp="1"/>
          </p:cNvSpPr>
          <p:nvPr>
            <p:ph type="title"/>
          </p:nvPr>
        </p:nvSpPr>
        <p:spPr/>
        <p:txBody>
          <a:bodyPr>
            <a:normAutofit fontScale="90000"/>
          </a:bodyPr>
          <a:lstStyle/>
          <a:p>
            <a:r>
              <a:rPr lang="en-US" dirty="0"/>
              <a:t>Managing IaaS virtual infrastructure in the cloud depends on five factors:</a:t>
            </a:r>
          </a:p>
        </p:txBody>
      </p:sp>
      <p:sp>
        <p:nvSpPr>
          <p:cNvPr id="3" name="Text Placeholder 2">
            <a:extLst>
              <a:ext uri="{FF2B5EF4-FFF2-40B4-BE49-F238E27FC236}">
                <a16:creationId xmlns:a16="http://schemas.microsoft.com/office/drawing/2014/main" id="{43008DC2-30F0-F2A3-DA3E-99DB6AF2FF91}"/>
              </a:ext>
            </a:extLst>
          </p:cNvPr>
          <p:cNvSpPr>
            <a:spLocks noGrp="1"/>
          </p:cNvSpPr>
          <p:nvPr>
            <p:ph type="body" idx="1"/>
          </p:nvPr>
        </p:nvSpPr>
        <p:spPr>
          <a:xfrm>
            <a:off x="415600" y="1562132"/>
            <a:ext cx="11360800" cy="5001227"/>
          </a:xfrm>
        </p:spPr>
        <p:txBody>
          <a:bodyPr>
            <a:normAutofit fontScale="92500" lnSpcReduction="10000"/>
          </a:bodyPr>
          <a:lstStyle/>
          <a:p>
            <a:pPr marL="152396" indent="0">
              <a:buNone/>
            </a:pPr>
            <a:r>
              <a:rPr lang="en-US" sz="2600" b="1" dirty="0"/>
              <a:t>1. Availability of a CSP network, host, storage, and support application infrastructure. This factor depends on the following</a:t>
            </a:r>
            <a:r>
              <a:rPr lang="en-US" b="1" dirty="0"/>
              <a:t>:</a:t>
            </a:r>
          </a:p>
          <a:p>
            <a:pPr lvl="1">
              <a:buFont typeface="+mj-lt"/>
              <a:buAutoNum type="arabicPeriod"/>
            </a:pPr>
            <a:r>
              <a:rPr lang="en-US" sz="2600" dirty="0"/>
              <a:t>CSP data center architecture, including a geographically diverse and fault-tolerance architecture.</a:t>
            </a:r>
          </a:p>
          <a:p>
            <a:pPr lvl="1">
              <a:buFont typeface="+mj-lt"/>
              <a:buAutoNum type="arabicPeriod"/>
            </a:pPr>
            <a:r>
              <a:rPr lang="en-US" sz="2600" dirty="0"/>
              <a:t>Reliability, diversity, and redundancy of Internet connectivity used by the customer and the CSP.</a:t>
            </a:r>
          </a:p>
          <a:p>
            <a:pPr lvl="1">
              <a:buFont typeface="+mj-lt"/>
              <a:buAutoNum type="arabicPeriod"/>
            </a:pPr>
            <a:r>
              <a:rPr lang="en-US" sz="2600" dirty="0"/>
              <a:t>Reliability and redundancy architecture of the hardware and software components used for delivering compute and storage services.</a:t>
            </a:r>
          </a:p>
          <a:p>
            <a:pPr lvl="1">
              <a:buFont typeface="+mj-lt"/>
              <a:buAutoNum type="arabicPeriod"/>
            </a:pPr>
            <a:r>
              <a:rPr lang="en-US" sz="2600" dirty="0"/>
              <a:t>Availability management process and procedures, including business continuity processes established by the CSP.</a:t>
            </a:r>
          </a:p>
          <a:p>
            <a:pPr lvl="1">
              <a:buFont typeface="+mj-lt"/>
              <a:buAutoNum type="arabicPeriod"/>
            </a:pPr>
            <a:r>
              <a:rPr lang="en-US" sz="2600" dirty="0"/>
              <a:t>Web console or API service availability.</a:t>
            </a:r>
          </a:p>
          <a:p>
            <a:pPr lvl="1">
              <a:buFont typeface="+mj-lt"/>
              <a:buAutoNum type="arabicPeriod"/>
            </a:pPr>
            <a:r>
              <a:rPr lang="en-US" sz="2600" dirty="0"/>
              <a:t>SLA.</a:t>
            </a:r>
            <a:endParaRPr lang="en-US" sz="2600" b="1" dirty="0"/>
          </a:p>
        </p:txBody>
      </p:sp>
    </p:spTree>
    <p:extLst>
      <p:ext uri="{BB962C8B-B14F-4D97-AF65-F5344CB8AC3E}">
        <p14:creationId xmlns:p14="http://schemas.microsoft.com/office/powerpoint/2010/main" val="2499303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A519CB-3397-AE10-81FC-3DC20144AC0D}"/>
              </a:ext>
            </a:extLst>
          </p:cNvPr>
          <p:cNvSpPr>
            <a:spLocks noGrp="1"/>
          </p:cNvSpPr>
          <p:nvPr>
            <p:ph type="body" idx="1"/>
          </p:nvPr>
        </p:nvSpPr>
        <p:spPr>
          <a:xfrm>
            <a:off x="415600" y="365760"/>
            <a:ext cx="11360800" cy="5725973"/>
          </a:xfrm>
        </p:spPr>
        <p:txBody>
          <a:bodyPr>
            <a:normAutofit/>
          </a:bodyPr>
          <a:lstStyle/>
          <a:p>
            <a:pPr marL="152396" indent="0">
              <a:lnSpc>
                <a:spcPct val="150000"/>
              </a:lnSpc>
              <a:buNone/>
            </a:pPr>
            <a:r>
              <a:rPr lang="en-US" sz="2400" dirty="0"/>
              <a:t>2. Availability of your virtual servers and the attached storage (persistent and ephemeral) for compute services (e.g., Amazon Web Services’ S3† and Amazon Elastic Block Store).</a:t>
            </a:r>
          </a:p>
          <a:p>
            <a:pPr marL="152396" indent="0">
              <a:lnSpc>
                <a:spcPct val="150000"/>
              </a:lnSpc>
              <a:buNone/>
            </a:pPr>
            <a:r>
              <a:rPr lang="en-US" sz="2400" dirty="0"/>
              <a:t>3. Availability of virtual storage that your users and virtual server depend on for storage service.</a:t>
            </a:r>
          </a:p>
          <a:p>
            <a:pPr marL="152396" indent="0">
              <a:lnSpc>
                <a:spcPct val="150000"/>
              </a:lnSpc>
              <a:buNone/>
            </a:pPr>
            <a:r>
              <a:rPr lang="en-US" sz="2400" dirty="0"/>
              <a:t>4. Availability of your network connectivity to the Internet or virtual network connectivity to IaaS services.</a:t>
            </a:r>
          </a:p>
          <a:p>
            <a:pPr marL="152396" indent="0">
              <a:lnSpc>
                <a:spcPct val="150000"/>
              </a:lnSpc>
              <a:buNone/>
            </a:pPr>
            <a:r>
              <a:rPr lang="en-US" sz="2400" dirty="0"/>
              <a:t>5. Availability of network services, including a DNS, routing services, and authentication services required to connect to the IaaS service.</a:t>
            </a:r>
          </a:p>
          <a:p>
            <a:endParaRPr lang="en-US" dirty="0"/>
          </a:p>
        </p:txBody>
      </p:sp>
    </p:spTree>
    <p:extLst>
      <p:ext uri="{BB962C8B-B14F-4D97-AF65-F5344CB8AC3E}">
        <p14:creationId xmlns:p14="http://schemas.microsoft.com/office/powerpoint/2010/main" val="3733354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D0A9-36AD-E884-8063-F02B2C830BEE}"/>
              </a:ext>
            </a:extLst>
          </p:cNvPr>
          <p:cNvSpPr>
            <a:spLocks noGrp="1"/>
          </p:cNvSpPr>
          <p:nvPr>
            <p:ph type="title"/>
          </p:nvPr>
        </p:nvSpPr>
        <p:spPr/>
        <p:txBody>
          <a:bodyPr/>
          <a:lstStyle/>
          <a:p>
            <a:r>
              <a:rPr lang="en-US" b="1" dirty="0"/>
              <a:t>IaaS Health Monitoring</a:t>
            </a:r>
            <a:endParaRPr lang="en-US" dirty="0"/>
          </a:p>
        </p:txBody>
      </p:sp>
      <p:sp>
        <p:nvSpPr>
          <p:cNvPr id="3" name="Text Placeholder 2">
            <a:extLst>
              <a:ext uri="{FF2B5EF4-FFF2-40B4-BE49-F238E27FC236}">
                <a16:creationId xmlns:a16="http://schemas.microsoft.com/office/drawing/2014/main" id="{C942816A-E2B5-F3F9-8220-A527E1CB2FE4}"/>
              </a:ext>
            </a:extLst>
          </p:cNvPr>
          <p:cNvSpPr>
            <a:spLocks noGrp="1"/>
          </p:cNvSpPr>
          <p:nvPr>
            <p:ph type="body" idx="1"/>
          </p:nvPr>
        </p:nvSpPr>
        <p:spPr/>
        <p:txBody>
          <a:bodyPr/>
          <a:lstStyle/>
          <a:p>
            <a:pPr algn="just">
              <a:lnSpc>
                <a:spcPct val="150000"/>
              </a:lnSpc>
            </a:pPr>
            <a:r>
              <a:rPr lang="en-US" b="1" dirty="0">
                <a:solidFill>
                  <a:srgbClr val="FF0000"/>
                </a:solidFill>
              </a:rPr>
              <a:t>The following options are available to customers to monitor the health of their service:</a:t>
            </a:r>
          </a:p>
          <a:p>
            <a:pPr algn="just">
              <a:lnSpc>
                <a:spcPct val="150000"/>
              </a:lnSpc>
              <a:buFont typeface="+mj-lt"/>
              <a:buAutoNum type="arabicPeriod"/>
            </a:pPr>
            <a:r>
              <a:rPr lang="en-US" dirty="0"/>
              <a:t> </a:t>
            </a:r>
            <a:r>
              <a:rPr lang="en-US" b="1" dirty="0">
                <a:solidFill>
                  <a:srgbClr val="FF0000"/>
                </a:solidFill>
              </a:rPr>
              <a:t>Service health dashboard </a:t>
            </a:r>
            <a:r>
              <a:rPr lang="en-US" dirty="0"/>
              <a:t>published by the CSP (e.g., http://status.zoho.com)</a:t>
            </a:r>
          </a:p>
          <a:p>
            <a:pPr algn="just">
              <a:lnSpc>
                <a:spcPct val="150000"/>
              </a:lnSpc>
              <a:buFont typeface="+mj-lt"/>
              <a:buAutoNum type="arabicPeriod"/>
            </a:pPr>
            <a:r>
              <a:rPr lang="en-US" b="1" dirty="0">
                <a:solidFill>
                  <a:srgbClr val="FF0000"/>
                </a:solidFill>
              </a:rPr>
              <a:t>CCID</a:t>
            </a:r>
            <a:r>
              <a:rPr lang="en-US" dirty="0"/>
              <a:t> (this database is generally community-supported, and may not reflect all CSPs and all incidents that have occurred)</a:t>
            </a:r>
          </a:p>
          <a:p>
            <a:pPr algn="just">
              <a:lnSpc>
                <a:spcPct val="150000"/>
              </a:lnSpc>
              <a:buFont typeface="+mj-lt"/>
              <a:buAutoNum type="arabicPeriod"/>
            </a:pPr>
            <a:r>
              <a:rPr lang="en-US" dirty="0"/>
              <a:t> CSP customer </a:t>
            </a:r>
            <a:r>
              <a:rPr lang="en-US" b="1" dirty="0">
                <a:solidFill>
                  <a:srgbClr val="FF0000"/>
                </a:solidFill>
              </a:rPr>
              <a:t>mailing list </a:t>
            </a:r>
            <a:r>
              <a:rPr lang="en-US" dirty="0"/>
              <a:t>that notifies customers of occurring and recently occurred</a:t>
            </a:r>
          </a:p>
          <a:p>
            <a:pPr algn="just">
              <a:lnSpc>
                <a:spcPct val="150000"/>
              </a:lnSpc>
              <a:buFont typeface="+mj-lt"/>
              <a:buAutoNum type="arabicPeriod"/>
            </a:pPr>
            <a:r>
              <a:rPr lang="en-US" dirty="0"/>
              <a:t>outages</a:t>
            </a:r>
          </a:p>
          <a:p>
            <a:pPr algn="just">
              <a:lnSpc>
                <a:spcPct val="150000"/>
              </a:lnSpc>
              <a:buFont typeface="+mj-lt"/>
              <a:buAutoNum type="arabicPeriod"/>
            </a:pPr>
            <a:r>
              <a:rPr lang="en-US" b="1" dirty="0">
                <a:solidFill>
                  <a:srgbClr val="FF0000"/>
                </a:solidFill>
              </a:rPr>
              <a:t>RSS feed </a:t>
            </a:r>
            <a:r>
              <a:rPr lang="en-US" dirty="0"/>
              <a:t>for RSS readers with availability and outage information</a:t>
            </a:r>
          </a:p>
          <a:p>
            <a:pPr algn="just">
              <a:lnSpc>
                <a:spcPct val="150000"/>
              </a:lnSpc>
              <a:buFont typeface="+mj-lt"/>
              <a:buAutoNum type="arabicPeriod"/>
            </a:pPr>
            <a:r>
              <a:rPr lang="en-US" b="1" dirty="0">
                <a:solidFill>
                  <a:srgbClr val="FF0000"/>
                </a:solidFill>
              </a:rPr>
              <a:t>Internal or third-party-based service monitoring tools </a:t>
            </a:r>
            <a:r>
              <a:rPr lang="en-US" dirty="0"/>
              <a:t>that periodically check your PaaS application, as well as third-party web services that monitor your application (e.g., Nagios monitoring tool)</a:t>
            </a:r>
          </a:p>
          <a:p>
            <a:endParaRPr lang="en-US" dirty="0"/>
          </a:p>
        </p:txBody>
      </p:sp>
    </p:spTree>
    <p:extLst>
      <p:ext uri="{BB962C8B-B14F-4D97-AF65-F5344CB8AC3E}">
        <p14:creationId xmlns:p14="http://schemas.microsoft.com/office/powerpoint/2010/main" val="151220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55EE-58E2-82A2-5B87-9DDD90238700}"/>
              </a:ext>
            </a:extLst>
          </p:cNvPr>
          <p:cNvSpPr>
            <a:spLocks noGrp="1"/>
          </p:cNvSpPr>
          <p:nvPr>
            <p:ph type="title"/>
          </p:nvPr>
        </p:nvSpPr>
        <p:spPr>
          <a:xfrm>
            <a:off x="415600" y="357467"/>
            <a:ext cx="11360800" cy="817600"/>
          </a:xfrm>
        </p:spPr>
        <p:txBody>
          <a:bodyPr/>
          <a:lstStyle/>
          <a:p>
            <a:r>
              <a:rPr lang="en-US" b="1" dirty="0"/>
              <a:t>Access Control</a:t>
            </a:r>
            <a:endParaRPr lang="en-US" dirty="0"/>
          </a:p>
        </p:txBody>
      </p:sp>
      <p:sp>
        <p:nvSpPr>
          <p:cNvPr id="3" name="Text Placeholder 2">
            <a:extLst>
              <a:ext uri="{FF2B5EF4-FFF2-40B4-BE49-F238E27FC236}">
                <a16:creationId xmlns:a16="http://schemas.microsoft.com/office/drawing/2014/main" id="{DBE87D4B-C20D-5782-F2F6-3B69EC16BD09}"/>
              </a:ext>
            </a:extLst>
          </p:cNvPr>
          <p:cNvSpPr>
            <a:spLocks noGrp="1"/>
          </p:cNvSpPr>
          <p:nvPr>
            <p:ph type="body" idx="1"/>
          </p:nvPr>
        </p:nvSpPr>
        <p:spPr>
          <a:xfrm>
            <a:off x="415600" y="802640"/>
            <a:ext cx="11360800" cy="5289093"/>
          </a:xfrm>
        </p:spPr>
        <p:txBody>
          <a:bodyPr>
            <a:normAutofit/>
          </a:bodyPr>
          <a:lstStyle/>
          <a:p>
            <a:pPr>
              <a:lnSpc>
                <a:spcPct val="200000"/>
              </a:lnSpc>
            </a:pPr>
            <a:r>
              <a:rPr lang="en-US" dirty="0"/>
              <a:t>Access control management is a broad function that encompasses access requirements for your users and system administrators (privileged users) who access network, system, and application resources. The access control management functions should address the following:</a:t>
            </a:r>
          </a:p>
          <a:p>
            <a:pPr>
              <a:lnSpc>
                <a:spcPct val="200000"/>
              </a:lnSpc>
            </a:pPr>
            <a:r>
              <a:rPr lang="en-US" dirty="0"/>
              <a:t>Who should have access to what resource? (Assignment of entitlements to users)</a:t>
            </a:r>
          </a:p>
          <a:p>
            <a:pPr>
              <a:lnSpc>
                <a:spcPct val="200000"/>
              </a:lnSpc>
            </a:pPr>
            <a:r>
              <a:rPr lang="en-US" dirty="0"/>
              <a:t>Why should the user have access to the resource? (Assignment of entitlements based on the user’s job functions and responsibilities)</a:t>
            </a:r>
          </a:p>
          <a:p>
            <a:pPr>
              <a:lnSpc>
                <a:spcPct val="200000"/>
              </a:lnSpc>
            </a:pPr>
            <a:r>
              <a:rPr lang="en-US" dirty="0"/>
              <a:t>How should you access the resource? (What authentication method and strength are required prior to granting access to the resource)</a:t>
            </a:r>
          </a:p>
          <a:p>
            <a:pPr>
              <a:lnSpc>
                <a:spcPct val="200000"/>
              </a:lnSpc>
            </a:pPr>
            <a:r>
              <a:rPr lang="en-US" dirty="0"/>
              <a:t>Who has access to what resource? (Auditing and reporting to verify entitlement assignments)</a:t>
            </a:r>
          </a:p>
        </p:txBody>
      </p:sp>
    </p:spTree>
    <p:extLst>
      <p:ext uri="{BB962C8B-B14F-4D97-AF65-F5344CB8AC3E}">
        <p14:creationId xmlns:p14="http://schemas.microsoft.com/office/powerpoint/2010/main" val="1416571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3DDCD-F595-0D56-B3C1-BEEF27472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15CE6-02A8-29E7-A3FB-F18F83B34DAF}"/>
              </a:ext>
            </a:extLst>
          </p:cNvPr>
          <p:cNvSpPr>
            <a:spLocks noGrp="1"/>
          </p:cNvSpPr>
          <p:nvPr>
            <p:ph type="title"/>
          </p:nvPr>
        </p:nvSpPr>
        <p:spPr/>
        <p:txBody>
          <a:bodyPr/>
          <a:lstStyle/>
          <a:p>
            <a:r>
              <a:rPr lang="en-US" b="1" dirty="0"/>
              <a:t>Access Control in the Cloud</a:t>
            </a:r>
            <a:r>
              <a:rPr lang="en-US" dirty="0"/>
              <a:t>:</a:t>
            </a:r>
          </a:p>
        </p:txBody>
      </p:sp>
      <p:sp>
        <p:nvSpPr>
          <p:cNvPr id="3" name="Text Placeholder 2">
            <a:extLst>
              <a:ext uri="{FF2B5EF4-FFF2-40B4-BE49-F238E27FC236}">
                <a16:creationId xmlns:a16="http://schemas.microsoft.com/office/drawing/2014/main" id="{E4A9DD1D-2006-63BD-0855-C390F3D8E5F1}"/>
              </a:ext>
            </a:extLst>
          </p:cNvPr>
          <p:cNvSpPr>
            <a:spLocks noGrp="1"/>
          </p:cNvSpPr>
          <p:nvPr>
            <p:ph type="body" idx="1"/>
          </p:nvPr>
        </p:nvSpPr>
        <p:spPr>
          <a:xfrm>
            <a:off x="415600" y="1410967"/>
            <a:ext cx="11360800" cy="4680766"/>
          </a:xfrm>
        </p:spPr>
        <p:txBody>
          <a:bodyPr>
            <a:normAutofit lnSpcReduction="10000"/>
          </a:bodyPr>
          <a:lstStyle/>
          <a:p>
            <a:pPr marL="152396" indent="0">
              <a:buNone/>
            </a:pPr>
            <a:r>
              <a:rPr lang="en-US" b="1" dirty="0"/>
              <a:t>1. Shift from Network-Based to User-Based Access Control</a:t>
            </a:r>
          </a:p>
          <a:p>
            <a:pPr marL="761981" lvl="1" indent="0">
              <a:buNone/>
            </a:pPr>
            <a:r>
              <a:rPr lang="en-US" b="1" dirty="0"/>
              <a:t>Traditional (on-premise) model:</a:t>
            </a:r>
            <a:br>
              <a:rPr lang="en-US" dirty="0"/>
            </a:br>
            <a:r>
              <a:rPr lang="en-US" dirty="0"/>
              <a:t>Access control was mostly </a:t>
            </a:r>
            <a:r>
              <a:rPr lang="en-US" b="1" dirty="0"/>
              <a:t>network-based</a:t>
            </a:r>
            <a:r>
              <a:rPr lang="en-US" dirty="0"/>
              <a:t>, meaning it depended on </a:t>
            </a:r>
            <a:r>
              <a:rPr lang="en-US" b="1" dirty="0"/>
              <a:t>hostnames, IP addresses, or physical network boundaries</a:t>
            </a:r>
            <a:r>
              <a:rPr lang="en-US" dirty="0"/>
              <a:t> (e.g., only allow access from devices within the company LAN).</a:t>
            </a:r>
          </a:p>
          <a:p>
            <a:r>
              <a:rPr lang="en-US" b="1" dirty="0"/>
              <a:t>Cloud model:</a:t>
            </a:r>
            <a:endParaRPr lang="en-US" dirty="0"/>
          </a:p>
          <a:p>
            <a:pPr lvl="1"/>
            <a:r>
              <a:rPr lang="en-US" dirty="0"/>
              <a:t>These traditional controls are </a:t>
            </a:r>
            <a:r>
              <a:rPr lang="en-US" b="1" dirty="0"/>
              <a:t>less effective</a:t>
            </a:r>
            <a:r>
              <a:rPr lang="en-US" dirty="0"/>
              <a:t> because cloud resources are </a:t>
            </a:r>
            <a:r>
              <a:rPr lang="en-US" b="1" dirty="0"/>
              <a:t>dynamic, distributed, and accessible via the Internet</a:t>
            </a:r>
            <a:r>
              <a:rPr lang="en-US" dirty="0"/>
              <a:t>, not a single secure network.</a:t>
            </a:r>
          </a:p>
          <a:p>
            <a:pPr lvl="1"/>
            <a:r>
              <a:rPr lang="en-US" dirty="0"/>
              <a:t>Instead, control is based on </a:t>
            </a:r>
            <a:r>
              <a:rPr lang="en-US" b="1" dirty="0"/>
              <a:t>user identity</a:t>
            </a:r>
            <a:r>
              <a:rPr lang="en-US" dirty="0"/>
              <a:t> — who the user is, not where they are connecting from.</a:t>
            </a:r>
          </a:p>
          <a:p>
            <a:pPr lvl="1"/>
            <a:r>
              <a:rPr lang="en-US" dirty="0"/>
              <a:t>This approach is called </a:t>
            </a:r>
            <a:r>
              <a:rPr lang="en-US" b="1" dirty="0"/>
              <a:t>identity-based access control</a:t>
            </a:r>
            <a:r>
              <a:rPr lang="en-US" dirty="0"/>
              <a:t>, often implemented using technologies like </a:t>
            </a:r>
            <a:r>
              <a:rPr lang="en-US" b="1" dirty="0"/>
              <a:t>IAM (Identity and Access Management)</a:t>
            </a:r>
            <a:r>
              <a:rPr lang="en-US" dirty="0"/>
              <a:t>, </a:t>
            </a:r>
            <a:r>
              <a:rPr lang="en-US" b="1" dirty="0"/>
              <a:t>OAuth</a:t>
            </a:r>
            <a:r>
              <a:rPr lang="en-US" dirty="0"/>
              <a:t>, or </a:t>
            </a:r>
            <a:r>
              <a:rPr lang="en-US" b="1" dirty="0"/>
              <a:t>SAML</a:t>
            </a:r>
            <a:r>
              <a:rPr lang="en-US" dirty="0"/>
              <a:t>.</a:t>
            </a:r>
          </a:p>
          <a:p>
            <a:pPr lvl="1"/>
            <a:r>
              <a:rPr lang="en-US" dirty="0"/>
              <a:t>It ensures that </a:t>
            </a:r>
            <a:r>
              <a:rPr lang="en-US" b="1" dirty="0"/>
              <a:t>each user’s identity and permissions</a:t>
            </a:r>
            <a:r>
              <a:rPr lang="en-US" dirty="0"/>
              <a:t> directly determine what cloud resources they can access.</a:t>
            </a:r>
          </a:p>
          <a:p>
            <a:r>
              <a:rPr lang="en-US" b="1" dirty="0"/>
              <a:t>Example:</a:t>
            </a:r>
            <a:br>
              <a:rPr lang="en-US" dirty="0"/>
            </a:br>
            <a:r>
              <a:rPr lang="en-US" dirty="0"/>
              <a:t>In AWS or Azure, rather than granting access to a specific IP, you assign permissions to a user or role (e.g., “developer” can access S3 buckets A and B).</a:t>
            </a:r>
          </a:p>
          <a:p>
            <a:endParaRPr lang="en-US" dirty="0"/>
          </a:p>
        </p:txBody>
      </p:sp>
    </p:spTree>
    <p:extLst>
      <p:ext uri="{BB962C8B-B14F-4D97-AF65-F5344CB8AC3E}">
        <p14:creationId xmlns:p14="http://schemas.microsoft.com/office/powerpoint/2010/main" val="42721746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7CB16C-405E-8CB8-60F6-2207AADECCF1}"/>
              </a:ext>
            </a:extLst>
          </p:cNvPr>
          <p:cNvSpPr>
            <a:spLocks noGrp="1"/>
          </p:cNvSpPr>
          <p:nvPr>
            <p:ph type="body" idx="1"/>
          </p:nvPr>
        </p:nvSpPr>
        <p:spPr>
          <a:xfrm>
            <a:off x="415600" y="335280"/>
            <a:ext cx="11360800" cy="5756453"/>
          </a:xfrm>
        </p:spPr>
        <p:txBody>
          <a:bodyPr/>
          <a:lstStyle/>
          <a:p>
            <a:pPr marL="152396" indent="0">
              <a:lnSpc>
                <a:spcPct val="150000"/>
              </a:lnSpc>
              <a:buNone/>
            </a:pPr>
            <a:r>
              <a:rPr lang="en-US" b="1" dirty="0"/>
              <a:t>2. Network Access Control in the Cloud</a:t>
            </a:r>
          </a:p>
          <a:p>
            <a:pPr>
              <a:lnSpc>
                <a:spcPct val="150000"/>
              </a:lnSpc>
            </a:pPr>
            <a:r>
              <a:rPr lang="en-US" dirty="0"/>
              <a:t>Although user-based control is dominant, </a:t>
            </a:r>
            <a:r>
              <a:rPr lang="en-US" b="1" dirty="0"/>
              <a:t>network-level control still exists</a:t>
            </a:r>
            <a:r>
              <a:rPr lang="en-US" dirty="0"/>
              <a:t> — mainly through </a:t>
            </a:r>
            <a:r>
              <a:rPr lang="en-US" b="1" dirty="0"/>
              <a:t>cloud firewalls</a:t>
            </a:r>
            <a:r>
              <a:rPr lang="en-US" dirty="0"/>
              <a:t>.</a:t>
            </a:r>
          </a:p>
          <a:p>
            <a:pPr>
              <a:lnSpc>
                <a:spcPct val="150000"/>
              </a:lnSpc>
            </a:pPr>
            <a:r>
              <a:rPr lang="en-US" dirty="0"/>
              <a:t>These </a:t>
            </a:r>
            <a:r>
              <a:rPr lang="en-US" b="1" dirty="0"/>
              <a:t>firewall policies</a:t>
            </a:r>
            <a:r>
              <a:rPr lang="en-US" dirty="0"/>
              <a:t> control </a:t>
            </a:r>
            <a:r>
              <a:rPr lang="en-US" b="1" dirty="0"/>
              <a:t>ingress (incoming)</a:t>
            </a:r>
            <a:r>
              <a:rPr lang="en-US" dirty="0"/>
              <a:t> and </a:t>
            </a:r>
            <a:r>
              <a:rPr lang="en-US" b="1" dirty="0"/>
              <a:t>egress (outgoing)</a:t>
            </a:r>
            <a:r>
              <a:rPr lang="en-US" dirty="0"/>
              <a:t> network traffic to and from virtual machines or containers in the cloud.</a:t>
            </a:r>
          </a:p>
          <a:p>
            <a:pPr>
              <a:lnSpc>
                <a:spcPct val="150000"/>
              </a:lnSpc>
            </a:pPr>
            <a:r>
              <a:rPr lang="en-US" dirty="0"/>
              <a:t>Access is configured using </a:t>
            </a:r>
            <a:r>
              <a:rPr lang="en-US" b="1" dirty="0"/>
              <a:t>TCP/IP parameters</a:t>
            </a:r>
            <a:r>
              <a:rPr lang="en-US" dirty="0"/>
              <a:t>, such as:</a:t>
            </a:r>
          </a:p>
          <a:p>
            <a:pPr lvl="1">
              <a:lnSpc>
                <a:spcPct val="150000"/>
              </a:lnSpc>
            </a:pPr>
            <a:r>
              <a:rPr lang="en-US" b="1" dirty="0"/>
              <a:t>Source IP/Port:</a:t>
            </a:r>
            <a:r>
              <a:rPr lang="en-US" dirty="0"/>
              <a:t> Where the traffic originates.</a:t>
            </a:r>
          </a:p>
          <a:p>
            <a:pPr lvl="1">
              <a:lnSpc>
                <a:spcPct val="150000"/>
              </a:lnSpc>
            </a:pPr>
            <a:r>
              <a:rPr lang="en-US" b="1" dirty="0"/>
              <a:t>Destination IP/Port:</a:t>
            </a:r>
            <a:r>
              <a:rPr lang="en-US" dirty="0"/>
              <a:t> Which system and service it’s targeting.</a:t>
            </a:r>
          </a:p>
          <a:p>
            <a:pPr>
              <a:lnSpc>
                <a:spcPct val="150000"/>
              </a:lnSpc>
            </a:pPr>
            <a:r>
              <a:rPr lang="en-US" b="1" dirty="0"/>
              <a:t>Example:</a:t>
            </a:r>
            <a:br>
              <a:rPr lang="en-US" dirty="0"/>
            </a:br>
            <a:r>
              <a:rPr lang="en-US" dirty="0"/>
              <a:t>You can configure rules to only allow SSH access (port 22) from your office IP to a specific cloud server.</a:t>
            </a:r>
          </a:p>
          <a:p>
            <a:pPr>
              <a:lnSpc>
                <a:spcPct val="150000"/>
              </a:lnSpc>
            </a:pPr>
            <a:r>
              <a:rPr lang="en-US" dirty="0"/>
              <a:t>Such rules help to:</a:t>
            </a:r>
          </a:p>
          <a:p>
            <a:pPr lvl="1">
              <a:lnSpc>
                <a:spcPct val="150000"/>
              </a:lnSpc>
            </a:pPr>
            <a:r>
              <a:rPr lang="en-US" b="1" dirty="0"/>
              <a:t>Group instances logically</a:t>
            </a:r>
            <a:r>
              <a:rPr lang="en-US" dirty="0"/>
              <a:t> (e.g., web-tier vs. database-tier).</a:t>
            </a:r>
          </a:p>
          <a:p>
            <a:pPr lvl="1">
              <a:lnSpc>
                <a:spcPct val="150000"/>
              </a:lnSpc>
            </a:pPr>
            <a:r>
              <a:rPr lang="en-US" b="1" dirty="0"/>
              <a:t>Enforce host-level restrictions</a:t>
            </a:r>
            <a:r>
              <a:rPr lang="en-US" dirty="0"/>
              <a:t>, ensuring only authorized traffic reaches sensitive systems.</a:t>
            </a:r>
          </a:p>
          <a:p>
            <a:endParaRPr lang="en-US" dirty="0"/>
          </a:p>
        </p:txBody>
      </p:sp>
    </p:spTree>
    <p:extLst>
      <p:ext uri="{BB962C8B-B14F-4D97-AF65-F5344CB8AC3E}">
        <p14:creationId xmlns:p14="http://schemas.microsoft.com/office/powerpoint/2010/main" val="3337977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200B8D-BFC2-26E4-A773-A3FF4AA551BC}"/>
              </a:ext>
            </a:extLst>
          </p:cNvPr>
          <p:cNvSpPr>
            <a:spLocks noGrp="1"/>
          </p:cNvSpPr>
          <p:nvPr>
            <p:ph type="body" idx="1"/>
          </p:nvPr>
        </p:nvSpPr>
        <p:spPr>
          <a:xfrm>
            <a:off x="415600" y="477520"/>
            <a:ext cx="11360800" cy="5614213"/>
          </a:xfrm>
        </p:spPr>
        <p:txBody>
          <a:bodyPr/>
          <a:lstStyle/>
          <a:p>
            <a:pPr marL="152396" indent="0">
              <a:lnSpc>
                <a:spcPct val="150000"/>
              </a:lnSpc>
              <a:buNone/>
            </a:pPr>
            <a:r>
              <a:rPr lang="en-US" b="1" dirty="0"/>
              <a:t>3. Importance of User Access Management</a:t>
            </a:r>
          </a:p>
          <a:p>
            <a:pPr lvl="1">
              <a:lnSpc>
                <a:spcPct val="150000"/>
              </a:lnSpc>
            </a:pPr>
            <a:r>
              <a:rPr lang="en-US" dirty="0"/>
              <a:t>Critical for ensuring </a:t>
            </a:r>
            <a:r>
              <a:rPr lang="en-US" b="1" dirty="0"/>
              <a:t>fine-grained access control</a:t>
            </a:r>
            <a:r>
              <a:rPr lang="en-US" dirty="0"/>
              <a:t>, </a:t>
            </a:r>
            <a:r>
              <a:rPr lang="en-US" b="1" dirty="0"/>
              <a:t>user accountability</a:t>
            </a:r>
            <a:r>
              <a:rPr lang="en-US" dirty="0"/>
              <a:t>, and </a:t>
            </a:r>
            <a:r>
              <a:rPr lang="en-US" b="1" dirty="0"/>
              <a:t>data protection</a:t>
            </a:r>
            <a:r>
              <a:rPr lang="en-US" dirty="0"/>
              <a:t>.</a:t>
            </a:r>
          </a:p>
          <a:p>
            <a:pPr lvl="1">
              <a:lnSpc>
                <a:spcPct val="150000"/>
              </a:lnSpc>
            </a:pPr>
            <a:r>
              <a:rPr lang="en-US" dirty="0"/>
              <a:t>Key mechanisms include:</a:t>
            </a:r>
          </a:p>
          <a:p>
            <a:pPr lvl="2">
              <a:lnSpc>
                <a:spcPct val="150000"/>
              </a:lnSpc>
            </a:pPr>
            <a:r>
              <a:rPr lang="en-US" b="1" dirty="0"/>
              <a:t>Strong authentication</a:t>
            </a:r>
            <a:endParaRPr lang="en-US" dirty="0"/>
          </a:p>
          <a:p>
            <a:pPr lvl="2">
              <a:lnSpc>
                <a:spcPct val="150000"/>
              </a:lnSpc>
            </a:pPr>
            <a:r>
              <a:rPr lang="en-US" b="1" dirty="0"/>
              <a:t>Single Sign-On (SSO)</a:t>
            </a:r>
            <a:endParaRPr lang="en-US" dirty="0"/>
          </a:p>
          <a:p>
            <a:pPr lvl="2">
              <a:lnSpc>
                <a:spcPct val="150000"/>
              </a:lnSpc>
            </a:pPr>
            <a:r>
              <a:rPr lang="en-US" b="1" dirty="0"/>
              <a:t>Privilege management</a:t>
            </a:r>
            <a:endParaRPr lang="en-US" dirty="0"/>
          </a:p>
          <a:p>
            <a:pPr lvl="2">
              <a:lnSpc>
                <a:spcPct val="150000"/>
              </a:lnSpc>
            </a:pPr>
            <a:r>
              <a:rPr lang="en-US" b="1" dirty="0"/>
              <a:t>Logging and monitoring</a:t>
            </a:r>
            <a:endParaRPr lang="en-US" dirty="0"/>
          </a:p>
          <a:p>
            <a:pPr marL="152396" indent="0">
              <a:lnSpc>
                <a:spcPct val="150000"/>
              </a:lnSpc>
              <a:buNone/>
            </a:pPr>
            <a:r>
              <a:rPr lang="en-US" b="1" dirty="0"/>
              <a:t>4. ISO/IEC 27002 Access Control Objectives</a:t>
            </a:r>
          </a:p>
          <a:p>
            <a:pPr lvl="1">
              <a:lnSpc>
                <a:spcPct val="150000"/>
              </a:lnSpc>
            </a:pPr>
            <a:r>
              <a:rPr lang="en-US" dirty="0"/>
              <a:t>ISO/IEC 27002 defines </a:t>
            </a:r>
            <a:r>
              <a:rPr lang="en-US" b="1" dirty="0"/>
              <a:t>six access control objectives</a:t>
            </a:r>
            <a:r>
              <a:rPr lang="en-US" dirty="0"/>
              <a:t> that apply to end users, privileged users, networks, applications, and information.</a:t>
            </a:r>
          </a:p>
          <a:p>
            <a:pPr lvl="1">
              <a:lnSpc>
                <a:spcPct val="150000"/>
              </a:lnSpc>
            </a:pPr>
            <a:r>
              <a:rPr lang="en-US" b="1" dirty="0"/>
              <a:t>Main objective:</a:t>
            </a:r>
            <a:br>
              <a:rPr lang="en-US" dirty="0"/>
            </a:br>
            <a:r>
              <a:rPr lang="en-US" dirty="0"/>
              <a:t>“Ensure authorized user access and prevent unauthorized access to information systems.”</a:t>
            </a:r>
          </a:p>
          <a:p>
            <a:endParaRPr lang="en-US" dirty="0"/>
          </a:p>
        </p:txBody>
      </p:sp>
    </p:spTree>
    <p:extLst>
      <p:ext uri="{BB962C8B-B14F-4D97-AF65-F5344CB8AC3E}">
        <p14:creationId xmlns:p14="http://schemas.microsoft.com/office/powerpoint/2010/main" val="37832507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64CD57-A101-513A-A6E5-3C161DB13193}"/>
              </a:ext>
            </a:extLst>
          </p:cNvPr>
          <p:cNvSpPr>
            <a:spLocks noGrp="1"/>
          </p:cNvSpPr>
          <p:nvPr>
            <p:ph type="body" idx="1"/>
          </p:nvPr>
        </p:nvSpPr>
        <p:spPr>
          <a:xfrm>
            <a:off x="415600" y="447040"/>
            <a:ext cx="11360800" cy="5644693"/>
          </a:xfrm>
        </p:spPr>
        <p:txBody>
          <a:bodyPr>
            <a:normAutofit/>
          </a:bodyPr>
          <a:lstStyle/>
          <a:p>
            <a:pPr marL="152396" indent="0">
              <a:buNone/>
            </a:pPr>
            <a:r>
              <a:rPr lang="en-US" b="1" dirty="0"/>
              <a:t>5. Lifecycle-Based Access Control</a:t>
            </a:r>
          </a:p>
          <a:p>
            <a:pPr lvl="1">
              <a:lnSpc>
                <a:spcPct val="150000"/>
              </a:lnSpc>
            </a:pPr>
            <a:r>
              <a:rPr lang="en-US" dirty="0"/>
              <a:t>Access management should cover </a:t>
            </a:r>
            <a:r>
              <a:rPr lang="en-US" b="1" dirty="0"/>
              <a:t>all stages</a:t>
            </a:r>
            <a:r>
              <a:rPr lang="en-US" dirty="0"/>
              <a:t>:</a:t>
            </a:r>
          </a:p>
          <a:p>
            <a:pPr lvl="2">
              <a:lnSpc>
                <a:spcPct val="150000"/>
              </a:lnSpc>
            </a:pPr>
            <a:r>
              <a:rPr lang="en-US" dirty="0"/>
              <a:t>User registration → Allocation of rights → De-registration</a:t>
            </a:r>
          </a:p>
          <a:p>
            <a:pPr lvl="1">
              <a:lnSpc>
                <a:spcPct val="150000"/>
              </a:lnSpc>
            </a:pPr>
            <a:r>
              <a:rPr lang="en-US" dirty="0"/>
              <a:t>Must also </a:t>
            </a:r>
            <a:r>
              <a:rPr lang="en-US" b="1" dirty="0"/>
              <a:t>control privileged access rights</a:t>
            </a:r>
            <a:r>
              <a:rPr lang="en-US" dirty="0"/>
              <a:t>, as these can override system controls.</a:t>
            </a:r>
          </a:p>
          <a:p>
            <a:pPr marL="152396" indent="0">
              <a:buNone/>
            </a:pPr>
            <a:r>
              <a:rPr lang="en-US" b="1" dirty="0"/>
              <a:t>6. Six ISO/IEC 27002 Control Statements</a:t>
            </a:r>
          </a:p>
          <a:p>
            <a:pPr lvl="1">
              <a:lnSpc>
                <a:spcPct val="150000"/>
              </a:lnSpc>
            </a:pPr>
            <a:r>
              <a:rPr lang="en-US" dirty="0"/>
              <a:t>Control access to information</a:t>
            </a:r>
          </a:p>
          <a:p>
            <a:pPr lvl="1">
              <a:lnSpc>
                <a:spcPct val="150000"/>
              </a:lnSpc>
            </a:pPr>
            <a:r>
              <a:rPr lang="en-US" dirty="0"/>
              <a:t>Manage user access rights</a:t>
            </a:r>
          </a:p>
          <a:p>
            <a:pPr lvl="1">
              <a:lnSpc>
                <a:spcPct val="150000"/>
              </a:lnSpc>
            </a:pPr>
            <a:r>
              <a:rPr lang="en-US" dirty="0"/>
              <a:t>Encourage good access practices</a:t>
            </a:r>
          </a:p>
          <a:p>
            <a:pPr lvl="1">
              <a:lnSpc>
                <a:spcPct val="150000"/>
              </a:lnSpc>
            </a:pPr>
            <a:r>
              <a:rPr lang="en-US" dirty="0"/>
              <a:t>Control access to network services</a:t>
            </a:r>
          </a:p>
          <a:p>
            <a:pPr lvl="1">
              <a:lnSpc>
                <a:spcPct val="150000"/>
              </a:lnSpc>
            </a:pPr>
            <a:r>
              <a:rPr lang="en-US" dirty="0"/>
              <a:t>Control access to operating systems</a:t>
            </a:r>
          </a:p>
          <a:p>
            <a:pPr lvl="1">
              <a:lnSpc>
                <a:spcPct val="150000"/>
              </a:lnSpc>
            </a:pPr>
            <a:r>
              <a:rPr lang="en-US" dirty="0"/>
              <a:t>Control access to applications and systems</a:t>
            </a:r>
          </a:p>
          <a:p>
            <a:endParaRPr lang="en-US" dirty="0"/>
          </a:p>
        </p:txBody>
      </p:sp>
    </p:spTree>
    <p:extLst>
      <p:ext uri="{BB962C8B-B14F-4D97-AF65-F5344CB8AC3E}">
        <p14:creationId xmlns:p14="http://schemas.microsoft.com/office/powerpoint/2010/main" val="663530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4694-FF73-5145-2F4C-A7397FBB2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02946-C563-F461-18D7-793B432A6C8A}"/>
              </a:ext>
            </a:extLst>
          </p:cNvPr>
          <p:cNvSpPr>
            <a:spLocks noGrp="1"/>
          </p:cNvSpPr>
          <p:nvPr>
            <p:ph type="title"/>
          </p:nvPr>
        </p:nvSpPr>
        <p:spPr/>
        <p:txBody>
          <a:bodyPr/>
          <a:lstStyle/>
          <a:p>
            <a:r>
              <a:rPr lang="en-US" b="1" dirty="0"/>
              <a:t>Access Control: SaaS</a:t>
            </a:r>
            <a:endParaRPr lang="en-US" dirty="0"/>
          </a:p>
        </p:txBody>
      </p:sp>
      <p:sp>
        <p:nvSpPr>
          <p:cNvPr id="3" name="Text Placeholder 2">
            <a:extLst>
              <a:ext uri="{FF2B5EF4-FFF2-40B4-BE49-F238E27FC236}">
                <a16:creationId xmlns:a16="http://schemas.microsoft.com/office/drawing/2014/main" id="{A754838F-0894-AF9C-A146-1F10862D7B57}"/>
              </a:ext>
            </a:extLst>
          </p:cNvPr>
          <p:cNvSpPr>
            <a:spLocks noGrp="1"/>
          </p:cNvSpPr>
          <p:nvPr>
            <p:ph type="body" idx="1"/>
          </p:nvPr>
        </p:nvSpPr>
        <p:spPr/>
        <p:txBody>
          <a:bodyPr/>
          <a:lstStyle/>
          <a:p>
            <a:pPr marL="152396" indent="0">
              <a:lnSpc>
                <a:spcPct val="150000"/>
              </a:lnSpc>
              <a:buNone/>
            </a:pPr>
            <a:r>
              <a:rPr lang="en-US" sz="2000" b="1" dirty="0"/>
              <a:t>1. CSP Responsibility</a:t>
            </a:r>
          </a:p>
          <a:p>
            <a:pPr>
              <a:lnSpc>
                <a:spcPct val="250000"/>
              </a:lnSpc>
            </a:pPr>
            <a:r>
              <a:rPr lang="en-US" sz="2000" dirty="0"/>
              <a:t>In the </a:t>
            </a:r>
            <a:r>
              <a:rPr lang="en-US" sz="2000" b="1" dirty="0"/>
              <a:t>SaaS model</a:t>
            </a:r>
            <a:r>
              <a:rPr lang="en-US" sz="2000" dirty="0"/>
              <a:t>, the </a:t>
            </a:r>
            <a:r>
              <a:rPr lang="en-US" sz="2000" b="1" dirty="0"/>
              <a:t>Cloud Servic5e Provider (CSP)</a:t>
            </a:r>
            <a:r>
              <a:rPr lang="en-US" sz="2000" dirty="0"/>
              <a:t> is responsible for managing </a:t>
            </a:r>
            <a:r>
              <a:rPr lang="en-US" sz="2000" b="1" dirty="0"/>
              <a:t>everything</a:t>
            </a:r>
            <a:r>
              <a:rPr lang="en-US" sz="2000" dirty="0"/>
              <a:t> — including the </a:t>
            </a:r>
            <a:r>
              <a:rPr lang="en-US" sz="2000" b="1" dirty="0"/>
              <a:t>network, servers, storage, and applications</a:t>
            </a:r>
            <a:r>
              <a:rPr lang="en-US" sz="2000" dirty="0"/>
              <a:t>.</a:t>
            </a:r>
          </a:p>
          <a:p>
            <a:pPr>
              <a:lnSpc>
                <a:spcPct val="250000"/>
              </a:lnSpc>
            </a:pPr>
            <a:r>
              <a:rPr lang="en-US" sz="2000" dirty="0"/>
              <a:t>Customers (end users) do </a:t>
            </a:r>
            <a:r>
              <a:rPr lang="en-US" sz="2000" b="1" dirty="0"/>
              <a:t>not control or manage</a:t>
            </a:r>
            <a:r>
              <a:rPr lang="en-US" sz="2000" dirty="0"/>
              <a:t> the infrastructure or platform components.</a:t>
            </a:r>
          </a:p>
          <a:p>
            <a:pPr>
              <a:lnSpc>
                <a:spcPct val="250000"/>
              </a:lnSpc>
            </a:pPr>
            <a:r>
              <a:rPr lang="en-US" sz="2000" dirty="0"/>
              <a:t>The CSP ensures </a:t>
            </a:r>
            <a:r>
              <a:rPr lang="en-US" sz="2000" b="1" dirty="0"/>
              <a:t>secure access</a:t>
            </a:r>
            <a:r>
              <a:rPr lang="en-US" sz="2000" dirty="0"/>
              <a:t>, uptime, and proper handling of data.</a:t>
            </a:r>
          </a:p>
          <a:p>
            <a:pPr>
              <a:lnSpc>
                <a:spcPct val="150000"/>
              </a:lnSpc>
            </a:pPr>
            <a:endParaRPr lang="en-US" dirty="0"/>
          </a:p>
          <a:p>
            <a:pPr>
              <a:lnSpc>
                <a:spcPct val="150000"/>
              </a:lnSpc>
            </a:pPr>
            <a:endParaRPr lang="en-US" dirty="0"/>
          </a:p>
          <a:p>
            <a:endParaRPr lang="en-US" dirty="0"/>
          </a:p>
        </p:txBody>
      </p:sp>
    </p:spTree>
    <p:extLst>
      <p:ext uri="{BB962C8B-B14F-4D97-AF65-F5344CB8AC3E}">
        <p14:creationId xmlns:p14="http://schemas.microsoft.com/office/powerpoint/2010/main" val="4091656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4216-ADC5-E8E5-5EF1-ACCB26D3B770}"/>
              </a:ext>
            </a:extLst>
          </p:cNvPr>
          <p:cNvSpPr>
            <a:spLocks noGrp="1"/>
          </p:cNvSpPr>
          <p:nvPr>
            <p:ph type="title"/>
          </p:nvPr>
        </p:nvSpPr>
        <p:spPr/>
        <p:txBody>
          <a:bodyPr>
            <a:normAutofit fontScale="90000"/>
          </a:bodyPr>
          <a:lstStyle/>
          <a:p>
            <a:r>
              <a:rPr lang="en-US" b="1" dirty="0"/>
              <a:t>2. Focus on User Access Controls</a:t>
            </a:r>
            <a:br>
              <a:rPr lang="en-US" b="1" dirty="0"/>
            </a:br>
            <a:endParaRPr lang="en-US" dirty="0"/>
          </a:p>
        </p:txBody>
      </p:sp>
      <p:sp>
        <p:nvSpPr>
          <p:cNvPr id="3" name="Text Placeholder 2">
            <a:extLst>
              <a:ext uri="{FF2B5EF4-FFF2-40B4-BE49-F238E27FC236}">
                <a16:creationId xmlns:a16="http://schemas.microsoft.com/office/drawing/2014/main" id="{9727952C-612B-9734-DE0D-119D7F21CCAB}"/>
              </a:ext>
            </a:extLst>
          </p:cNvPr>
          <p:cNvSpPr>
            <a:spLocks noGrp="1"/>
          </p:cNvSpPr>
          <p:nvPr>
            <p:ph type="body" idx="1"/>
          </p:nvPr>
        </p:nvSpPr>
        <p:spPr/>
        <p:txBody>
          <a:bodyPr/>
          <a:lstStyle/>
          <a:p>
            <a:pPr>
              <a:lnSpc>
                <a:spcPct val="200000"/>
              </a:lnSpc>
            </a:pPr>
            <a:r>
              <a:rPr lang="en-US" dirty="0"/>
              <a:t>SaaS applications are typically </a:t>
            </a:r>
            <a:r>
              <a:rPr lang="en-US" b="1" dirty="0"/>
              <a:t>accessed via web browsers</a:t>
            </a:r>
            <a:r>
              <a:rPr lang="en-US" dirty="0"/>
              <a:t> (e.g., Gmail, Salesforce, Microsoft 365).</a:t>
            </a:r>
          </a:p>
          <a:p>
            <a:pPr>
              <a:lnSpc>
                <a:spcPct val="200000"/>
              </a:lnSpc>
            </a:pPr>
            <a:r>
              <a:rPr lang="en-US" dirty="0"/>
              <a:t>Therefore, </a:t>
            </a:r>
            <a:r>
              <a:rPr lang="en-US" b="1" dirty="0"/>
              <a:t>traditional network-based access control</a:t>
            </a:r>
            <a:r>
              <a:rPr lang="en-US" dirty="0"/>
              <a:t> (based on IPs or firewalls) is </a:t>
            </a:r>
            <a:r>
              <a:rPr lang="en-US" b="1" dirty="0"/>
              <a:t>less relevant</a:t>
            </a:r>
            <a:r>
              <a:rPr lang="en-US" dirty="0"/>
              <a:t>.</a:t>
            </a:r>
          </a:p>
          <a:p>
            <a:pPr>
              <a:lnSpc>
                <a:spcPct val="200000"/>
              </a:lnSpc>
            </a:pPr>
            <a:r>
              <a:rPr lang="en-US" dirty="0"/>
              <a:t>The </a:t>
            </a:r>
            <a:r>
              <a:rPr lang="en-US" b="1" dirty="0"/>
              <a:t>main security focus</a:t>
            </a:r>
            <a:r>
              <a:rPr lang="en-US" dirty="0"/>
              <a:t> shifts to </a:t>
            </a:r>
            <a:r>
              <a:rPr lang="en-US" b="1" dirty="0"/>
              <a:t>user access management</a:t>
            </a:r>
            <a:r>
              <a:rPr lang="en-US" dirty="0"/>
              <a:t>, which includes:</a:t>
            </a:r>
          </a:p>
          <a:p>
            <a:pPr lvl="1">
              <a:lnSpc>
                <a:spcPct val="200000"/>
              </a:lnSpc>
            </a:pPr>
            <a:r>
              <a:rPr lang="en-US" b="1" dirty="0"/>
              <a:t>Authentication:</a:t>
            </a:r>
            <a:r>
              <a:rPr lang="en-US" dirty="0"/>
              <a:t> Verifying user identity (passwords, MFA, etc.)</a:t>
            </a:r>
          </a:p>
          <a:p>
            <a:pPr lvl="1">
              <a:lnSpc>
                <a:spcPct val="200000"/>
              </a:lnSpc>
            </a:pPr>
            <a:r>
              <a:rPr lang="en-US" b="1" dirty="0"/>
              <a:t>Federation:</a:t>
            </a:r>
            <a:r>
              <a:rPr lang="en-US" dirty="0"/>
              <a:t> Using a single identity across multiple systems (e.g., via SAML, OAuth).</a:t>
            </a:r>
          </a:p>
          <a:p>
            <a:pPr lvl="1">
              <a:lnSpc>
                <a:spcPct val="200000"/>
              </a:lnSpc>
            </a:pPr>
            <a:r>
              <a:rPr lang="en-US" b="1" dirty="0"/>
              <a:t>Privilege Management:</a:t>
            </a:r>
            <a:r>
              <a:rPr lang="en-US" dirty="0"/>
              <a:t> Assigning role-based permissions (e.g., admin, editor, viewer).</a:t>
            </a:r>
          </a:p>
          <a:p>
            <a:pPr lvl="1">
              <a:lnSpc>
                <a:spcPct val="200000"/>
              </a:lnSpc>
            </a:pPr>
            <a:r>
              <a:rPr lang="en-US" b="1" dirty="0"/>
              <a:t>Deprovisioning:</a:t>
            </a:r>
            <a:r>
              <a:rPr lang="en-US" dirty="0"/>
              <a:t> Revoking access when users leave or roles change.</a:t>
            </a:r>
          </a:p>
          <a:p>
            <a:endParaRPr lang="en-US" dirty="0"/>
          </a:p>
        </p:txBody>
      </p:sp>
    </p:spTree>
    <p:extLst>
      <p:ext uri="{BB962C8B-B14F-4D97-AF65-F5344CB8AC3E}">
        <p14:creationId xmlns:p14="http://schemas.microsoft.com/office/powerpoint/2010/main" val="40585548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94C0F-9DFF-E077-7FD8-8939C6BFEF7D}"/>
              </a:ext>
            </a:extLst>
          </p:cNvPr>
          <p:cNvSpPr>
            <a:spLocks noGrp="1"/>
          </p:cNvSpPr>
          <p:nvPr>
            <p:ph type="title"/>
          </p:nvPr>
        </p:nvSpPr>
        <p:spPr/>
        <p:txBody>
          <a:bodyPr>
            <a:normAutofit fontScale="90000"/>
          </a:bodyPr>
          <a:lstStyle/>
          <a:p>
            <a:r>
              <a:rPr lang="en-US" b="1" dirty="0"/>
              <a:t>3. Combined Network and User Controls</a:t>
            </a:r>
            <a:br>
              <a:rPr lang="en-US" b="1" dirty="0"/>
            </a:br>
            <a:endParaRPr lang="en-US" dirty="0"/>
          </a:p>
        </p:txBody>
      </p:sp>
      <p:sp>
        <p:nvSpPr>
          <p:cNvPr id="3" name="Text Placeholder 2">
            <a:extLst>
              <a:ext uri="{FF2B5EF4-FFF2-40B4-BE49-F238E27FC236}">
                <a16:creationId xmlns:a16="http://schemas.microsoft.com/office/drawing/2014/main" id="{B3ABEDDD-D830-9DDC-1366-03C7471B4EB5}"/>
              </a:ext>
            </a:extLst>
          </p:cNvPr>
          <p:cNvSpPr>
            <a:spLocks noGrp="1"/>
          </p:cNvSpPr>
          <p:nvPr>
            <p:ph type="body" idx="1"/>
          </p:nvPr>
        </p:nvSpPr>
        <p:spPr/>
        <p:txBody>
          <a:bodyPr/>
          <a:lstStyle/>
          <a:p>
            <a:pPr>
              <a:lnSpc>
                <a:spcPct val="200000"/>
              </a:lnSpc>
            </a:pPr>
            <a:r>
              <a:rPr lang="en-US" dirty="0"/>
              <a:t>Some </a:t>
            </a:r>
            <a:r>
              <a:rPr lang="en-US" b="1" dirty="0"/>
              <a:t>SaaS providers</a:t>
            </a:r>
            <a:r>
              <a:rPr lang="en-US" dirty="0"/>
              <a:t> combine both </a:t>
            </a:r>
            <a:r>
              <a:rPr lang="en-US" b="1" dirty="0"/>
              <a:t>network-based</a:t>
            </a:r>
            <a:r>
              <a:rPr lang="en-US" dirty="0"/>
              <a:t> and </a:t>
            </a:r>
            <a:r>
              <a:rPr lang="en-US" b="1" dirty="0"/>
              <a:t>user-based</a:t>
            </a:r>
            <a:r>
              <a:rPr lang="en-US" dirty="0"/>
              <a:t> access control.</a:t>
            </a:r>
          </a:p>
          <a:p>
            <a:pPr>
              <a:lnSpc>
                <a:spcPct val="200000"/>
              </a:lnSpc>
            </a:pPr>
            <a:r>
              <a:rPr lang="en-US" dirty="0"/>
              <a:t>For instance, </a:t>
            </a:r>
            <a:r>
              <a:rPr lang="en-US" b="1" dirty="0"/>
              <a:t>Salesforce.com</a:t>
            </a:r>
            <a:r>
              <a:rPr lang="en-US" dirty="0"/>
              <a:t> can restrict access using:</a:t>
            </a:r>
          </a:p>
          <a:p>
            <a:pPr lvl="1">
              <a:lnSpc>
                <a:spcPct val="200000"/>
              </a:lnSpc>
            </a:pPr>
            <a:r>
              <a:rPr lang="en-US" b="1" dirty="0"/>
              <a:t>Network/IP policies</a:t>
            </a:r>
            <a:r>
              <a:rPr lang="en-US" dirty="0"/>
              <a:t> (only certain IP ranges can log in), and</a:t>
            </a:r>
          </a:p>
          <a:p>
            <a:pPr lvl="1">
              <a:lnSpc>
                <a:spcPct val="200000"/>
              </a:lnSpc>
            </a:pPr>
            <a:r>
              <a:rPr lang="en-US" b="1" dirty="0"/>
              <a:t>User-based rules</a:t>
            </a:r>
            <a:r>
              <a:rPr lang="en-US" dirty="0"/>
              <a:t> (permissions tied to identity, role, or policy).</a:t>
            </a:r>
          </a:p>
          <a:p>
            <a:pPr>
              <a:lnSpc>
                <a:spcPct val="200000"/>
              </a:lnSpc>
            </a:pPr>
            <a:r>
              <a:rPr lang="en-US" dirty="0"/>
              <a:t>This </a:t>
            </a:r>
            <a:r>
              <a:rPr lang="en-US" b="1" dirty="0"/>
              <a:t>hybrid approach</a:t>
            </a:r>
            <a:r>
              <a:rPr lang="en-US" dirty="0"/>
              <a:t> provides stronger layered security.</a:t>
            </a:r>
          </a:p>
          <a:p>
            <a:endParaRPr lang="en-US" dirty="0"/>
          </a:p>
        </p:txBody>
      </p:sp>
    </p:spTree>
    <p:extLst>
      <p:ext uri="{BB962C8B-B14F-4D97-AF65-F5344CB8AC3E}">
        <p14:creationId xmlns:p14="http://schemas.microsoft.com/office/powerpoint/2010/main" val="1701527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AA069-2397-6A71-BB70-FC40048553A6}"/>
              </a:ext>
            </a:extLst>
          </p:cNvPr>
          <p:cNvSpPr>
            <a:spLocks noGrp="1"/>
          </p:cNvSpPr>
          <p:nvPr>
            <p:ph type="title"/>
          </p:nvPr>
        </p:nvSpPr>
        <p:spPr/>
        <p:txBody>
          <a:bodyPr>
            <a:normAutofit fontScale="90000"/>
          </a:bodyPr>
          <a:lstStyle/>
          <a:p>
            <a:r>
              <a:rPr lang="en-US" b="1" dirty="0"/>
              <a:t>4. Inconsistent IAM Support</a:t>
            </a:r>
            <a:br>
              <a:rPr lang="en-US" b="1" dirty="0"/>
            </a:br>
            <a:endParaRPr lang="en-US" dirty="0"/>
          </a:p>
        </p:txBody>
      </p:sp>
      <p:sp>
        <p:nvSpPr>
          <p:cNvPr id="3" name="Text Placeholder 2">
            <a:extLst>
              <a:ext uri="{FF2B5EF4-FFF2-40B4-BE49-F238E27FC236}">
                <a16:creationId xmlns:a16="http://schemas.microsoft.com/office/drawing/2014/main" id="{3CF6DC94-3AD8-473C-A144-DDC867FF90FF}"/>
              </a:ext>
            </a:extLst>
          </p:cNvPr>
          <p:cNvSpPr>
            <a:spLocks noGrp="1"/>
          </p:cNvSpPr>
          <p:nvPr>
            <p:ph type="body" idx="1"/>
          </p:nvPr>
        </p:nvSpPr>
        <p:spPr/>
        <p:txBody>
          <a:bodyPr/>
          <a:lstStyle/>
          <a:p>
            <a:pPr>
              <a:lnSpc>
                <a:spcPct val="250000"/>
              </a:lnSpc>
            </a:pPr>
            <a:r>
              <a:rPr lang="en-US" b="1" dirty="0"/>
              <a:t>Identity and Access Management (IAM)</a:t>
            </a:r>
            <a:r>
              <a:rPr lang="en-US" dirty="0"/>
              <a:t> features — such as </a:t>
            </a:r>
            <a:r>
              <a:rPr lang="en-US" b="1" dirty="0"/>
              <a:t>authentication</a:t>
            </a:r>
            <a:r>
              <a:rPr lang="en-US" dirty="0"/>
              <a:t>, </a:t>
            </a:r>
            <a:r>
              <a:rPr lang="en-US" b="1" dirty="0"/>
              <a:t>Single Sign-On (SSO)</a:t>
            </a:r>
            <a:r>
              <a:rPr lang="en-US" dirty="0"/>
              <a:t>, and </a:t>
            </a:r>
            <a:r>
              <a:rPr lang="en-US" b="1" dirty="0"/>
              <a:t>multi-factor authentication (MFA)</a:t>
            </a:r>
            <a:r>
              <a:rPr lang="en-US" dirty="0"/>
              <a:t> — </a:t>
            </a:r>
            <a:r>
              <a:rPr lang="en-US" b="1" dirty="0"/>
              <a:t>vary across providers</a:t>
            </a:r>
            <a:r>
              <a:rPr lang="en-US" dirty="0"/>
              <a:t>.</a:t>
            </a:r>
          </a:p>
          <a:p>
            <a:pPr>
              <a:lnSpc>
                <a:spcPct val="250000"/>
              </a:lnSpc>
            </a:pPr>
            <a:r>
              <a:rPr lang="en-US" dirty="0"/>
              <a:t>Some SaaS platforms offer </a:t>
            </a:r>
            <a:r>
              <a:rPr lang="en-US" b="1" dirty="0"/>
              <a:t>robust IAM</a:t>
            </a:r>
            <a:r>
              <a:rPr lang="en-US" dirty="0"/>
              <a:t>, while others have </a:t>
            </a:r>
            <a:r>
              <a:rPr lang="en-US" b="1" dirty="0"/>
              <a:t>limited or non-standardized controls</a:t>
            </a:r>
            <a:r>
              <a:rPr lang="en-US" dirty="0"/>
              <a:t>.</a:t>
            </a:r>
          </a:p>
          <a:p>
            <a:pPr>
              <a:lnSpc>
                <a:spcPct val="250000"/>
              </a:lnSpc>
            </a:pPr>
            <a:r>
              <a:rPr lang="en-US" dirty="0"/>
              <a:t>Hence, enterprises must evaluate IAM capabilities before adopting a SaaS solution.</a:t>
            </a:r>
          </a:p>
          <a:p>
            <a:endParaRPr lang="en-US" dirty="0"/>
          </a:p>
        </p:txBody>
      </p:sp>
    </p:spTree>
    <p:extLst>
      <p:ext uri="{BB962C8B-B14F-4D97-AF65-F5344CB8AC3E}">
        <p14:creationId xmlns:p14="http://schemas.microsoft.com/office/powerpoint/2010/main" val="2688044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3E17-7498-781B-4F73-9A28E66B6C12}"/>
              </a:ext>
            </a:extLst>
          </p:cNvPr>
          <p:cNvSpPr>
            <a:spLocks noGrp="1"/>
          </p:cNvSpPr>
          <p:nvPr>
            <p:ph type="title"/>
          </p:nvPr>
        </p:nvSpPr>
        <p:spPr/>
        <p:txBody>
          <a:bodyPr>
            <a:normAutofit fontScale="90000"/>
          </a:bodyPr>
          <a:lstStyle/>
          <a:p>
            <a:r>
              <a:rPr lang="en-US" b="1" dirty="0"/>
              <a:t>5. Adoption of Standards by Leading Providers</a:t>
            </a:r>
            <a:br>
              <a:rPr lang="en-US" b="1" dirty="0"/>
            </a:br>
            <a:endParaRPr lang="en-US" dirty="0"/>
          </a:p>
        </p:txBody>
      </p:sp>
      <p:sp>
        <p:nvSpPr>
          <p:cNvPr id="3" name="Text Placeholder 2">
            <a:extLst>
              <a:ext uri="{FF2B5EF4-FFF2-40B4-BE49-F238E27FC236}">
                <a16:creationId xmlns:a16="http://schemas.microsoft.com/office/drawing/2014/main" id="{D23052A3-A100-3422-6041-F86BD1009A21}"/>
              </a:ext>
            </a:extLst>
          </p:cNvPr>
          <p:cNvSpPr>
            <a:spLocks noGrp="1"/>
          </p:cNvSpPr>
          <p:nvPr>
            <p:ph type="body" idx="1"/>
          </p:nvPr>
        </p:nvSpPr>
        <p:spPr/>
        <p:txBody>
          <a:bodyPr>
            <a:normAutofit lnSpcReduction="10000"/>
          </a:bodyPr>
          <a:lstStyle/>
          <a:p>
            <a:pPr>
              <a:lnSpc>
                <a:spcPct val="200000"/>
              </a:lnSpc>
            </a:pPr>
            <a:r>
              <a:rPr lang="en-US" dirty="0"/>
              <a:t>Major cloud providers like </a:t>
            </a:r>
            <a:r>
              <a:rPr lang="en-US" b="1" dirty="0"/>
              <a:t>Google, Microsoft, and Salesforce</a:t>
            </a:r>
            <a:r>
              <a:rPr lang="en-US" dirty="0"/>
              <a:t> have adopted </a:t>
            </a:r>
            <a:r>
              <a:rPr lang="en-US" b="1" dirty="0"/>
              <a:t>SAML (Security Assertion Markup Language)</a:t>
            </a:r>
            <a:r>
              <a:rPr lang="en-US" dirty="0"/>
              <a:t> to enable </a:t>
            </a:r>
            <a:r>
              <a:rPr lang="en-US" b="1" dirty="0"/>
              <a:t>Single Sign-On (SSO)</a:t>
            </a:r>
            <a:r>
              <a:rPr lang="en-US" dirty="0"/>
              <a:t> and </a:t>
            </a:r>
            <a:r>
              <a:rPr lang="en-US" b="1" dirty="0"/>
              <a:t>identity federation</a:t>
            </a:r>
            <a:r>
              <a:rPr lang="en-US" dirty="0"/>
              <a:t>.</a:t>
            </a:r>
          </a:p>
          <a:p>
            <a:pPr>
              <a:lnSpc>
                <a:spcPct val="200000"/>
              </a:lnSpc>
            </a:pPr>
            <a:r>
              <a:rPr lang="en-US" b="1" dirty="0"/>
              <a:t>SAML</a:t>
            </a:r>
            <a:r>
              <a:rPr lang="en-US" dirty="0"/>
              <a:t> allows users to access multiple cloud applications using one set of credentials — improving both </a:t>
            </a:r>
            <a:r>
              <a:rPr lang="en-US" b="1" dirty="0"/>
              <a:t>security</a:t>
            </a:r>
            <a:r>
              <a:rPr lang="en-US" dirty="0"/>
              <a:t> and </a:t>
            </a:r>
            <a:r>
              <a:rPr lang="en-US" b="1" dirty="0"/>
              <a:t>user convenience</a:t>
            </a:r>
            <a:r>
              <a:rPr lang="en-US" dirty="0"/>
              <a:t>.</a:t>
            </a:r>
          </a:p>
          <a:p>
            <a:pPr>
              <a:lnSpc>
                <a:spcPct val="200000"/>
              </a:lnSpc>
            </a:pPr>
            <a:r>
              <a:rPr lang="en-US" dirty="0"/>
              <a:t>However, even though these standards are supported, </a:t>
            </a:r>
            <a:r>
              <a:rPr lang="en-US" b="1" dirty="0"/>
              <a:t>capabilities differ among providers</a:t>
            </a:r>
            <a:r>
              <a:rPr lang="en-US" dirty="0"/>
              <a:t> — not all offer the same level of flexibility, integration, or customization.</a:t>
            </a:r>
          </a:p>
          <a:p>
            <a:pPr>
              <a:lnSpc>
                <a:spcPct val="200000"/>
              </a:lnSpc>
            </a:pPr>
            <a:r>
              <a:rPr lang="en-US" dirty="0"/>
              <a:t>For example, one provider may support SSO with third-party IdPs easily, while another may have limited configuration options.</a:t>
            </a:r>
          </a:p>
          <a:p>
            <a:endParaRPr lang="en-US" dirty="0"/>
          </a:p>
        </p:txBody>
      </p:sp>
    </p:spTree>
    <p:extLst>
      <p:ext uri="{BB962C8B-B14F-4D97-AF65-F5344CB8AC3E}">
        <p14:creationId xmlns:p14="http://schemas.microsoft.com/office/powerpoint/2010/main" val="3477276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1C235-3A37-B900-81B6-7492B9507092}"/>
              </a:ext>
            </a:extLst>
          </p:cNvPr>
          <p:cNvSpPr>
            <a:spLocks noGrp="1"/>
          </p:cNvSpPr>
          <p:nvPr>
            <p:ph type="title"/>
          </p:nvPr>
        </p:nvSpPr>
        <p:spPr/>
        <p:txBody>
          <a:bodyPr>
            <a:normAutofit fontScale="90000"/>
          </a:bodyPr>
          <a:lstStyle/>
          <a:p>
            <a:r>
              <a:rPr lang="en-US" b="1" dirty="0"/>
              <a:t>6. Customer and Enterprise Role</a:t>
            </a:r>
            <a:br>
              <a:rPr lang="en-US" b="1" dirty="0"/>
            </a:br>
            <a:endParaRPr lang="en-US" dirty="0"/>
          </a:p>
        </p:txBody>
      </p:sp>
      <p:sp>
        <p:nvSpPr>
          <p:cNvPr id="3" name="Text Placeholder 2">
            <a:extLst>
              <a:ext uri="{FF2B5EF4-FFF2-40B4-BE49-F238E27FC236}">
                <a16:creationId xmlns:a16="http://schemas.microsoft.com/office/drawing/2014/main" id="{5AFCA535-CACD-47E0-B0DE-DBEF98D0F5C7}"/>
              </a:ext>
            </a:extLst>
          </p:cNvPr>
          <p:cNvSpPr>
            <a:spLocks noGrp="1"/>
          </p:cNvSpPr>
          <p:nvPr>
            <p:ph type="body" idx="1"/>
          </p:nvPr>
        </p:nvSpPr>
        <p:spPr/>
        <p:txBody>
          <a:bodyPr/>
          <a:lstStyle/>
          <a:p>
            <a:pPr>
              <a:lnSpc>
                <a:spcPct val="150000"/>
              </a:lnSpc>
            </a:pPr>
            <a:r>
              <a:rPr lang="en-US" dirty="0"/>
              <a:t>Enterprises play a critical role in </a:t>
            </a:r>
            <a:r>
              <a:rPr lang="en-US" b="1" dirty="0"/>
              <a:t>managing identity and access</a:t>
            </a:r>
            <a:r>
              <a:rPr lang="en-US" dirty="0"/>
              <a:t> in the SaaS environment.</a:t>
            </a:r>
          </a:p>
          <a:p>
            <a:pPr>
              <a:lnSpc>
                <a:spcPct val="150000"/>
              </a:lnSpc>
            </a:pPr>
            <a:r>
              <a:rPr lang="en-US" dirty="0"/>
              <a:t>They should </a:t>
            </a:r>
            <a:r>
              <a:rPr lang="en-US" b="1" dirty="0"/>
              <a:t>leverage their existing Identity Provider (IdP)</a:t>
            </a:r>
            <a:r>
              <a:rPr lang="en-US" dirty="0"/>
              <a:t> systems (e.g., Active Directory, Okta) to integrate with SaaS applications for </a:t>
            </a:r>
            <a:r>
              <a:rPr lang="en-US" b="1" dirty="0"/>
              <a:t>centralized authentication and policy control</a:t>
            </a:r>
            <a:r>
              <a:rPr lang="en-US" dirty="0"/>
              <a:t>.</a:t>
            </a:r>
          </a:p>
          <a:p>
            <a:pPr>
              <a:lnSpc>
                <a:spcPct val="150000"/>
              </a:lnSpc>
            </a:pPr>
            <a:r>
              <a:rPr lang="en-US" dirty="0"/>
              <a:t>Organizations are encouraged to </a:t>
            </a:r>
            <a:r>
              <a:rPr lang="en-US" b="1" dirty="0"/>
              <a:t>demand IAM standards</a:t>
            </a:r>
            <a:r>
              <a:rPr lang="en-US" dirty="0"/>
              <a:t> such as:</a:t>
            </a:r>
          </a:p>
          <a:p>
            <a:pPr lvl="1">
              <a:lnSpc>
                <a:spcPct val="150000"/>
              </a:lnSpc>
            </a:pPr>
            <a:r>
              <a:rPr lang="en-US" b="1" dirty="0"/>
              <a:t>SAML (Security Assertion Markup Language)</a:t>
            </a:r>
            <a:r>
              <a:rPr lang="en-US" dirty="0"/>
              <a:t> – for SSO</a:t>
            </a:r>
          </a:p>
          <a:p>
            <a:pPr lvl="1">
              <a:lnSpc>
                <a:spcPct val="150000"/>
              </a:lnSpc>
            </a:pPr>
            <a:r>
              <a:rPr lang="en-US" b="1" dirty="0"/>
              <a:t>SPML (Service Provisioning Markup Language)</a:t>
            </a:r>
            <a:r>
              <a:rPr lang="en-US" dirty="0"/>
              <a:t> – for automated provisioning/deprovisioning of users</a:t>
            </a:r>
          </a:p>
          <a:p>
            <a:pPr lvl="1">
              <a:lnSpc>
                <a:spcPct val="150000"/>
              </a:lnSpc>
            </a:pPr>
            <a:r>
              <a:rPr lang="en-US" b="1" dirty="0"/>
              <a:t>Open APIs</a:t>
            </a:r>
            <a:r>
              <a:rPr lang="en-US" dirty="0"/>
              <a:t> – for seamless integration between enterprise IAM and cloud applications</a:t>
            </a:r>
          </a:p>
          <a:p>
            <a:pPr>
              <a:lnSpc>
                <a:spcPct val="150000"/>
              </a:lnSpc>
            </a:pPr>
            <a:r>
              <a:rPr lang="en-US" dirty="0"/>
              <a:t>This ensures </a:t>
            </a:r>
            <a:r>
              <a:rPr lang="en-US" b="1" dirty="0"/>
              <a:t>consistent, secure, and manageable user access</a:t>
            </a:r>
            <a:r>
              <a:rPr lang="en-US" dirty="0"/>
              <a:t> across multiple SaaS platforms.</a:t>
            </a:r>
          </a:p>
          <a:p>
            <a:endParaRPr lang="en-US" dirty="0"/>
          </a:p>
        </p:txBody>
      </p:sp>
    </p:spTree>
    <p:extLst>
      <p:ext uri="{BB962C8B-B14F-4D97-AF65-F5344CB8AC3E}">
        <p14:creationId xmlns:p14="http://schemas.microsoft.com/office/powerpoint/2010/main" val="30088144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45CC-22D8-9A77-2A7B-11E11328BA6F}"/>
              </a:ext>
            </a:extLst>
          </p:cNvPr>
          <p:cNvSpPr>
            <a:spLocks noGrp="1"/>
          </p:cNvSpPr>
          <p:nvPr>
            <p:ph type="title"/>
          </p:nvPr>
        </p:nvSpPr>
        <p:spPr>
          <a:xfrm>
            <a:off x="415600" y="593367"/>
            <a:ext cx="11360800" cy="595353"/>
          </a:xfrm>
        </p:spPr>
        <p:txBody>
          <a:bodyPr>
            <a:normAutofit fontScale="90000"/>
          </a:bodyPr>
          <a:lstStyle/>
          <a:p>
            <a:r>
              <a:rPr lang="en-US" b="1" dirty="0"/>
              <a:t>Access Control: PaaS </a:t>
            </a:r>
            <a:br>
              <a:rPr lang="en-US" dirty="0"/>
            </a:br>
            <a:endParaRPr lang="en-US" dirty="0"/>
          </a:p>
        </p:txBody>
      </p:sp>
      <p:sp>
        <p:nvSpPr>
          <p:cNvPr id="3" name="Text Placeholder 2">
            <a:extLst>
              <a:ext uri="{FF2B5EF4-FFF2-40B4-BE49-F238E27FC236}">
                <a16:creationId xmlns:a16="http://schemas.microsoft.com/office/drawing/2014/main" id="{79C0AD0F-1B65-ED20-8C0E-79FA8940EE7F}"/>
              </a:ext>
            </a:extLst>
          </p:cNvPr>
          <p:cNvSpPr>
            <a:spLocks noGrp="1"/>
          </p:cNvSpPr>
          <p:nvPr>
            <p:ph type="body" idx="1"/>
          </p:nvPr>
        </p:nvSpPr>
        <p:spPr>
          <a:xfrm>
            <a:off x="415600" y="1188720"/>
            <a:ext cx="11360800" cy="4903013"/>
          </a:xfrm>
        </p:spPr>
        <p:txBody>
          <a:bodyPr>
            <a:normAutofit/>
          </a:bodyPr>
          <a:lstStyle/>
          <a:p>
            <a:pPr marL="152396" indent="0">
              <a:lnSpc>
                <a:spcPct val="150000"/>
              </a:lnSpc>
              <a:buNone/>
            </a:pPr>
            <a:r>
              <a:rPr lang="en-US" b="1" dirty="0"/>
              <a:t>1. CSP Responsibility</a:t>
            </a:r>
          </a:p>
          <a:p>
            <a:pPr>
              <a:lnSpc>
                <a:spcPct val="150000"/>
              </a:lnSpc>
            </a:pPr>
            <a:r>
              <a:rPr lang="en-US" dirty="0"/>
              <a:t>The </a:t>
            </a:r>
            <a:r>
              <a:rPr lang="en-US" b="1" dirty="0"/>
              <a:t>Cloud Service Provider (CSP)</a:t>
            </a:r>
            <a:r>
              <a:rPr lang="en-US" dirty="0"/>
              <a:t> manages </a:t>
            </a:r>
            <a:r>
              <a:rPr lang="en-US" b="1" dirty="0"/>
              <a:t>access control</a:t>
            </a:r>
            <a:r>
              <a:rPr lang="en-US" dirty="0"/>
              <a:t> for the </a:t>
            </a:r>
            <a:r>
              <a:rPr lang="en-US" b="1" dirty="0"/>
              <a:t>underlying infrastructure</a:t>
            </a:r>
            <a:r>
              <a:rPr lang="en-US" dirty="0"/>
              <a:t> — including </a:t>
            </a:r>
            <a:r>
              <a:rPr lang="en-US" b="1" dirty="0"/>
              <a:t>networks, servers, and the PaaS platform itself</a:t>
            </a:r>
            <a:r>
              <a:rPr lang="en-US" dirty="0"/>
              <a:t>.</a:t>
            </a:r>
          </a:p>
          <a:p>
            <a:pPr>
              <a:lnSpc>
                <a:spcPct val="150000"/>
              </a:lnSpc>
            </a:pPr>
            <a:r>
              <a:rPr lang="en-US" dirty="0"/>
              <a:t>This ensures that the platform runs securely and reliably, without customer interference in low-level system management.</a:t>
            </a:r>
          </a:p>
          <a:p>
            <a:pPr>
              <a:lnSpc>
                <a:spcPct val="150000"/>
              </a:lnSpc>
            </a:pPr>
            <a:endParaRPr lang="en-US" dirty="0"/>
          </a:p>
          <a:p>
            <a:pPr marL="152396" indent="0">
              <a:lnSpc>
                <a:spcPct val="150000"/>
              </a:lnSpc>
              <a:buNone/>
            </a:pPr>
            <a:r>
              <a:rPr lang="en-US" b="1" dirty="0"/>
              <a:t>2. Customer Responsibility</a:t>
            </a:r>
          </a:p>
          <a:p>
            <a:pPr>
              <a:lnSpc>
                <a:spcPct val="150000"/>
              </a:lnSpc>
            </a:pPr>
            <a:r>
              <a:rPr lang="en-US" dirty="0"/>
              <a:t>The </a:t>
            </a:r>
            <a:r>
              <a:rPr lang="en-US" b="1" dirty="0"/>
              <a:t>customer</a:t>
            </a:r>
            <a:r>
              <a:rPr lang="en-US" dirty="0"/>
              <a:t> (application developer or organization) is responsible for </a:t>
            </a:r>
            <a:r>
              <a:rPr lang="en-US" b="1" dirty="0"/>
              <a:t>managing access control to the applications</a:t>
            </a:r>
            <a:r>
              <a:rPr lang="en-US" dirty="0"/>
              <a:t> they deploy on the PaaS platform.</a:t>
            </a:r>
          </a:p>
          <a:p>
            <a:pPr>
              <a:lnSpc>
                <a:spcPct val="150000"/>
              </a:lnSpc>
            </a:pPr>
            <a:r>
              <a:rPr lang="en-US" dirty="0"/>
              <a:t>This includes setting up </a:t>
            </a:r>
            <a:r>
              <a:rPr lang="en-US" b="1" dirty="0"/>
              <a:t>end-user access management</a:t>
            </a:r>
            <a:r>
              <a:rPr lang="en-US" dirty="0"/>
              <a:t> for their own users (e.g., customers, employees).</a:t>
            </a:r>
          </a:p>
          <a:p>
            <a:endParaRPr lang="en-US" dirty="0"/>
          </a:p>
        </p:txBody>
      </p:sp>
    </p:spTree>
    <p:extLst>
      <p:ext uri="{BB962C8B-B14F-4D97-AF65-F5344CB8AC3E}">
        <p14:creationId xmlns:p14="http://schemas.microsoft.com/office/powerpoint/2010/main" val="1520375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E663F5-EF94-717C-C829-D6D9BB8ABB9D}"/>
              </a:ext>
            </a:extLst>
          </p:cNvPr>
          <p:cNvSpPr>
            <a:spLocks noGrp="1"/>
          </p:cNvSpPr>
          <p:nvPr>
            <p:ph type="body" idx="1"/>
          </p:nvPr>
        </p:nvSpPr>
        <p:spPr>
          <a:xfrm>
            <a:off x="415600" y="508000"/>
            <a:ext cx="11360800" cy="5583733"/>
          </a:xfrm>
        </p:spPr>
        <p:txBody>
          <a:bodyPr>
            <a:normAutofit/>
          </a:bodyPr>
          <a:lstStyle/>
          <a:p>
            <a:pPr marL="152396" indent="0">
              <a:lnSpc>
                <a:spcPct val="200000"/>
              </a:lnSpc>
              <a:buNone/>
            </a:pPr>
            <a:r>
              <a:rPr lang="en-US" b="1" dirty="0"/>
              <a:t>3. Application-Level Access Control</a:t>
            </a:r>
          </a:p>
          <a:p>
            <a:pPr>
              <a:lnSpc>
                <a:spcPct val="200000"/>
              </a:lnSpc>
            </a:pPr>
            <a:r>
              <a:rPr lang="en-US" dirty="0"/>
              <a:t>Customers handle access mechanisms like </a:t>
            </a:r>
            <a:r>
              <a:rPr lang="en-US" b="1" dirty="0"/>
              <a:t>user provisioning</a:t>
            </a:r>
            <a:r>
              <a:rPr lang="en-US" dirty="0"/>
              <a:t> (creating accounts, assigning roles) and </a:t>
            </a:r>
            <a:r>
              <a:rPr lang="en-US" b="1" dirty="0"/>
              <a:t>authentication</a:t>
            </a:r>
            <a:r>
              <a:rPr lang="en-US" dirty="0"/>
              <a:t> (verifying identity).</a:t>
            </a:r>
          </a:p>
          <a:p>
            <a:pPr>
              <a:lnSpc>
                <a:spcPct val="200000"/>
              </a:lnSpc>
            </a:pPr>
            <a:r>
              <a:rPr lang="en-US" dirty="0"/>
              <a:t>Examples: setting up login systems, managing API keys, or integrating with identity management systems.</a:t>
            </a:r>
          </a:p>
          <a:p>
            <a:pPr marL="152396" indent="0">
              <a:lnSpc>
                <a:spcPct val="200000"/>
              </a:lnSpc>
              <a:buNone/>
            </a:pPr>
            <a:r>
              <a:rPr lang="en-US" b="1" dirty="0"/>
              <a:t>4. Variation in Access Control Support</a:t>
            </a:r>
          </a:p>
          <a:p>
            <a:pPr>
              <a:lnSpc>
                <a:spcPct val="200000"/>
              </a:lnSpc>
            </a:pPr>
            <a:r>
              <a:rPr lang="en-US" b="1" dirty="0"/>
              <a:t>PaaS providers differ</a:t>
            </a:r>
            <a:r>
              <a:rPr lang="en-US" dirty="0"/>
              <a:t> in how much built-in user access control they offer.</a:t>
            </a:r>
          </a:p>
          <a:p>
            <a:pPr>
              <a:lnSpc>
                <a:spcPct val="200000"/>
              </a:lnSpc>
            </a:pPr>
            <a:r>
              <a:rPr lang="en-US" dirty="0"/>
              <a:t>Some platforms provide only </a:t>
            </a:r>
            <a:r>
              <a:rPr lang="en-US" b="1" dirty="0"/>
              <a:t>basic or limited access features</a:t>
            </a:r>
            <a:r>
              <a:rPr lang="en-US" dirty="0"/>
              <a:t>, requiring customers to implement their own security solutions.</a:t>
            </a:r>
          </a:p>
          <a:p>
            <a:endParaRPr lang="en-US" dirty="0"/>
          </a:p>
        </p:txBody>
      </p:sp>
    </p:spTree>
    <p:extLst>
      <p:ext uri="{BB962C8B-B14F-4D97-AF65-F5344CB8AC3E}">
        <p14:creationId xmlns:p14="http://schemas.microsoft.com/office/powerpoint/2010/main" val="17261104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0D7D-C588-1BCB-5589-DB36960DD8BC}"/>
              </a:ext>
            </a:extLst>
          </p:cNvPr>
          <p:cNvSpPr>
            <a:spLocks noGrp="1"/>
          </p:cNvSpPr>
          <p:nvPr>
            <p:ph type="title"/>
          </p:nvPr>
        </p:nvSpPr>
        <p:spPr/>
        <p:txBody>
          <a:bodyPr>
            <a:normAutofit fontScale="90000"/>
          </a:bodyPr>
          <a:lstStyle/>
          <a:p>
            <a:r>
              <a:rPr lang="en-US" altLang="en-US" sz="3200" b="1" dirty="0">
                <a:solidFill>
                  <a:schemeClr val="tx1"/>
                </a:solidFill>
                <a:latin typeface="Times New Roman" panose="02020603050405020304" pitchFamily="18" charset="0"/>
                <a:cs typeface="Times New Roman" panose="02020603050405020304" pitchFamily="18" charset="0"/>
              </a:rPr>
              <a:t>Access Control: IaaS </a:t>
            </a:r>
            <a:br>
              <a:rPr lang="en-US" altLang="en-US" sz="3200" dirty="0">
                <a:solidFill>
                  <a:schemeClr val="tx1"/>
                </a:solidFill>
                <a:latin typeface="Times New Roman" panose="02020603050405020304" pitchFamily="18" charset="0"/>
                <a:cs typeface="Times New Roman" panose="02020603050405020304" pitchFamily="18" charset="0"/>
              </a:rPr>
            </a:br>
            <a:endParaRPr lang="en-US" dirty="0"/>
          </a:p>
        </p:txBody>
      </p:sp>
      <p:sp>
        <p:nvSpPr>
          <p:cNvPr id="5" name="Rectangle 2">
            <a:extLst>
              <a:ext uri="{FF2B5EF4-FFF2-40B4-BE49-F238E27FC236}">
                <a16:creationId xmlns:a16="http://schemas.microsoft.com/office/drawing/2014/main" id="{A6B44BE6-3A55-D4BA-3C21-B74CD35945DA}"/>
              </a:ext>
            </a:extLst>
          </p:cNvPr>
          <p:cNvSpPr>
            <a:spLocks noGrp="1" noChangeArrowheads="1"/>
          </p:cNvSpPr>
          <p:nvPr>
            <p:ph type="body" idx="1"/>
          </p:nvPr>
        </p:nvSpPr>
        <p:spPr bwMode="auto">
          <a:xfrm>
            <a:off x="415601" y="564503"/>
            <a:ext cx="11776400"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IaaS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customer</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is fully responsible for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managing access control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all their cloud resources.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must design and manage access for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virtual servers, networks, storage, and hosted applications</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control in IaaS is divided into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main categories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152385" eaLnBrk="0" fontAlgn="base" hangingPunct="0">
              <a:lnSpc>
                <a:spcPct val="200000"/>
              </a:lnSpc>
              <a:spcBef>
                <a:spcPct val="0"/>
              </a:spcBef>
              <a:spcAft>
                <a:spcPct val="0"/>
              </a:spcAft>
              <a:buClrTx/>
              <a:buSzTx/>
              <a:buFontTx/>
              <a:buAutoNum type="arabicPeriod"/>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CSP Infrastructure Access Control</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Managed by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Service Provider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its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systems, </a:t>
            </a:r>
          </a:p>
          <a:p>
            <a:pPr marL="0" indent="0" eaLnBrk="0" fontAlgn="base" hangingPunct="0">
              <a:lnSpc>
                <a:spcPct val="200000"/>
              </a:lnSpc>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networks, and management tools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152385" eaLnBrk="0" fontAlgn="base" hangingPunct="0">
              <a:lnSpc>
                <a:spcPct val="200000"/>
              </a:lnSpc>
              <a:spcBef>
                <a:spcPct val="0"/>
              </a:spcBef>
              <a:spcAft>
                <a:spcPct val="0"/>
              </a:spcAft>
              <a:buClrTx/>
              <a:buSzTx/>
              <a:buFontTx/>
              <a:buAutoNum type="arabicPeriod" startAt="2"/>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Customer Virtual Infrastructure Access Control</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Managed by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their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VMs, virtual networks, storage, and hosted applications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2603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ED66-68DB-7476-706E-45BFED9D340D}"/>
              </a:ext>
            </a:extLst>
          </p:cNvPr>
          <p:cNvSpPr>
            <a:spLocks noGrp="1"/>
          </p:cNvSpPr>
          <p:nvPr>
            <p:ph type="title"/>
          </p:nvPr>
        </p:nvSpPr>
        <p:spPr/>
        <p:txBody>
          <a:bodyPr>
            <a:normAutofit fontScale="90000"/>
          </a:bodyPr>
          <a:lstStyle/>
          <a:p>
            <a:r>
              <a:rPr lang="en-US" b="1" dirty="0"/>
              <a:t>CSP Infrastructure Access Control </a:t>
            </a:r>
            <a:br>
              <a:rPr lang="en-US" dirty="0"/>
            </a:br>
            <a:endParaRPr lang="en-US" dirty="0"/>
          </a:p>
        </p:txBody>
      </p:sp>
      <p:sp>
        <p:nvSpPr>
          <p:cNvPr id="3" name="Text Placeholder 2">
            <a:extLst>
              <a:ext uri="{FF2B5EF4-FFF2-40B4-BE49-F238E27FC236}">
                <a16:creationId xmlns:a16="http://schemas.microsoft.com/office/drawing/2014/main" id="{00C1339B-F7B4-1BE4-FF9B-B77C3E67B841}"/>
              </a:ext>
            </a:extLst>
          </p:cNvPr>
          <p:cNvSpPr>
            <a:spLocks noGrp="1"/>
          </p:cNvSpPr>
          <p:nvPr>
            <p:ph type="body" idx="1"/>
          </p:nvPr>
        </p:nvSpPr>
        <p:spPr/>
        <p:txBody>
          <a:bodyPr/>
          <a:lstStyle/>
          <a:p>
            <a:pPr>
              <a:lnSpc>
                <a:spcPct val="150000"/>
              </a:lnSpc>
            </a:pPr>
            <a:r>
              <a:rPr lang="en-US" b="1" dirty="0"/>
              <a:t>CSP</a:t>
            </a:r>
            <a:r>
              <a:rPr lang="en-US" dirty="0"/>
              <a:t> manages access control for the </a:t>
            </a:r>
            <a:r>
              <a:rPr lang="en-US" b="1" dirty="0">
                <a:solidFill>
                  <a:srgbClr val="FF0000"/>
                </a:solidFill>
              </a:rPr>
              <a:t>administrative networ</a:t>
            </a:r>
            <a:r>
              <a:rPr lang="en-US" b="1" dirty="0"/>
              <a:t>k</a:t>
            </a:r>
            <a:r>
              <a:rPr lang="en-US" dirty="0"/>
              <a:t> used for </a:t>
            </a:r>
            <a:r>
              <a:rPr lang="en-US" dirty="0">
                <a:solidFill>
                  <a:srgbClr val="FF0000"/>
                </a:solidFill>
              </a:rPr>
              <a:t>internal management tasks.</a:t>
            </a:r>
          </a:p>
          <a:p>
            <a:pPr>
              <a:lnSpc>
                <a:spcPct val="150000"/>
              </a:lnSpc>
            </a:pPr>
            <a:r>
              <a:rPr lang="en-US" dirty="0"/>
              <a:t>Covers access to </a:t>
            </a:r>
            <a:r>
              <a:rPr lang="en-US" b="1" dirty="0"/>
              <a:t>administrative processes</a:t>
            </a:r>
            <a:r>
              <a:rPr lang="en-US" dirty="0"/>
              <a:t> such as:</a:t>
            </a:r>
          </a:p>
          <a:p>
            <a:pPr lvl="1">
              <a:lnSpc>
                <a:spcPct val="150000"/>
              </a:lnSpc>
            </a:pPr>
            <a:r>
              <a:rPr lang="en-US" dirty="0"/>
              <a:t>Backups</a:t>
            </a:r>
          </a:p>
          <a:p>
            <a:pPr lvl="1">
              <a:lnSpc>
                <a:spcPct val="150000"/>
              </a:lnSpc>
            </a:pPr>
            <a:r>
              <a:rPr lang="en-US" dirty="0"/>
              <a:t>Host (hypervisor) and network maintenance</a:t>
            </a:r>
          </a:p>
          <a:p>
            <a:pPr lvl="1">
              <a:lnSpc>
                <a:spcPct val="150000"/>
              </a:lnSpc>
            </a:pPr>
            <a:r>
              <a:rPr lang="en-US" dirty="0"/>
              <a:t>Router and firewall policy management</a:t>
            </a:r>
          </a:p>
          <a:p>
            <a:pPr lvl="1">
              <a:lnSpc>
                <a:spcPct val="150000"/>
              </a:lnSpc>
            </a:pPr>
            <a:r>
              <a:rPr lang="en-US" dirty="0"/>
              <a:t>System monitoring and management</a:t>
            </a:r>
          </a:p>
          <a:p>
            <a:pPr>
              <a:lnSpc>
                <a:spcPct val="150000"/>
              </a:lnSpc>
            </a:pPr>
            <a:r>
              <a:rPr lang="en-US" b="1" dirty="0"/>
              <a:t>Strong authentication</a:t>
            </a:r>
            <a:r>
              <a:rPr lang="en-US" dirty="0"/>
              <a:t> and </a:t>
            </a:r>
            <a:r>
              <a:rPr lang="en-US" b="1" dirty="0"/>
              <a:t>role-based access control (RBAC)</a:t>
            </a:r>
            <a:r>
              <a:rPr lang="en-US" dirty="0"/>
              <a:t> must protect administrative functions.</a:t>
            </a:r>
          </a:p>
          <a:p>
            <a:pPr>
              <a:lnSpc>
                <a:spcPct val="150000"/>
              </a:lnSpc>
            </a:pPr>
            <a:r>
              <a:rPr lang="en-US" b="1" dirty="0"/>
              <a:t>Operational procedures</a:t>
            </a:r>
            <a:r>
              <a:rPr lang="en-US" dirty="0"/>
              <a:t> should ensure proper </a:t>
            </a:r>
            <a:r>
              <a:rPr lang="en-US" b="1" dirty="0"/>
              <a:t>provisioning and revocation</a:t>
            </a:r>
            <a:r>
              <a:rPr lang="en-US" dirty="0"/>
              <a:t> of admin privileges.</a:t>
            </a:r>
          </a:p>
          <a:p>
            <a:pPr>
              <a:lnSpc>
                <a:spcPct val="150000"/>
              </a:lnSpc>
            </a:pPr>
            <a:r>
              <a:rPr lang="en-US" b="1" dirty="0"/>
              <a:t>Periodic audits</a:t>
            </a:r>
            <a:r>
              <a:rPr lang="en-US" dirty="0"/>
              <a:t> and </a:t>
            </a:r>
            <a:r>
              <a:rPr lang="en-US" b="1" dirty="0"/>
              <a:t>administrative user certifications</a:t>
            </a:r>
            <a:r>
              <a:rPr lang="en-US" dirty="0"/>
              <a:t> must be conducted to ensure </a:t>
            </a:r>
            <a:r>
              <a:rPr lang="en-US" b="1" dirty="0"/>
              <a:t>least privilege</a:t>
            </a:r>
            <a:r>
              <a:rPr lang="en-US" dirty="0"/>
              <a:t> and </a:t>
            </a:r>
            <a:r>
              <a:rPr lang="en-US" b="1" dirty="0"/>
              <a:t>separation of duties</a:t>
            </a:r>
            <a:r>
              <a:rPr lang="en-US" dirty="0"/>
              <a:t>.</a:t>
            </a:r>
          </a:p>
          <a:p>
            <a:endParaRPr lang="en-US" dirty="0"/>
          </a:p>
        </p:txBody>
      </p:sp>
    </p:spTree>
    <p:extLst>
      <p:ext uri="{BB962C8B-B14F-4D97-AF65-F5344CB8AC3E}">
        <p14:creationId xmlns:p14="http://schemas.microsoft.com/office/powerpoint/2010/main" val="1560308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E751E-3BD2-7FBF-F287-415CE68ED304}"/>
              </a:ext>
            </a:extLst>
          </p:cNvPr>
          <p:cNvSpPr>
            <a:spLocks noGrp="1"/>
          </p:cNvSpPr>
          <p:nvPr>
            <p:ph type="title"/>
          </p:nvPr>
        </p:nvSpPr>
        <p:spPr/>
        <p:txBody>
          <a:bodyPr/>
          <a:lstStyle/>
          <a:p>
            <a:r>
              <a:rPr lang="en-US" b="1" dirty="0"/>
              <a:t>Customer virtual infrastructure access control</a:t>
            </a:r>
            <a:endParaRPr lang="en-US" dirty="0"/>
          </a:p>
        </p:txBody>
      </p:sp>
      <p:sp>
        <p:nvSpPr>
          <p:cNvPr id="3" name="Text Placeholder 2">
            <a:extLst>
              <a:ext uri="{FF2B5EF4-FFF2-40B4-BE49-F238E27FC236}">
                <a16:creationId xmlns:a16="http://schemas.microsoft.com/office/drawing/2014/main" id="{8EEB055A-D971-CC2E-FE3E-7CCE0E0935AF}"/>
              </a:ext>
            </a:extLst>
          </p:cNvPr>
          <p:cNvSpPr>
            <a:spLocks noGrp="1"/>
          </p:cNvSpPr>
          <p:nvPr>
            <p:ph type="body" idx="1"/>
          </p:nvPr>
        </p:nvSpPr>
        <p:spPr/>
        <p:txBody>
          <a:bodyPr>
            <a:normAutofit lnSpcReduction="10000"/>
          </a:bodyPr>
          <a:lstStyle/>
          <a:p>
            <a:pPr>
              <a:lnSpc>
                <a:spcPct val="150000"/>
              </a:lnSpc>
            </a:pPr>
            <a:r>
              <a:rPr lang="en-US" dirty="0"/>
              <a:t>Understanding Resources &amp; Controls:</a:t>
            </a:r>
          </a:p>
          <a:p>
            <a:pPr lvl="1">
              <a:lnSpc>
                <a:spcPct val="150000"/>
              </a:lnSpc>
            </a:pPr>
            <a:r>
              <a:rPr lang="en-US" dirty="0"/>
              <a:t>Customers must understand all virtual components (network, host, firewall, load balancer, management console, etc.) and their access protection mechanisms.</a:t>
            </a:r>
          </a:p>
          <a:p>
            <a:pPr lvl="1">
              <a:lnSpc>
                <a:spcPct val="150000"/>
              </a:lnSpc>
            </a:pPr>
            <a:r>
              <a:rPr lang="en-US" dirty="0"/>
              <a:t>CSPs often provide </a:t>
            </a:r>
            <a:r>
              <a:rPr lang="en-US" b="1" dirty="0">
                <a:solidFill>
                  <a:srgbClr val="FF0000"/>
                </a:solidFill>
              </a:rPr>
              <a:t>full root or administrative access </a:t>
            </a:r>
            <a:r>
              <a:rPr lang="en-US" dirty="0"/>
              <a:t>to virtual servers.</a:t>
            </a:r>
          </a:p>
          <a:p>
            <a:pPr>
              <a:lnSpc>
                <a:spcPct val="150000"/>
              </a:lnSpc>
            </a:pPr>
            <a:r>
              <a:rPr lang="en-US" dirty="0"/>
              <a:t>Customer Responsibility:</a:t>
            </a:r>
          </a:p>
          <a:p>
            <a:pPr lvl="1">
              <a:lnSpc>
                <a:spcPct val="150000"/>
              </a:lnSpc>
            </a:pPr>
            <a:r>
              <a:rPr lang="en-US" dirty="0"/>
              <a:t>Customers must implement </a:t>
            </a:r>
            <a:r>
              <a:rPr lang="en-US" b="1" dirty="0">
                <a:solidFill>
                  <a:srgbClr val="FF0000"/>
                </a:solidFill>
              </a:rPr>
              <a:t>access restrictions and secure virtual resources </a:t>
            </a:r>
            <a:r>
              <a:rPr lang="en-US" dirty="0"/>
              <a:t>(servers, networks, storage, etc.).</a:t>
            </a:r>
          </a:p>
          <a:p>
            <a:pPr marL="643462" indent="-457200">
              <a:lnSpc>
                <a:spcPct val="150000"/>
              </a:lnSpc>
              <a:buFont typeface="+mj-lt"/>
              <a:buAutoNum type="arabicPeriod"/>
            </a:pPr>
            <a:r>
              <a:rPr lang="en-US" b="1" dirty="0"/>
              <a:t>Network Access Control</a:t>
            </a:r>
          </a:p>
          <a:p>
            <a:pPr marL="643462" indent="-457200">
              <a:lnSpc>
                <a:spcPct val="150000"/>
              </a:lnSpc>
              <a:buFont typeface="+mj-lt"/>
              <a:buAutoNum type="arabicPeriod"/>
            </a:pPr>
            <a:r>
              <a:rPr lang="en-US" b="1" dirty="0"/>
              <a:t>Virtual Server Access Control</a:t>
            </a:r>
          </a:p>
          <a:p>
            <a:pPr marL="643462" indent="-457200">
              <a:lnSpc>
                <a:spcPct val="150000"/>
              </a:lnSpc>
              <a:buFont typeface="+mj-lt"/>
              <a:buAutoNum type="arabicPeriod"/>
            </a:pPr>
            <a:r>
              <a:rPr lang="en-US" b="1" dirty="0"/>
              <a:t>Cloud Management Station</a:t>
            </a:r>
          </a:p>
          <a:p>
            <a:pPr marL="643462" indent="-457200">
              <a:lnSpc>
                <a:spcPct val="150000"/>
              </a:lnSpc>
              <a:buFont typeface="+mj-lt"/>
              <a:buAutoNum type="arabicPeriod"/>
            </a:pPr>
            <a:r>
              <a:rPr lang="en-US" b="1" dirty="0"/>
              <a:t>Web-Based Console</a:t>
            </a:r>
          </a:p>
        </p:txBody>
      </p:sp>
    </p:spTree>
    <p:extLst>
      <p:ext uri="{BB962C8B-B14F-4D97-AF65-F5344CB8AC3E}">
        <p14:creationId xmlns:p14="http://schemas.microsoft.com/office/powerpoint/2010/main" val="2738646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047B7-C3BC-1E16-B772-825078EE8CA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D57CA44-CF67-3F57-89A0-E6C30235308B}"/>
              </a:ext>
            </a:extLst>
          </p:cNvPr>
          <p:cNvSpPr>
            <a:spLocks noGrp="1"/>
          </p:cNvSpPr>
          <p:nvPr>
            <p:ph type="body" idx="1"/>
          </p:nvPr>
        </p:nvSpPr>
        <p:spPr/>
        <p:txBody>
          <a:bodyPr/>
          <a:lstStyle/>
          <a:p>
            <a:pPr marL="152396" indent="0">
              <a:lnSpc>
                <a:spcPct val="200000"/>
              </a:lnSpc>
              <a:buNone/>
            </a:pPr>
            <a:r>
              <a:rPr lang="en-US" b="1" dirty="0"/>
              <a:t>1. Network Access Control</a:t>
            </a:r>
          </a:p>
          <a:p>
            <a:pPr>
              <a:lnSpc>
                <a:spcPct val="200000"/>
              </a:lnSpc>
            </a:pPr>
            <a:r>
              <a:rPr lang="en-US" dirty="0"/>
              <a:t>Customers manage </a:t>
            </a:r>
            <a:r>
              <a:rPr lang="en-US" b="1" dirty="0"/>
              <a:t>network-level access</a:t>
            </a:r>
            <a:r>
              <a:rPr lang="en-US" dirty="0"/>
              <a:t> to their virtual servers </a:t>
            </a:r>
            <a:r>
              <a:rPr lang="en-US" b="1" dirty="0">
                <a:solidFill>
                  <a:srgbClr val="FF0000"/>
                </a:solidFill>
              </a:rPr>
              <a:t>using firewall rules and security groups.</a:t>
            </a:r>
          </a:p>
          <a:p>
            <a:pPr>
              <a:lnSpc>
                <a:spcPct val="200000"/>
              </a:lnSpc>
            </a:pPr>
            <a:r>
              <a:rPr lang="en-US" dirty="0"/>
              <a:t>Default settings </a:t>
            </a:r>
            <a:r>
              <a:rPr lang="en-US" b="1" dirty="0">
                <a:solidFill>
                  <a:srgbClr val="FF0000"/>
                </a:solidFill>
              </a:rPr>
              <a:t>usually deny all incoming traffic, so users must explicitly configure rules to allow specific connections</a:t>
            </a:r>
            <a:r>
              <a:rPr lang="en-US" dirty="0"/>
              <a:t> (e.g., SSH access only from trusted IPs).</a:t>
            </a:r>
          </a:p>
          <a:p>
            <a:pPr>
              <a:lnSpc>
                <a:spcPct val="200000"/>
              </a:lnSpc>
            </a:pPr>
            <a:r>
              <a:rPr lang="en-US" dirty="0"/>
              <a:t>Example: Allowing access from IP 192.168.0.1 to the virtual server 10.0.0.1 on port 22 for SSH.</a:t>
            </a:r>
          </a:p>
          <a:p>
            <a:endParaRPr lang="en-US" dirty="0"/>
          </a:p>
        </p:txBody>
      </p:sp>
    </p:spTree>
    <p:extLst>
      <p:ext uri="{BB962C8B-B14F-4D97-AF65-F5344CB8AC3E}">
        <p14:creationId xmlns:p14="http://schemas.microsoft.com/office/powerpoint/2010/main" val="17767996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4427-2510-52BA-D056-8B9F4574A0DE}"/>
              </a:ext>
            </a:extLst>
          </p:cNvPr>
          <p:cNvSpPr>
            <a:spLocks noGrp="1"/>
          </p:cNvSpPr>
          <p:nvPr>
            <p:ph type="title"/>
          </p:nvPr>
        </p:nvSpPr>
        <p:spPr/>
        <p:txBody>
          <a:bodyPr>
            <a:normAutofit fontScale="90000"/>
          </a:bodyPr>
          <a:lstStyle/>
          <a:p>
            <a:r>
              <a:rPr lang="en-US" b="1" dirty="0"/>
              <a:t>2. Virtual Server Access Control</a:t>
            </a:r>
            <a:br>
              <a:rPr lang="en-US" b="1" dirty="0"/>
            </a:br>
            <a:endParaRPr lang="en-US" dirty="0"/>
          </a:p>
        </p:txBody>
      </p:sp>
      <p:sp>
        <p:nvSpPr>
          <p:cNvPr id="3" name="Text Placeholder 2">
            <a:extLst>
              <a:ext uri="{FF2B5EF4-FFF2-40B4-BE49-F238E27FC236}">
                <a16:creationId xmlns:a16="http://schemas.microsoft.com/office/drawing/2014/main" id="{539633DC-B878-222D-131E-732BAA1FAD37}"/>
              </a:ext>
            </a:extLst>
          </p:cNvPr>
          <p:cNvSpPr>
            <a:spLocks noGrp="1"/>
          </p:cNvSpPr>
          <p:nvPr>
            <p:ph type="body" idx="1"/>
          </p:nvPr>
        </p:nvSpPr>
        <p:spPr/>
        <p:txBody>
          <a:bodyPr>
            <a:normAutofit/>
          </a:bodyPr>
          <a:lstStyle/>
          <a:p>
            <a:pPr>
              <a:lnSpc>
                <a:spcPct val="200000"/>
              </a:lnSpc>
            </a:pPr>
            <a:r>
              <a:rPr lang="en-US" dirty="0"/>
              <a:t>Protect virtual servers using </a:t>
            </a:r>
            <a:r>
              <a:rPr lang="en-US" b="1" dirty="0">
                <a:solidFill>
                  <a:srgbClr val="FF0000"/>
                </a:solidFill>
              </a:rPr>
              <a:t>OS-level authentication mechanisms</a:t>
            </a:r>
            <a:r>
              <a:rPr lang="en-US" dirty="0">
                <a:solidFill>
                  <a:srgbClr val="FF0000"/>
                </a:solidFill>
              </a:rPr>
              <a:t> </a:t>
            </a:r>
            <a:r>
              <a:rPr lang="en-US" dirty="0"/>
              <a:t>(Linux, Solaris, Windows).</a:t>
            </a:r>
          </a:p>
          <a:p>
            <a:pPr>
              <a:lnSpc>
                <a:spcPct val="200000"/>
              </a:lnSpc>
            </a:pPr>
            <a:r>
              <a:rPr lang="en-US" dirty="0"/>
              <a:t>Use </a:t>
            </a:r>
            <a:r>
              <a:rPr lang="en-US" b="1" dirty="0"/>
              <a:t>SSH-based logins</a:t>
            </a:r>
            <a:r>
              <a:rPr lang="en-US" dirty="0"/>
              <a:t> with </a:t>
            </a:r>
            <a:r>
              <a:rPr lang="en-US" b="1" dirty="0"/>
              <a:t>strong authentication</a:t>
            </a:r>
            <a:r>
              <a:rPr lang="en-US" dirty="0"/>
              <a:t> to prevent attacks (IP spoofing, MITM, DNS spoofing, etc.).</a:t>
            </a:r>
          </a:p>
          <a:p>
            <a:pPr>
              <a:lnSpc>
                <a:spcPct val="200000"/>
              </a:lnSpc>
            </a:pPr>
            <a:r>
              <a:rPr lang="en-US" dirty="0"/>
              <a:t>Recommended methods:</a:t>
            </a:r>
          </a:p>
          <a:p>
            <a:pPr lvl="1">
              <a:lnSpc>
                <a:spcPct val="200000"/>
              </a:lnSpc>
            </a:pPr>
            <a:r>
              <a:rPr lang="en-US" b="1" dirty="0"/>
              <a:t>RSA host authentication</a:t>
            </a:r>
            <a:r>
              <a:rPr lang="en-US" dirty="0"/>
              <a:t> or pure RSA</a:t>
            </a:r>
          </a:p>
          <a:p>
            <a:pPr lvl="1">
              <a:lnSpc>
                <a:spcPct val="200000"/>
              </a:lnSpc>
            </a:pPr>
            <a:r>
              <a:rPr lang="en-US" b="1" dirty="0"/>
              <a:t>One-time passwords (S/Key)</a:t>
            </a:r>
            <a:endParaRPr lang="en-US" dirty="0"/>
          </a:p>
          <a:p>
            <a:pPr lvl="1">
              <a:lnSpc>
                <a:spcPct val="200000"/>
              </a:lnSpc>
            </a:pPr>
            <a:r>
              <a:rPr lang="en-US" b="1" dirty="0"/>
              <a:t>Kerberos authentication</a:t>
            </a:r>
            <a:endParaRPr lang="en-US" dirty="0"/>
          </a:p>
          <a:p>
            <a:pPr>
              <a:lnSpc>
                <a:spcPct val="200000"/>
              </a:lnSpc>
            </a:pPr>
            <a:r>
              <a:rPr lang="en-US" b="1" dirty="0"/>
              <a:t>Store RSA keys securely</a:t>
            </a:r>
            <a:r>
              <a:rPr lang="en-US" dirty="0"/>
              <a:t> (e.g., encrypted media with passphrase protection).</a:t>
            </a:r>
          </a:p>
          <a:p>
            <a:endParaRPr lang="en-US" dirty="0"/>
          </a:p>
        </p:txBody>
      </p:sp>
    </p:spTree>
    <p:extLst>
      <p:ext uri="{BB962C8B-B14F-4D97-AF65-F5344CB8AC3E}">
        <p14:creationId xmlns:p14="http://schemas.microsoft.com/office/powerpoint/2010/main" val="15172162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41593-384C-644D-44F3-8304DF022EEE}"/>
              </a:ext>
            </a:extLst>
          </p:cNvPr>
          <p:cNvSpPr>
            <a:spLocks noGrp="1"/>
          </p:cNvSpPr>
          <p:nvPr>
            <p:ph type="title"/>
          </p:nvPr>
        </p:nvSpPr>
        <p:spPr/>
        <p:txBody>
          <a:bodyPr>
            <a:normAutofit fontScale="90000"/>
          </a:bodyPr>
          <a:lstStyle/>
          <a:p>
            <a:r>
              <a:rPr lang="en-US" b="1" dirty="0"/>
              <a:t>3.   Cloud Management Station</a:t>
            </a:r>
            <a:br>
              <a:rPr lang="en-US" b="1" dirty="0"/>
            </a:br>
            <a:endParaRPr lang="en-US" dirty="0"/>
          </a:p>
        </p:txBody>
      </p:sp>
      <p:sp>
        <p:nvSpPr>
          <p:cNvPr id="3" name="Text Placeholder 2">
            <a:extLst>
              <a:ext uri="{FF2B5EF4-FFF2-40B4-BE49-F238E27FC236}">
                <a16:creationId xmlns:a16="http://schemas.microsoft.com/office/drawing/2014/main" id="{1410A7AF-A0F0-8FDC-3D52-C8F89FF3D221}"/>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8D9340C5-34A0-4235-0214-E515F00A38A0}"/>
              </a:ext>
            </a:extLst>
          </p:cNvPr>
          <p:cNvPicPr>
            <a:picLocks noChangeAspect="1"/>
          </p:cNvPicPr>
          <p:nvPr/>
        </p:nvPicPr>
        <p:blipFill>
          <a:blip r:embed="rId2"/>
          <a:stretch>
            <a:fillRect/>
          </a:stretch>
        </p:blipFill>
        <p:spPr>
          <a:xfrm>
            <a:off x="629920" y="1981200"/>
            <a:ext cx="11146480" cy="3891279"/>
          </a:xfrm>
          <a:prstGeom prst="rect">
            <a:avLst/>
          </a:prstGeom>
        </p:spPr>
      </p:pic>
    </p:spTree>
    <p:extLst>
      <p:ext uri="{BB962C8B-B14F-4D97-AF65-F5344CB8AC3E}">
        <p14:creationId xmlns:p14="http://schemas.microsoft.com/office/powerpoint/2010/main" val="893960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66CB8-D31E-0C2F-A593-A8B5B43C129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678CFEC-BAC7-4A1C-8B41-3DF4AF685555}"/>
              </a:ext>
            </a:extLst>
          </p:cNvPr>
          <p:cNvSpPr>
            <a:spLocks noGrp="1"/>
          </p:cNvSpPr>
          <p:nvPr>
            <p:ph type="body" idx="1"/>
          </p:nvPr>
        </p:nvSpPr>
        <p:spPr/>
        <p:txBody>
          <a:bodyPr/>
          <a:lstStyle/>
          <a:p>
            <a:pPr algn="just"/>
            <a:r>
              <a:rPr lang="en-US" dirty="0"/>
              <a:t> </a:t>
            </a:r>
            <a:r>
              <a:rPr lang="en-US" sz="2400" b="1" dirty="0"/>
              <a:t>A software suite that provides a unified console to manage, monitor, and optimize cloud resources across multiple cloud environments.</a:t>
            </a:r>
            <a:endParaRPr lang="en-US" b="1" dirty="0"/>
          </a:p>
        </p:txBody>
      </p:sp>
    </p:spTree>
    <p:extLst>
      <p:ext uri="{BB962C8B-B14F-4D97-AF65-F5344CB8AC3E}">
        <p14:creationId xmlns:p14="http://schemas.microsoft.com/office/powerpoint/2010/main" val="1740911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85FC-934D-D199-6BCF-65B92B45050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2F258FF-1E74-CED8-21AF-A3F23A75ABAF}"/>
              </a:ext>
            </a:extLst>
          </p:cNvPr>
          <p:cNvSpPr>
            <a:spLocks noGrp="1"/>
          </p:cNvSpPr>
          <p:nvPr>
            <p:ph type="body" idx="1"/>
          </p:nvPr>
        </p:nvSpPr>
        <p:spPr/>
        <p:txBody>
          <a:bodyPr>
            <a:normAutofit lnSpcReduction="10000"/>
          </a:bodyPr>
          <a:lstStyle/>
          <a:p>
            <a:pPr marL="152396" indent="0">
              <a:lnSpc>
                <a:spcPct val="150000"/>
              </a:lnSpc>
              <a:buNone/>
            </a:pPr>
            <a:r>
              <a:rPr lang="en-US" sz="2800" b="1" dirty="0"/>
              <a:t>4. Web-Based Console</a:t>
            </a:r>
          </a:p>
          <a:p>
            <a:pPr>
              <a:lnSpc>
                <a:spcPct val="150000"/>
              </a:lnSpc>
            </a:pPr>
            <a:r>
              <a:rPr lang="en-US" sz="2800" dirty="0"/>
              <a:t>Provides an </a:t>
            </a:r>
            <a:r>
              <a:rPr lang="en-US" sz="2800" b="1" dirty="0"/>
              <a:t>alternative interface</a:t>
            </a:r>
            <a:r>
              <a:rPr lang="en-US" sz="2800" dirty="0"/>
              <a:t> to manage cloud infrastructure.</a:t>
            </a:r>
          </a:p>
          <a:p>
            <a:pPr>
              <a:lnSpc>
                <a:spcPct val="150000"/>
              </a:lnSpc>
            </a:pPr>
            <a:r>
              <a:rPr lang="en-US" sz="2800" dirty="0"/>
              <a:t>Offers control over </a:t>
            </a:r>
            <a:r>
              <a:rPr lang="en-US" sz="2800" b="1" dirty="0"/>
              <a:t>virtual servers, networks, and security configurations</a:t>
            </a:r>
            <a:r>
              <a:rPr lang="en-US" sz="2800" dirty="0"/>
              <a:t>.</a:t>
            </a:r>
          </a:p>
          <a:p>
            <a:pPr>
              <a:lnSpc>
                <a:spcPct val="150000"/>
              </a:lnSpc>
            </a:pPr>
            <a:r>
              <a:rPr lang="en-US" sz="2800" dirty="0"/>
              <a:t>Must be protected as it gives </a:t>
            </a:r>
            <a:r>
              <a:rPr lang="en-US" sz="2800" b="1" dirty="0"/>
              <a:t>high-level administrative access</a:t>
            </a:r>
            <a:r>
              <a:rPr lang="en-US" sz="2800" dirty="0"/>
              <a:t>.</a:t>
            </a:r>
          </a:p>
          <a:p>
            <a:pPr>
              <a:lnSpc>
                <a:spcPct val="150000"/>
              </a:lnSpc>
            </a:pPr>
            <a:r>
              <a:rPr lang="en-US" sz="2800" dirty="0"/>
              <a:t>Access should be </a:t>
            </a:r>
            <a:r>
              <a:rPr lang="en-US" sz="2800" b="1" dirty="0"/>
              <a:t>restricted to HTTPS</a:t>
            </a:r>
            <a:r>
              <a:rPr lang="en-US" sz="2800" dirty="0"/>
              <a:t> connections and authorized users only.</a:t>
            </a:r>
          </a:p>
          <a:p>
            <a:endParaRPr lang="en-US" dirty="0"/>
          </a:p>
        </p:txBody>
      </p:sp>
    </p:spTree>
    <p:extLst>
      <p:ext uri="{BB962C8B-B14F-4D97-AF65-F5344CB8AC3E}">
        <p14:creationId xmlns:p14="http://schemas.microsoft.com/office/powerpoint/2010/main" val="41896251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DA5A4-7D04-B313-7AFE-2DAC77EA29C0}"/>
              </a:ext>
            </a:extLst>
          </p:cNvPr>
          <p:cNvSpPr>
            <a:spLocks noGrp="1"/>
          </p:cNvSpPr>
          <p:nvPr>
            <p:ph type="title"/>
          </p:nvPr>
        </p:nvSpPr>
        <p:spPr/>
        <p:txBody>
          <a:bodyPr/>
          <a:lstStyle/>
          <a:p>
            <a:r>
              <a:rPr lang="en-US" b="1" dirty="0">
                <a:solidFill>
                  <a:srgbClr val="FF0000"/>
                </a:solidFill>
              </a:rPr>
              <a:t>Security Vulnerability, Patch, and Configuration Management</a:t>
            </a:r>
          </a:p>
        </p:txBody>
      </p:sp>
      <p:sp>
        <p:nvSpPr>
          <p:cNvPr id="3" name="Text Placeholder 2">
            <a:extLst>
              <a:ext uri="{FF2B5EF4-FFF2-40B4-BE49-F238E27FC236}">
                <a16:creationId xmlns:a16="http://schemas.microsoft.com/office/drawing/2014/main" id="{D95EE3EB-BEE4-A8DA-D1CF-6F71D1FE63BD}"/>
              </a:ext>
            </a:extLst>
          </p:cNvPr>
          <p:cNvSpPr>
            <a:spLocks noGrp="1"/>
          </p:cNvSpPr>
          <p:nvPr>
            <p:ph type="body" idx="1"/>
          </p:nvPr>
        </p:nvSpPr>
        <p:spPr/>
        <p:txBody>
          <a:bodyPr>
            <a:normAutofit lnSpcReduction="10000"/>
          </a:bodyPr>
          <a:lstStyle/>
          <a:p>
            <a:pPr marL="152396" indent="0">
              <a:lnSpc>
                <a:spcPct val="200000"/>
              </a:lnSpc>
              <a:buNone/>
            </a:pPr>
            <a:r>
              <a:rPr lang="en-US" b="1" dirty="0"/>
              <a:t>1. INTRODUCTION</a:t>
            </a:r>
          </a:p>
          <a:p>
            <a:pPr>
              <a:lnSpc>
                <a:spcPct val="200000"/>
              </a:lnSpc>
            </a:pPr>
            <a:r>
              <a:rPr lang="en-US" dirty="0"/>
              <a:t>Cloud systems face major risks from </a:t>
            </a:r>
            <a:r>
              <a:rPr lang="en-US" b="1" dirty="0">
                <a:solidFill>
                  <a:srgbClr val="FF0000"/>
                </a:solidFill>
              </a:rPr>
              <a:t>malware</a:t>
            </a:r>
            <a:r>
              <a:rPr lang="en-US" dirty="0">
                <a:solidFill>
                  <a:srgbClr val="FF0000"/>
                </a:solidFill>
              </a:rPr>
              <a:t> or attackers </a:t>
            </a:r>
            <a:r>
              <a:rPr lang="en-US" dirty="0"/>
              <a:t>exploiting vulnerabilities in </a:t>
            </a:r>
            <a:r>
              <a:rPr lang="en-US" b="1" dirty="0">
                <a:solidFill>
                  <a:srgbClr val="FF0000"/>
                </a:solidFill>
              </a:rPr>
              <a:t>infrastructure, networks, and applications.</a:t>
            </a:r>
          </a:p>
          <a:p>
            <a:pPr>
              <a:lnSpc>
                <a:spcPct val="200000"/>
              </a:lnSpc>
            </a:pPr>
            <a:r>
              <a:rPr lang="en-US" dirty="0"/>
              <a:t>This risk is </a:t>
            </a:r>
            <a:r>
              <a:rPr lang="en-US" b="1" dirty="0"/>
              <a:t>higher in PaaS and IaaS models</a:t>
            </a:r>
            <a:r>
              <a:rPr lang="en-US" dirty="0"/>
              <a:t>, where customers have more control — and therefore, more </a:t>
            </a:r>
            <a:r>
              <a:rPr lang="en-US" b="1" dirty="0"/>
              <a:t>security responsibilities</a:t>
            </a:r>
            <a:r>
              <a:rPr lang="en-US" dirty="0"/>
              <a:t>.</a:t>
            </a:r>
          </a:p>
          <a:p>
            <a:pPr>
              <a:lnSpc>
                <a:spcPct val="200000"/>
              </a:lnSpc>
            </a:pPr>
            <a:r>
              <a:rPr lang="en-US" dirty="0"/>
              <a:t>Because cloud environments are </a:t>
            </a:r>
            <a:r>
              <a:rPr lang="en-US" b="1" dirty="0"/>
              <a:t>multi-tenant</a:t>
            </a:r>
            <a:r>
              <a:rPr lang="en-US" dirty="0"/>
              <a:t>, the </a:t>
            </a:r>
            <a:r>
              <a:rPr lang="en-US" b="1" dirty="0"/>
              <a:t>security of one tenant affects others</a:t>
            </a:r>
            <a:r>
              <a:rPr lang="en-US" dirty="0"/>
              <a:t>.</a:t>
            </a:r>
          </a:p>
          <a:p>
            <a:pPr>
              <a:lnSpc>
                <a:spcPct val="200000"/>
              </a:lnSpc>
            </a:pPr>
            <a:r>
              <a:rPr lang="en-US" b="1" dirty="0"/>
              <a:t>Customers must understand their responsibilities</a:t>
            </a:r>
            <a:r>
              <a:rPr lang="en-US" dirty="0"/>
              <a:t> and </a:t>
            </a:r>
            <a:r>
              <a:rPr lang="en-US" b="1" dirty="0">
                <a:solidFill>
                  <a:srgbClr val="FF0000"/>
                </a:solidFill>
              </a:rPr>
              <a:t>demand transparency from CSPs </a:t>
            </a:r>
            <a:r>
              <a:rPr lang="en-US" dirty="0"/>
              <a:t>to plan complementary security measures.</a:t>
            </a:r>
          </a:p>
          <a:p>
            <a:endParaRPr lang="en-US" dirty="0"/>
          </a:p>
        </p:txBody>
      </p:sp>
    </p:spTree>
    <p:extLst>
      <p:ext uri="{BB962C8B-B14F-4D97-AF65-F5344CB8AC3E}">
        <p14:creationId xmlns:p14="http://schemas.microsoft.com/office/powerpoint/2010/main" val="320578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A3638B-6A74-C19F-4C28-AD6F6C456BDC}"/>
              </a:ext>
            </a:extLst>
          </p:cNvPr>
          <p:cNvSpPr>
            <a:spLocks noGrp="1"/>
          </p:cNvSpPr>
          <p:nvPr>
            <p:ph type="body" idx="1"/>
          </p:nvPr>
        </p:nvSpPr>
        <p:spPr>
          <a:xfrm>
            <a:off x="415600" y="505838"/>
            <a:ext cx="11360800" cy="5585895"/>
          </a:xfrm>
        </p:spPr>
        <p:txBody>
          <a:bodyPr>
            <a:normAutofit/>
          </a:bodyPr>
          <a:lstStyle/>
          <a:p>
            <a:pPr marL="152396" indent="0">
              <a:lnSpc>
                <a:spcPct val="150000"/>
              </a:lnSpc>
              <a:buNone/>
            </a:pPr>
            <a:r>
              <a:rPr lang="en-US" b="1" dirty="0"/>
              <a:t>2. Shared Responsibilities</a:t>
            </a:r>
          </a:p>
          <a:p>
            <a:pPr>
              <a:lnSpc>
                <a:spcPct val="150000"/>
              </a:lnSpc>
            </a:pPr>
            <a:r>
              <a:rPr lang="en-US" b="1" dirty="0"/>
              <a:t>CSP Responsibilities:</a:t>
            </a:r>
            <a:endParaRPr lang="en-US" dirty="0"/>
          </a:p>
          <a:p>
            <a:pPr lvl="1">
              <a:lnSpc>
                <a:spcPct val="150000"/>
              </a:lnSpc>
            </a:pPr>
            <a:r>
              <a:rPr lang="en-US" dirty="0"/>
              <a:t>Manage </a:t>
            </a:r>
            <a:r>
              <a:rPr lang="en-US" b="1" dirty="0"/>
              <a:t>vulnerability, patch, and configuration (VPC)</a:t>
            </a:r>
            <a:r>
              <a:rPr lang="en-US" dirty="0"/>
              <a:t> of the infrastructure components they operate </a:t>
            </a:r>
            <a:r>
              <a:rPr lang="en-US" b="1" dirty="0">
                <a:solidFill>
                  <a:srgbClr val="FF0000"/>
                </a:solidFill>
              </a:rPr>
              <a:t>(networks, hosts, applications, storage).</a:t>
            </a:r>
          </a:p>
          <a:p>
            <a:pPr lvl="1">
              <a:lnSpc>
                <a:spcPct val="150000"/>
              </a:lnSpc>
            </a:pPr>
            <a:r>
              <a:rPr lang="en-US" dirty="0"/>
              <a:t>Include </a:t>
            </a:r>
            <a:r>
              <a:rPr lang="en-US" b="1" dirty="0"/>
              <a:t>third-party services</a:t>
            </a:r>
            <a:r>
              <a:rPr lang="en-US" dirty="0"/>
              <a:t> they depend on.</a:t>
            </a:r>
          </a:p>
          <a:p>
            <a:pPr lvl="1">
              <a:lnSpc>
                <a:spcPct val="150000"/>
              </a:lnSpc>
            </a:pPr>
            <a:r>
              <a:rPr lang="en-US" dirty="0"/>
              <a:t>Maintain internal </a:t>
            </a:r>
            <a:r>
              <a:rPr lang="en-US" b="1" dirty="0"/>
              <a:t>VPC programs</a:t>
            </a:r>
            <a:r>
              <a:rPr lang="en-US" dirty="0"/>
              <a:t> aligned with </a:t>
            </a:r>
            <a:r>
              <a:rPr lang="en-US" b="1" dirty="0"/>
              <a:t>ISO/IEC 27002 controls</a:t>
            </a:r>
            <a:r>
              <a:rPr lang="en-US" dirty="0"/>
              <a:t> for technical assurance.</a:t>
            </a:r>
          </a:p>
          <a:p>
            <a:pPr>
              <a:lnSpc>
                <a:spcPct val="150000"/>
              </a:lnSpc>
            </a:pPr>
            <a:r>
              <a:rPr lang="en-US" b="1" dirty="0"/>
              <a:t>Customer Responsibilities:</a:t>
            </a:r>
            <a:endParaRPr lang="en-US" dirty="0"/>
          </a:p>
          <a:p>
            <a:pPr lvl="1">
              <a:lnSpc>
                <a:spcPct val="150000"/>
              </a:lnSpc>
            </a:pPr>
            <a:r>
              <a:rPr lang="en-US" dirty="0"/>
              <a:t>Manage vulnerabilities and configurations </a:t>
            </a:r>
            <a:r>
              <a:rPr lang="en-US" dirty="0">
                <a:solidFill>
                  <a:srgbClr val="FF0000"/>
                </a:solidFill>
              </a:rPr>
              <a:t>for </a:t>
            </a:r>
            <a:r>
              <a:rPr lang="en-US" b="1" dirty="0">
                <a:solidFill>
                  <a:srgbClr val="FF0000"/>
                </a:solidFill>
              </a:rPr>
              <a:t>systems and applications they deploy or control</a:t>
            </a:r>
            <a:r>
              <a:rPr lang="en-US" dirty="0">
                <a:solidFill>
                  <a:srgbClr val="FF0000"/>
                </a:solidFill>
              </a:rPr>
              <a:t>.</a:t>
            </a:r>
          </a:p>
          <a:p>
            <a:pPr lvl="1">
              <a:lnSpc>
                <a:spcPct val="150000"/>
              </a:lnSpc>
            </a:pPr>
            <a:r>
              <a:rPr lang="en-US" dirty="0"/>
              <a:t>Understand their </a:t>
            </a:r>
            <a:r>
              <a:rPr lang="en-US" b="1" dirty="0">
                <a:solidFill>
                  <a:srgbClr val="FF0000"/>
                </a:solidFill>
              </a:rPr>
              <a:t>VPC boundaries and ensure end-to-end security (</a:t>
            </a:r>
            <a:r>
              <a:rPr lang="en-US" dirty="0"/>
              <a:t>especially for customer-managed systems).</a:t>
            </a:r>
          </a:p>
          <a:p>
            <a:pPr lvl="1">
              <a:lnSpc>
                <a:spcPct val="150000"/>
              </a:lnSpc>
            </a:pPr>
            <a:r>
              <a:rPr lang="en-US" dirty="0"/>
              <a:t>Extend their </a:t>
            </a:r>
            <a:r>
              <a:rPr lang="en-US" b="1" dirty="0"/>
              <a:t>internal security management</a:t>
            </a:r>
            <a:r>
              <a:rPr lang="en-US" dirty="0"/>
              <a:t> to cover cloud-based components.</a:t>
            </a:r>
          </a:p>
          <a:p>
            <a:endParaRPr lang="en-US" dirty="0"/>
          </a:p>
        </p:txBody>
      </p:sp>
    </p:spTree>
    <p:extLst>
      <p:ext uri="{BB962C8B-B14F-4D97-AF65-F5344CB8AC3E}">
        <p14:creationId xmlns:p14="http://schemas.microsoft.com/office/powerpoint/2010/main" val="2005183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8287-A678-1656-2ED1-AC0E341CDD79}"/>
              </a:ext>
            </a:extLst>
          </p:cNvPr>
          <p:cNvSpPr>
            <a:spLocks noGrp="1"/>
          </p:cNvSpPr>
          <p:nvPr>
            <p:ph type="title"/>
          </p:nvPr>
        </p:nvSpPr>
        <p:spPr/>
        <p:txBody>
          <a:bodyPr/>
          <a:lstStyle/>
          <a:p>
            <a:r>
              <a:rPr lang="en-US" dirty="0"/>
              <a:t>Security Vulnerability Management</a:t>
            </a:r>
          </a:p>
        </p:txBody>
      </p:sp>
      <p:sp>
        <p:nvSpPr>
          <p:cNvPr id="3" name="Text Placeholder 2">
            <a:extLst>
              <a:ext uri="{FF2B5EF4-FFF2-40B4-BE49-F238E27FC236}">
                <a16:creationId xmlns:a16="http://schemas.microsoft.com/office/drawing/2014/main" id="{4F4FC6AE-0AF3-F8BF-736E-D46F3F648E9B}"/>
              </a:ext>
            </a:extLst>
          </p:cNvPr>
          <p:cNvSpPr>
            <a:spLocks noGrp="1"/>
          </p:cNvSpPr>
          <p:nvPr>
            <p:ph type="body" idx="1"/>
          </p:nvPr>
        </p:nvSpPr>
        <p:spPr>
          <a:xfrm>
            <a:off x="415600" y="1127760"/>
            <a:ext cx="11360800" cy="4963973"/>
          </a:xfrm>
        </p:spPr>
        <p:txBody>
          <a:bodyPr>
            <a:normAutofit fontScale="92500" lnSpcReduction="20000"/>
          </a:bodyPr>
          <a:lstStyle/>
          <a:p>
            <a:pPr marL="152396" indent="0">
              <a:lnSpc>
                <a:spcPct val="150000"/>
              </a:lnSpc>
              <a:buNone/>
            </a:pPr>
            <a:r>
              <a:rPr lang="en-US" b="1" dirty="0"/>
              <a:t>Definition &amp; Objective</a:t>
            </a:r>
          </a:p>
          <a:p>
            <a:pPr>
              <a:lnSpc>
                <a:spcPct val="150000"/>
              </a:lnSpc>
            </a:pPr>
            <a:r>
              <a:rPr lang="en-US" dirty="0"/>
              <a:t>Vulnerability management is a </a:t>
            </a:r>
            <a:r>
              <a:rPr lang="en-US" b="1" dirty="0"/>
              <a:t>proactive process</a:t>
            </a:r>
            <a:r>
              <a:rPr lang="en-US" dirty="0"/>
              <a:t> to detect and mitigate weaknesses in </a:t>
            </a:r>
            <a:r>
              <a:rPr lang="en-US" b="1" dirty="0"/>
              <a:t>hosts, networks, and applications</a:t>
            </a:r>
            <a:r>
              <a:rPr lang="en-US" dirty="0"/>
              <a:t> before attackers can exploit them.</a:t>
            </a:r>
          </a:p>
          <a:p>
            <a:pPr>
              <a:lnSpc>
                <a:spcPct val="150000"/>
              </a:lnSpc>
            </a:pPr>
            <a:r>
              <a:rPr lang="en-US" dirty="0"/>
              <a:t>Based on </a:t>
            </a:r>
            <a:r>
              <a:rPr lang="en-US" b="1" dirty="0"/>
              <a:t>ISO/IEC 27002</a:t>
            </a:r>
            <a:r>
              <a:rPr lang="en-US" dirty="0"/>
              <a:t>, the </a:t>
            </a:r>
            <a:r>
              <a:rPr lang="en-US" b="1" dirty="0"/>
              <a:t>objective</a:t>
            </a:r>
            <a:r>
              <a:rPr lang="en-US" dirty="0"/>
              <a:t> is:</a:t>
            </a:r>
          </a:p>
          <a:p>
            <a:pPr>
              <a:lnSpc>
                <a:spcPct val="150000"/>
              </a:lnSpc>
            </a:pPr>
            <a:r>
              <a:rPr lang="en-US" b="1" dirty="0">
                <a:solidFill>
                  <a:srgbClr val="FF0000"/>
                </a:solidFill>
              </a:rPr>
              <a:t>“To reduce risks resulting from exploitation of published technical vulnerabilities.”</a:t>
            </a:r>
          </a:p>
          <a:p>
            <a:pPr>
              <a:lnSpc>
                <a:spcPct val="150000"/>
              </a:lnSpc>
            </a:pPr>
            <a:r>
              <a:rPr lang="en-US" dirty="0"/>
              <a:t>Requires a </a:t>
            </a:r>
            <a:r>
              <a:rPr lang="en-US" b="1" dirty="0"/>
              <a:t>systematic, repeatable, and measurable process</a:t>
            </a:r>
            <a:r>
              <a:rPr lang="en-US" dirty="0"/>
              <a:t>, including:</a:t>
            </a:r>
          </a:p>
          <a:p>
            <a:pPr lvl="1">
              <a:lnSpc>
                <a:spcPct val="150000"/>
              </a:lnSpc>
            </a:pPr>
            <a:r>
              <a:rPr lang="en-US" dirty="0"/>
              <a:t>Regular </a:t>
            </a:r>
            <a:r>
              <a:rPr lang="en-US" b="1" dirty="0"/>
              <a:t>vulnerability scans</a:t>
            </a:r>
            <a:r>
              <a:rPr lang="en-US" dirty="0"/>
              <a:t>.</a:t>
            </a:r>
          </a:p>
          <a:p>
            <a:pPr lvl="1">
              <a:lnSpc>
                <a:spcPct val="150000"/>
              </a:lnSpc>
            </a:pPr>
            <a:r>
              <a:rPr lang="en-US" b="1" dirty="0"/>
              <a:t>Risk assessment</a:t>
            </a:r>
            <a:r>
              <a:rPr lang="en-US" dirty="0"/>
              <a:t> for each finding.</a:t>
            </a:r>
          </a:p>
          <a:p>
            <a:pPr lvl="1">
              <a:lnSpc>
                <a:spcPct val="150000"/>
              </a:lnSpc>
            </a:pPr>
            <a:r>
              <a:rPr lang="en-US" b="1" dirty="0"/>
              <a:t>Remediation</a:t>
            </a:r>
            <a:r>
              <a:rPr lang="en-US" dirty="0"/>
              <a:t> through patching or configuration updates.</a:t>
            </a:r>
          </a:p>
          <a:p>
            <a:pPr>
              <a:lnSpc>
                <a:spcPct val="150000"/>
              </a:lnSpc>
            </a:pPr>
            <a:r>
              <a:rPr lang="en-US" b="1" dirty="0"/>
              <a:t>Shared Role</a:t>
            </a:r>
          </a:p>
          <a:p>
            <a:pPr>
              <a:lnSpc>
                <a:spcPct val="150000"/>
              </a:lnSpc>
            </a:pPr>
            <a:r>
              <a:rPr lang="en-US" b="1" dirty="0"/>
              <a:t>Both CSPs and customers</a:t>
            </a:r>
            <a:r>
              <a:rPr lang="en-US" dirty="0"/>
              <a:t> share responsibility depending on the </a:t>
            </a:r>
            <a:r>
              <a:rPr lang="en-US" b="1" dirty="0"/>
              <a:t>cloud model (SPI)</a:t>
            </a:r>
            <a:r>
              <a:rPr lang="en-US" dirty="0"/>
              <a:t>:</a:t>
            </a:r>
          </a:p>
          <a:p>
            <a:pPr lvl="1">
              <a:lnSpc>
                <a:spcPct val="150000"/>
              </a:lnSpc>
            </a:pPr>
            <a:r>
              <a:rPr lang="en-US" b="1" dirty="0">
                <a:solidFill>
                  <a:srgbClr val="FF0000"/>
                </a:solidFill>
              </a:rPr>
              <a:t>SaaS: CSP handles most vulnerability management.</a:t>
            </a:r>
          </a:p>
          <a:p>
            <a:pPr lvl="1">
              <a:lnSpc>
                <a:spcPct val="150000"/>
              </a:lnSpc>
            </a:pPr>
            <a:r>
              <a:rPr lang="en-US" b="1" dirty="0">
                <a:solidFill>
                  <a:srgbClr val="FF0000"/>
                </a:solidFill>
              </a:rPr>
              <a:t>PaaS: Shared — CSP manages platform, customer manages app-level vulnerabilities.</a:t>
            </a:r>
          </a:p>
          <a:p>
            <a:pPr lvl="1">
              <a:lnSpc>
                <a:spcPct val="150000"/>
              </a:lnSpc>
            </a:pPr>
            <a:r>
              <a:rPr lang="en-US" b="1" dirty="0">
                <a:solidFill>
                  <a:srgbClr val="FF0000"/>
                </a:solidFill>
              </a:rPr>
              <a:t>IaaS: Customer handles VM, OS, and app vulnerabilities.</a:t>
            </a:r>
          </a:p>
          <a:p>
            <a:endParaRPr lang="en-US" dirty="0"/>
          </a:p>
        </p:txBody>
      </p:sp>
    </p:spTree>
    <p:extLst>
      <p:ext uri="{BB962C8B-B14F-4D97-AF65-F5344CB8AC3E}">
        <p14:creationId xmlns:p14="http://schemas.microsoft.com/office/powerpoint/2010/main" val="11521263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68E9-E04C-BD72-3459-5BDC945A1CB6}"/>
              </a:ext>
            </a:extLst>
          </p:cNvPr>
          <p:cNvSpPr>
            <a:spLocks noGrp="1"/>
          </p:cNvSpPr>
          <p:nvPr>
            <p:ph type="title"/>
          </p:nvPr>
        </p:nvSpPr>
        <p:spPr/>
        <p:txBody>
          <a:bodyPr>
            <a:normAutofit fontScale="90000"/>
          </a:bodyPr>
          <a:lstStyle/>
          <a:p>
            <a:r>
              <a:rPr lang="en-US" b="1" dirty="0"/>
              <a:t>Security Patch Management</a:t>
            </a:r>
            <a:br>
              <a:rPr lang="en-US" b="1" dirty="0"/>
            </a:br>
            <a:endParaRPr lang="en-US" dirty="0"/>
          </a:p>
        </p:txBody>
      </p:sp>
      <p:sp>
        <p:nvSpPr>
          <p:cNvPr id="3" name="Text Placeholder 2">
            <a:extLst>
              <a:ext uri="{FF2B5EF4-FFF2-40B4-BE49-F238E27FC236}">
                <a16:creationId xmlns:a16="http://schemas.microsoft.com/office/drawing/2014/main" id="{65376267-30D5-E9CB-437E-906D24CB9B70}"/>
              </a:ext>
            </a:extLst>
          </p:cNvPr>
          <p:cNvSpPr>
            <a:spLocks noGrp="1"/>
          </p:cNvSpPr>
          <p:nvPr>
            <p:ph type="body" idx="1"/>
          </p:nvPr>
        </p:nvSpPr>
        <p:spPr>
          <a:xfrm>
            <a:off x="415600" y="1186774"/>
            <a:ext cx="11360800" cy="4904959"/>
          </a:xfrm>
        </p:spPr>
        <p:txBody>
          <a:bodyPr/>
          <a:lstStyle/>
          <a:p>
            <a:pPr marL="152396" indent="0">
              <a:lnSpc>
                <a:spcPct val="150000"/>
              </a:lnSpc>
              <a:buNone/>
            </a:pPr>
            <a:r>
              <a:rPr lang="en-US" b="1" dirty="0"/>
              <a:t>Purpose</a:t>
            </a:r>
          </a:p>
          <a:p>
            <a:pPr>
              <a:lnSpc>
                <a:spcPct val="150000"/>
              </a:lnSpc>
            </a:pPr>
            <a:r>
              <a:rPr lang="en-US" dirty="0"/>
              <a:t>Patch management protects systems from attacks exploiting </a:t>
            </a:r>
            <a:r>
              <a:rPr lang="en-US" b="1" dirty="0"/>
              <a:t>known vulnerabilities</a:t>
            </a:r>
            <a:r>
              <a:rPr lang="en-US" dirty="0"/>
              <a:t>.</a:t>
            </a:r>
          </a:p>
          <a:p>
            <a:pPr>
              <a:lnSpc>
                <a:spcPct val="150000"/>
              </a:lnSpc>
            </a:pPr>
            <a:r>
              <a:rPr lang="en-US" dirty="0"/>
              <a:t>It follows a </a:t>
            </a:r>
            <a:r>
              <a:rPr lang="en-US" b="1" dirty="0"/>
              <a:t>change management process</a:t>
            </a:r>
            <a:r>
              <a:rPr lang="en-US" dirty="0"/>
              <a:t>, often triggered by vulnerability scan results.</a:t>
            </a:r>
          </a:p>
          <a:p>
            <a:pPr>
              <a:lnSpc>
                <a:spcPct val="150000"/>
              </a:lnSpc>
            </a:pPr>
            <a:r>
              <a:rPr lang="en-US" dirty="0"/>
              <a:t>Regular patching reduces </a:t>
            </a:r>
            <a:r>
              <a:rPr lang="en-US" b="1" dirty="0"/>
              <a:t>insider and outsider threats</a:t>
            </a:r>
            <a:r>
              <a:rPr lang="en-US" dirty="0"/>
              <a:t>.</a:t>
            </a:r>
          </a:p>
          <a:p>
            <a:endParaRPr lang="en-US" dirty="0"/>
          </a:p>
        </p:txBody>
      </p:sp>
      <p:graphicFrame>
        <p:nvGraphicFramePr>
          <p:cNvPr id="4" name="Table 3">
            <a:extLst>
              <a:ext uri="{FF2B5EF4-FFF2-40B4-BE49-F238E27FC236}">
                <a16:creationId xmlns:a16="http://schemas.microsoft.com/office/drawing/2014/main" id="{B3453CC4-AF13-17BF-779F-F52BE91855D9}"/>
              </a:ext>
            </a:extLst>
          </p:cNvPr>
          <p:cNvGraphicFramePr>
            <a:graphicFrameLocks noGrp="1"/>
          </p:cNvGraphicFramePr>
          <p:nvPr>
            <p:extLst>
              <p:ext uri="{D42A27DB-BD31-4B8C-83A1-F6EECF244321}">
                <p14:modId xmlns:p14="http://schemas.microsoft.com/office/powerpoint/2010/main" val="1021142811"/>
              </p:ext>
            </p:extLst>
          </p:nvPr>
        </p:nvGraphicFramePr>
        <p:xfrm>
          <a:off x="600750" y="3100661"/>
          <a:ext cx="11360151" cy="3261360"/>
        </p:xfrm>
        <a:graphic>
          <a:graphicData uri="http://schemas.openxmlformats.org/drawingml/2006/table">
            <a:tbl>
              <a:tblPr/>
              <a:tblGrid>
                <a:gridCol w="3786717">
                  <a:extLst>
                    <a:ext uri="{9D8B030D-6E8A-4147-A177-3AD203B41FA5}">
                      <a16:colId xmlns:a16="http://schemas.microsoft.com/office/drawing/2014/main" val="614853821"/>
                    </a:ext>
                  </a:extLst>
                </a:gridCol>
                <a:gridCol w="3786717">
                  <a:extLst>
                    <a:ext uri="{9D8B030D-6E8A-4147-A177-3AD203B41FA5}">
                      <a16:colId xmlns:a16="http://schemas.microsoft.com/office/drawing/2014/main" val="3555425141"/>
                    </a:ext>
                  </a:extLst>
                </a:gridCol>
                <a:gridCol w="3786717">
                  <a:extLst>
                    <a:ext uri="{9D8B030D-6E8A-4147-A177-3AD203B41FA5}">
                      <a16:colId xmlns:a16="http://schemas.microsoft.com/office/drawing/2014/main" val="3534550881"/>
                    </a:ext>
                  </a:extLst>
                </a:gridCol>
              </a:tblGrid>
              <a:tr h="375984">
                <a:tc>
                  <a:txBody>
                    <a:bodyPr/>
                    <a:lstStyle/>
                    <a:p>
                      <a:pPr>
                        <a:buNone/>
                      </a:pPr>
                      <a:r>
                        <a:rPr lang="en-US" sz="1900" b="1"/>
                        <a:t>Cloud Model</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Who Patches?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b="1"/>
                        <a:t>Scope of Responsibility</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0980517"/>
                  </a:ext>
                </a:extLst>
              </a:tr>
              <a:tr h="945071">
                <a:tc>
                  <a:txBody>
                    <a:bodyPr/>
                    <a:lstStyle/>
                    <a:p>
                      <a:pPr>
                        <a:buNone/>
                      </a:pPr>
                      <a:r>
                        <a:rPr lang="en-US" sz="1900" b="1"/>
                        <a:t>SaaS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CSP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a:t>CSP patches infrastructure, OS, and applications delivering the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0443739"/>
                  </a:ext>
                </a:extLst>
              </a:tr>
              <a:tr h="945071">
                <a:tc>
                  <a:txBody>
                    <a:bodyPr/>
                    <a:lstStyle/>
                    <a:p>
                      <a:pPr>
                        <a:buNone/>
                      </a:pPr>
                      <a:r>
                        <a:rPr lang="en-US" sz="1900" b="1"/>
                        <a:t>PaaS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a:t>Shared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a:t>CSP patches platform; customer patches their deployed 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579656"/>
                  </a:ext>
                </a:extLst>
              </a:tr>
              <a:tr h="945071">
                <a:tc>
                  <a:txBody>
                    <a:bodyPr/>
                    <a:lstStyle/>
                    <a:p>
                      <a:pPr>
                        <a:buNone/>
                      </a:pPr>
                      <a:r>
                        <a:rPr lang="en-US" sz="1900" b="1"/>
                        <a:t>IaaS</a:t>
                      </a:r>
                      <a:endParaRPr lang="en-US" sz="19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900" dirty="0"/>
                        <a:t>Customer patches entire software stack (OS, middleware, apps,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509156"/>
                  </a:ext>
                </a:extLst>
              </a:tr>
            </a:tbl>
          </a:graphicData>
        </a:graphic>
      </p:graphicFrame>
    </p:spTree>
    <p:extLst>
      <p:ext uri="{BB962C8B-B14F-4D97-AF65-F5344CB8AC3E}">
        <p14:creationId xmlns:p14="http://schemas.microsoft.com/office/powerpoint/2010/main" val="31287970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9CD8D-0FCA-50BA-A7F0-0D75B8098B34}"/>
              </a:ext>
            </a:extLst>
          </p:cNvPr>
          <p:cNvSpPr>
            <a:spLocks noGrp="1"/>
          </p:cNvSpPr>
          <p:nvPr>
            <p:ph type="title"/>
          </p:nvPr>
        </p:nvSpPr>
        <p:spPr/>
        <p:txBody>
          <a:bodyPr/>
          <a:lstStyle/>
          <a:p>
            <a:r>
              <a:rPr lang="en-US" dirty="0"/>
              <a:t>Security Patch Management</a:t>
            </a:r>
          </a:p>
        </p:txBody>
      </p:sp>
      <p:sp>
        <p:nvSpPr>
          <p:cNvPr id="3" name="Text Placeholder 2">
            <a:extLst>
              <a:ext uri="{FF2B5EF4-FFF2-40B4-BE49-F238E27FC236}">
                <a16:creationId xmlns:a16="http://schemas.microsoft.com/office/drawing/2014/main" id="{EACA839C-AB9A-1444-2505-F426E12D3176}"/>
              </a:ext>
            </a:extLst>
          </p:cNvPr>
          <p:cNvSpPr>
            <a:spLocks noGrp="1"/>
          </p:cNvSpPr>
          <p:nvPr>
            <p:ph type="body" idx="1"/>
          </p:nvPr>
        </p:nvSpPr>
        <p:spPr/>
        <p:txBody>
          <a:bodyPr/>
          <a:lstStyle/>
          <a:p>
            <a:pPr>
              <a:lnSpc>
                <a:spcPct val="150000"/>
              </a:lnSpc>
            </a:pPr>
            <a:r>
              <a:rPr lang="en-US" b="1" dirty="0"/>
              <a:t>Purpose —</a:t>
            </a:r>
            <a:r>
              <a:rPr lang="en-US" dirty="0"/>
              <a:t> Security patch management protects systems, network devices, and applications from exploitation of known vulnerabilities.</a:t>
            </a:r>
          </a:p>
          <a:p>
            <a:pPr>
              <a:lnSpc>
                <a:spcPct val="150000"/>
              </a:lnSpc>
            </a:pPr>
            <a:r>
              <a:rPr lang="en-US" b="1" dirty="0"/>
              <a:t>Process —</a:t>
            </a:r>
            <a:r>
              <a:rPr lang="en-US" dirty="0"/>
              <a:t> It follows a change management framework and works in coordination with the vulnerability management program.</a:t>
            </a:r>
          </a:p>
          <a:p>
            <a:pPr>
              <a:lnSpc>
                <a:spcPct val="150000"/>
              </a:lnSpc>
            </a:pPr>
            <a:r>
              <a:rPr lang="en-US" b="1" dirty="0"/>
              <a:t>Risk Reduction —</a:t>
            </a:r>
            <a:r>
              <a:rPr lang="en-US" dirty="0"/>
              <a:t> Regular patching helps mitigate both insider and outsider threats.</a:t>
            </a:r>
          </a:p>
          <a:p>
            <a:pPr>
              <a:lnSpc>
                <a:spcPct val="150000"/>
              </a:lnSpc>
            </a:pPr>
            <a:r>
              <a:rPr lang="en-US" b="1" dirty="0"/>
              <a:t>Provider Role —</a:t>
            </a:r>
            <a:r>
              <a:rPr lang="en-US" dirty="0"/>
              <a:t> In SaaS, the service provider handles all patching of firmware and software used to deliver the service.</a:t>
            </a:r>
          </a:p>
          <a:p>
            <a:pPr>
              <a:lnSpc>
                <a:spcPct val="150000"/>
              </a:lnSpc>
            </a:pPr>
            <a:r>
              <a:rPr lang="en-US" b="1" dirty="0"/>
              <a:t>Customer Responsibility —</a:t>
            </a:r>
            <a:r>
              <a:rPr lang="en-US" dirty="0"/>
              <a:t> In PaaS and IaaS, customers are responsible for patching their applications (PaaS) and the entire software stack (IaaS).</a:t>
            </a:r>
          </a:p>
          <a:p>
            <a:endParaRPr lang="en-US" dirty="0"/>
          </a:p>
        </p:txBody>
      </p:sp>
    </p:spTree>
    <p:extLst>
      <p:ext uri="{BB962C8B-B14F-4D97-AF65-F5344CB8AC3E}">
        <p14:creationId xmlns:p14="http://schemas.microsoft.com/office/powerpoint/2010/main" val="1957976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20F9-FAD9-C868-6098-5C8ACBD5A4F8}"/>
              </a:ext>
            </a:extLst>
          </p:cNvPr>
          <p:cNvSpPr>
            <a:spLocks noGrp="1"/>
          </p:cNvSpPr>
          <p:nvPr>
            <p:ph type="title"/>
          </p:nvPr>
        </p:nvSpPr>
        <p:spPr/>
        <p:txBody>
          <a:bodyPr/>
          <a:lstStyle/>
          <a:p>
            <a:r>
              <a:rPr lang="en-US" dirty="0"/>
              <a:t>Steps:</a:t>
            </a:r>
          </a:p>
        </p:txBody>
      </p:sp>
      <p:sp>
        <p:nvSpPr>
          <p:cNvPr id="4" name="Rectangle 1">
            <a:extLst>
              <a:ext uri="{FF2B5EF4-FFF2-40B4-BE49-F238E27FC236}">
                <a16:creationId xmlns:a16="http://schemas.microsoft.com/office/drawing/2014/main" id="{D63024BD-CA64-9D6B-5FCD-D2DA2C44AE19}"/>
              </a:ext>
            </a:extLst>
          </p:cNvPr>
          <p:cNvSpPr>
            <a:spLocks noGrp="1" noChangeArrowheads="1"/>
          </p:cNvSpPr>
          <p:nvPr>
            <p:ph type="body" idx="1"/>
          </p:nvPr>
        </p:nvSpPr>
        <p:spPr bwMode="auto">
          <a:xfrm>
            <a:off x="415600" y="2118773"/>
            <a:ext cx="109737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Identify</a:t>
            </a:r>
            <a:r>
              <a:rPr kumimoji="0" lang="en-US" altLang="en-US" sz="1800" b="0" i="0" u="none" strike="noStrike" cap="none" normalizeH="0" baseline="0" dirty="0">
                <a:ln>
                  <a:noFill/>
                </a:ln>
                <a:solidFill>
                  <a:schemeClr val="tx1"/>
                </a:solidFill>
                <a:effectLst/>
                <a:latin typeface="Arial" panose="020B0604020202020204" pitchFamily="34" charset="0"/>
              </a:rPr>
              <a:t> – Detect systems and applications that need updates.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Evaluate</a:t>
            </a:r>
            <a:r>
              <a:rPr kumimoji="0" lang="en-US" altLang="en-US" sz="1800" b="0" i="0" u="none" strike="noStrike" cap="none" normalizeH="0" baseline="0" dirty="0">
                <a:ln>
                  <a:noFill/>
                </a:ln>
                <a:solidFill>
                  <a:schemeClr val="tx1"/>
                </a:solidFill>
                <a:effectLst/>
                <a:latin typeface="Arial" panose="020B0604020202020204" pitchFamily="34" charset="0"/>
              </a:rPr>
              <a:t> – Assess the importance or severity of each patch (e.g., critical security patch).</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Test</a:t>
            </a:r>
            <a:r>
              <a:rPr kumimoji="0" lang="en-US" altLang="en-US" sz="1800" b="0" i="0" u="none" strike="noStrike" cap="none" normalizeH="0" baseline="0" dirty="0">
                <a:ln>
                  <a:noFill/>
                </a:ln>
                <a:solidFill>
                  <a:schemeClr val="tx1"/>
                </a:solidFill>
                <a:effectLst/>
                <a:latin typeface="Arial" panose="020B0604020202020204" pitchFamily="34" charset="0"/>
              </a:rPr>
              <a:t> – Check patch compatibility in a controlled environment before deployment.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Deploy</a:t>
            </a:r>
            <a:r>
              <a:rPr kumimoji="0" lang="en-US" altLang="en-US" sz="1800" b="0" i="0" u="none" strike="noStrike" cap="none" normalizeH="0" baseline="0" dirty="0">
                <a:ln>
                  <a:noFill/>
                </a:ln>
                <a:solidFill>
                  <a:schemeClr val="tx1"/>
                </a:solidFill>
                <a:effectLst/>
                <a:latin typeface="Arial" panose="020B0604020202020204" pitchFamily="34" charset="0"/>
              </a:rPr>
              <a:t> – Install the patch across systems and applications.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Verify</a:t>
            </a:r>
            <a:r>
              <a:rPr kumimoji="0" lang="en-US" altLang="en-US" sz="1800" b="0" i="0" u="none" strike="noStrike" cap="none" normalizeH="0" baseline="0" dirty="0">
                <a:ln>
                  <a:noFill/>
                </a:ln>
                <a:solidFill>
                  <a:schemeClr val="tx1"/>
                </a:solidFill>
                <a:effectLst/>
                <a:latin typeface="Arial" panose="020B0604020202020204" pitchFamily="34" charset="0"/>
              </a:rPr>
              <a:t> – Ensure patches are properly installed and systems function correctly.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a:t>
            </a:r>
            <a:r>
              <a:rPr kumimoji="0" lang="en-US" altLang="en-US" sz="1800" b="0" i="0" u="none" strike="noStrike" cap="none" normalizeH="0" baseline="0" dirty="0">
                <a:ln>
                  <a:noFill/>
                </a:ln>
                <a:solidFill>
                  <a:schemeClr val="tx1"/>
                </a:solidFill>
                <a:effectLst/>
                <a:latin typeface="Arial" panose="020B0604020202020204" pitchFamily="34" charset="0"/>
              </a:rPr>
              <a:t> – Record patching activities for compliance and future reference.</a:t>
            </a:r>
          </a:p>
        </p:txBody>
      </p:sp>
    </p:spTree>
    <p:extLst>
      <p:ext uri="{BB962C8B-B14F-4D97-AF65-F5344CB8AC3E}">
        <p14:creationId xmlns:p14="http://schemas.microsoft.com/office/powerpoint/2010/main" val="35758641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F3EB4-26B2-598F-C77A-3D6B8B13D8F4}"/>
              </a:ext>
            </a:extLst>
          </p:cNvPr>
          <p:cNvSpPr>
            <a:spLocks noGrp="1"/>
          </p:cNvSpPr>
          <p:nvPr>
            <p:ph type="title"/>
          </p:nvPr>
        </p:nvSpPr>
        <p:spPr/>
        <p:txBody>
          <a:bodyPr/>
          <a:lstStyle/>
          <a:p>
            <a:r>
              <a:rPr lang="en-US" dirty="0"/>
              <a:t>Security Configuration Management</a:t>
            </a:r>
          </a:p>
        </p:txBody>
      </p:sp>
      <p:sp>
        <p:nvSpPr>
          <p:cNvPr id="3" name="Text Placeholder 2">
            <a:extLst>
              <a:ext uri="{FF2B5EF4-FFF2-40B4-BE49-F238E27FC236}">
                <a16:creationId xmlns:a16="http://schemas.microsoft.com/office/drawing/2014/main" id="{2A1BE6FC-2A2F-E74D-5E3E-270CAE1DAB7F}"/>
              </a:ext>
            </a:extLst>
          </p:cNvPr>
          <p:cNvSpPr>
            <a:spLocks noGrp="1"/>
          </p:cNvSpPr>
          <p:nvPr>
            <p:ph type="body" idx="1"/>
          </p:nvPr>
        </p:nvSpPr>
        <p:spPr/>
        <p:txBody>
          <a:bodyPr/>
          <a:lstStyle/>
          <a:p>
            <a:pPr algn="just">
              <a:lnSpc>
                <a:spcPct val="200000"/>
              </a:lnSpc>
            </a:pPr>
            <a:r>
              <a:rPr lang="en-US" dirty="0"/>
              <a:t>It protects </a:t>
            </a:r>
            <a:r>
              <a:rPr lang="en-US" b="1" dirty="0">
                <a:solidFill>
                  <a:srgbClr val="FF0000"/>
                </a:solidFill>
              </a:rPr>
              <a:t>hosts, network devices, and applications </a:t>
            </a:r>
            <a:r>
              <a:rPr lang="en-US" dirty="0"/>
              <a:t>from attacks exploiting configuration weaknesses.</a:t>
            </a:r>
          </a:p>
          <a:p>
            <a:pPr algn="just">
              <a:lnSpc>
                <a:spcPct val="200000"/>
              </a:lnSpc>
            </a:pPr>
            <a:r>
              <a:rPr lang="en-US" dirty="0"/>
              <a:t>It is closely linked to vulnerability management and forms part of overall IT configuration management.</a:t>
            </a:r>
          </a:p>
          <a:p>
            <a:pPr algn="just">
              <a:lnSpc>
                <a:spcPct val="200000"/>
              </a:lnSpc>
            </a:pPr>
            <a:r>
              <a:rPr lang="en-US" dirty="0"/>
              <a:t>Involves securing and monitoring system, network, and application configurations, including OS, firewall, and storage settings.</a:t>
            </a:r>
          </a:p>
          <a:p>
            <a:pPr algn="just">
              <a:lnSpc>
                <a:spcPct val="200000"/>
              </a:lnSpc>
            </a:pPr>
            <a:r>
              <a:rPr lang="en-US" dirty="0"/>
              <a:t>In SaaS and PaaS, the service provider manages configuration security of the underlying platform.</a:t>
            </a:r>
          </a:p>
          <a:p>
            <a:pPr algn="just">
              <a:lnSpc>
                <a:spcPct val="200000"/>
              </a:lnSpc>
            </a:pPr>
            <a:r>
              <a:rPr lang="en-US" dirty="0"/>
              <a:t>In IaaS, customers must secure and manage configurations of their operating systems, databases, and applications.</a:t>
            </a:r>
          </a:p>
          <a:p>
            <a:endParaRPr lang="en-US" dirty="0"/>
          </a:p>
        </p:txBody>
      </p:sp>
    </p:spTree>
    <p:extLst>
      <p:ext uri="{BB962C8B-B14F-4D97-AF65-F5344CB8AC3E}">
        <p14:creationId xmlns:p14="http://schemas.microsoft.com/office/powerpoint/2010/main" val="2066212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BDAC4-0F1A-AD1E-17EF-C3ED7EFD3041}"/>
              </a:ext>
            </a:extLst>
          </p:cNvPr>
          <p:cNvSpPr>
            <a:spLocks noGrp="1"/>
          </p:cNvSpPr>
          <p:nvPr>
            <p:ph type="title"/>
          </p:nvPr>
        </p:nvSpPr>
        <p:spPr/>
        <p:txBody>
          <a:bodyPr/>
          <a:lstStyle/>
          <a:p>
            <a:r>
              <a:rPr lang="en-US" dirty="0"/>
              <a:t>SaaS VPC Management</a:t>
            </a:r>
          </a:p>
        </p:txBody>
      </p:sp>
      <p:sp>
        <p:nvSpPr>
          <p:cNvPr id="3" name="Text Placeholder 2">
            <a:extLst>
              <a:ext uri="{FF2B5EF4-FFF2-40B4-BE49-F238E27FC236}">
                <a16:creationId xmlns:a16="http://schemas.microsoft.com/office/drawing/2014/main" id="{42B75D7E-E21B-9FCB-81DF-7248AF0DA2CE}"/>
              </a:ext>
            </a:extLst>
          </p:cNvPr>
          <p:cNvSpPr>
            <a:spLocks noGrp="1"/>
          </p:cNvSpPr>
          <p:nvPr>
            <p:ph type="body" idx="1"/>
          </p:nvPr>
        </p:nvSpPr>
        <p:spPr/>
        <p:txBody>
          <a:bodyPr/>
          <a:lstStyle/>
          <a:p>
            <a:pPr algn="just">
              <a:lnSpc>
                <a:spcPct val="150000"/>
              </a:lnSpc>
            </a:pPr>
            <a:r>
              <a:rPr lang="en-US" dirty="0"/>
              <a:t>SaaS VPC management covers </a:t>
            </a:r>
            <a:r>
              <a:rPr lang="en-US" b="1" dirty="0">
                <a:solidFill>
                  <a:srgbClr val="FF0000"/>
                </a:solidFill>
              </a:rPr>
              <a:t>vulnerability management, security patching, and system configuration </a:t>
            </a:r>
            <a:r>
              <a:rPr lang="en-US" dirty="0"/>
              <a:t>for both CSP-managed and customer-connected infrastructures.</a:t>
            </a:r>
          </a:p>
          <a:p>
            <a:pPr algn="just">
              <a:lnSpc>
                <a:spcPct val="150000"/>
              </a:lnSpc>
            </a:pPr>
            <a:r>
              <a:rPr lang="en-US" dirty="0"/>
              <a:t>Since SaaS applications are accessed over the Internet via browsers, securing user endpoints is critical.</a:t>
            </a:r>
          </a:p>
          <a:p>
            <a:pPr algn="just">
              <a:lnSpc>
                <a:spcPct val="150000"/>
              </a:lnSpc>
            </a:pPr>
            <a:r>
              <a:rPr lang="en-US" dirty="0"/>
              <a:t>The VPC management program </a:t>
            </a:r>
            <a:r>
              <a:rPr lang="en-US" dirty="0">
                <a:solidFill>
                  <a:srgbClr val="FF0000"/>
                </a:solidFill>
              </a:rPr>
              <a:t>must include endpoint security requirements tailored to the organization’s environment.</a:t>
            </a:r>
          </a:p>
          <a:p>
            <a:pPr algn="just">
              <a:lnSpc>
                <a:spcPct val="150000"/>
              </a:lnSpc>
            </a:pPr>
            <a:r>
              <a:rPr lang="en-US" dirty="0"/>
              <a:t>Companies typically </a:t>
            </a:r>
            <a:r>
              <a:rPr lang="en-US" dirty="0">
                <a:solidFill>
                  <a:srgbClr val="FF0000"/>
                </a:solidFill>
              </a:rPr>
              <a:t>maintain standard OS images for employee computers </a:t>
            </a:r>
            <a:r>
              <a:rPr lang="en-US" dirty="0"/>
              <a:t>to ensure consistent security configurations.</a:t>
            </a:r>
          </a:p>
          <a:p>
            <a:pPr algn="just">
              <a:lnSpc>
                <a:spcPct val="150000"/>
              </a:lnSpc>
            </a:pPr>
            <a:r>
              <a:rPr lang="en-US" dirty="0"/>
              <a:t>Standard </a:t>
            </a:r>
            <a:r>
              <a:rPr lang="en-US" dirty="0">
                <a:solidFill>
                  <a:srgbClr val="FF0000"/>
                </a:solidFill>
              </a:rPr>
              <a:t>OS images usually include antivirus, anti-malware, firewall, and centralized automatic patch management.</a:t>
            </a:r>
          </a:p>
        </p:txBody>
      </p:sp>
    </p:spTree>
    <p:extLst>
      <p:ext uri="{BB962C8B-B14F-4D97-AF65-F5344CB8AC3E}">
        <p14:creationId xmlns:p14="http://schemas.microsoft.com/office/powerpoint/2010/main" val="22674657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50AA-BE68-F013-0713-55A3D5BCD380}"/>
              </a:ext>
            </a:extLst>
          </p:cNvPr>
          <p:cNvSpPr>
            <a:spLocks noGrp="1"/>
          </p:cNvSpPr>
          <p:nvPr>
            <p:ph type="title"/>
          </p:nvPr>
        </p:nvSpPr>
        <p:spPr/>
        <p:txBody>
          <a:bodyPr>
            <a:normAutofit fontScale="90000"/>
          </a:bodyPr>
          <a:lstStyle/>
          <a:p>
            <a:r>
              <a:rPr lang="en-US" b="1" dirty="0"/>
              <a:t>PaaS VPC Management</a:t>
            </a:r>
            <a:br>
              <a:rPr lang="en-US" b="1" dirty="0"/>
            </a:br>
            <a:endParaRPr lang="en-US" dirty="0"/>
          </a:p>
        </p:txBody>
      </p:sp>
      <p:sp>
        <p:nvSpPr>
          <p:cNvPr id="3" name="Text Placeholder 2">
            <a:extLst>
              <a:ext uri="{FF2B5EF4-FFF2-40B4-BE49-F238E27FC236}">
                <a16:creationId xmlns:a16="http://schemas.microsoft.com/office/drawing/2014/main" id="{734EC27F-9968-1B1D-ECD6-88EAEE007FD8}"/>
              </a:ext>
            </a:extLst>
          </p:cNvPr>
          <p:cNvSpPr>
            <a:spLocks noGrp="1"/>
          </p:cNvSpPr>
          <p:nvPr>
            <p:ph type="body" idx="1"/>
          </p:nvPr>
        </p:nvSpPr>
        <p:spPr/>
        <p:txBody>
          <a:bodyPr/>
          <a:lstStyle/>
          <a:p>
            <a:pPr>
              <a:lnSpc>
                <a:spcPct val="150000"/>
              </a:lnSpc>
            </a:pPr>
            <a:r>
              <a:rPr lang="en-US" dirty="0"/>
              <a:t>Focuses on </a:t>
            </a:r>
            <a:r>
              <a:rPr lang="en-US" dirty="0">
                <a:solidFill>
                  <a:srgbClr val="FF0000"/>
                </a:solidFill>
              </a:rPr>
              <a:t>managing vulnerabilities, patching, and configurations in both CSP-managed and customer infrastructures.</a:t>
            </a:r>
          </a:p>
          <a:p>
            <a:pPr>
              <a:lnSpc>
                <a:spcPct val="150000"/>
              </a:lnSpc>
            </a:pPr>
            <a:r>
              <a:rPr lang="en-US" dirty="0"/>
              <a:t>Includes endpoint devices </a:t>
            </a:r>
            <a:r>
              <a:rPr lang="en-US" dirty="0">
                <a:solidFill>
                  <a:srgbClr val="FF0000"/>
                </a:solidFill>
              </a:rPr>
              <a:t>like PCs, virtual desktops, and mobiles that access the PaaS service</a:t>
            </a:r>
            <a:r>
              <a:rPr lang="en-US" dirty="0"/>
              <a:t>.</a:t>
            </a:r>
          </a:p>
          <a:p>
            <a:pPr>
              <a:lnSpc>
                <a:spcPct val="150000"/>
              </a:lnSpc>
            </a:pPr>
            <a:r>
              <a:rPr lang="en-US" dirty="0"/>
              <a:t>The VPC management program should include endpoint protection measures.</a:t>
            </a:r>
          </a:p>
          <a:p>
            <a:pPr>
              <a:lnSpc>
                <a:spcPct val="150000"/>
              </a:lnSpc>
            </a:pPr>
            <a:endParaRPr lang="en-US" dirty="0"/>
          </a:p>
          <a:p>
            <a:pPr marL="152396" indent="0">
              <a:lnSpc>
                <a:spcPct val="150000"/>
              </a:lnSpc>
              <a:buNone/>
            </a:pPr>
            <a:r>
              <a:rPr lang="en-US" b="1" dirty="0"/>
              <a:t>PaaS Provider Responsibilities</a:t>
            </a:r>
          </a:p>
          <a:p>
            <a:pPr>
              <a:lnSpc>
                <a:spcPct val="150000"/>
              </a:lnSpc>
            </a:pPr>
            <a:r>
              <a:rPr lang="en-US" dirty="0"/>
              <a:t>The PaaS provider (CSP) manages VPC for </a:t>
            </a:r>
            <a:r>
              <a:rPr lang="en-US" dirty="0">
                <a:solidFill>
                  <a:srgbClr val="FF0000"/>
                </a:solidFill>
              </a:rPr>
              <a:t>infrastructure operated by them and by third-party services they depend on.</a:t>
            </a:r>
          </a:p>
          <a:p>
            <a:pPr>
              <a:lnSpc>
                <a:spcPct val="150000"/>
              </a:lnSpc>
            </a:pPr>
            <a:r>
              <a:rPr lang="en-US" dirty="0"/>
              <a:t>Responsibilities are similar to those of a SaaS provider.</a:t>
            </a:r>
          </a:p>
          <a:p>
            <a:endParaRPr lang="en-US" dirty="0"/>
          </a:p>
        </p:txBody>
      </p:sp>
    </p:spTree>
    <p:extLst>
      <p:ext uri="{BB962C8B-B14F-4D97-AF65-F5344CB8AC3E}">
        <p14:creationId xmlns:p14="http://schemas.microsoft.com/office/powerpoint/2010/main" val="3105160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A0D66E-28E1-E363-C1BA-AEC4B005F2AD}"/>
              </a:ext>
            </a:extLst>
          </p:cNvPr>
          <p:cNvSpPr>
            <a:spLocks noGrp="1"/>
          </p:cNvSpPr>
          <p:nvPr>
            <p:ph type="body" idx="1"/>
          </p:nvPr>
        </p:nvSpPr>
        <p:spPr>
          <a:xfrm>
            <a:off x="415600" y="355600"/>
            <a:ext cx="11360800" cy="5736133"/>
          </a:xfrm>
        </p:spPr>
        <p:txBody>
          <a:bodyPr>
            <a:normAutofit/>
          </a:bodyPr>
          <a:lstStyle/>
          <a:p>
            <a:pPr marL="152396" indent="0">
              <a:lnSpc>
                <a:spcPct val="200000"/>
              </a:lnSpc>
              <a:buNone/>
            </a:pPr>
            <a:r>
              <a:rPr lang="en-US" b="1" dirty="0"/>
              <a:t>PaaS Customer Responsibilities</a:t>
            </a:r>
          </a:p>
          <a:p>
            <a:pPr>
              <a:lnSpc>
                <a:spcPct val="200000"/>
              </a:lnSpc>
            </a:pPr>
            <a:r>
              <a:rPr lang="en-US" dirty="0"/>
              <a:t>Customers manage </a:t>
            </a:r>
            <a:r>
              <a:rPr lang="en-US" b="1" dirty="0">
                <a:solidFill>
                  <a:srgbClr val="FF0000"/>
                </a:solidFill>
              </a:rPr>
              <a:t>VPC for their own applications deployed on the PaaS platform.</a:t>
            </a:r>
          </a:p>
          <a:p>
            <a:pPr>
              <a:lnSpc>
                <a:spcPct val="200000"/>
              </a:lnSpc>
            </a:pPr>
            <a:r>
              <a:rPr lang="en-US" dirty="0"/>
              <a:t>Must handle </a:t>
            </a:r>
            <a:r>
              <a:rPr lang="en-US" dirty="0">
                <a:solidFill>
                  <a:srgbClr val="FF0000"/>
                </a:solidFill>
              </a:rPr>
              <a:t>vulnerabilities or configuration weaknesses in their applications</a:t>
            </a:r>
            <a:r>
              <a:rPr lang="en-US" dirty="0"/>
              <a:t>.</a:t>
            </a:r>
          </a:p>
          <a:p>
            <a:pPr>
              <a:lnSpc>
                <a:spcPct val="200000"/>
              </a:lnSpc>
            </a:pPr>
            <a:r>
              <a:rPr lang="en-US" dirty="0"/>
              <a:t>Treat PaaS applications like </a:t>
            </a:r>
            <a:r>
              <a:rPr lang="en-US" b="1" dirty="0">
                <a:solidFill>
                  <a:srgbClr val="FF0000"/>
                </a:solidFill>
              </a:rPr>
              <a:t>standard apps in a private data center</a:t>
            </a:r>
            <a:r>
              <a:rPr lang="en-US" dirty="0"/>
              <a:t>.</a:t>
            </a:r>
          </a:p>
          <a:p>
            <a:pPr>
              <a:lnSpc>
                <a:spcPct val="200000"/>
              </a:lnSpc>
            </a:pPr>
            <a:r>
              <a:rPr lang="en-US" dirty="0"/>
              <a:t>Vulnerabilities can occur due to </a:t>
            </a:r>
            <a:r>
              <a:rPr lang="en-US" dirty="0">
                <a:solidFill>
                  <a:srgbClr val="FF0000"/>
                </a:solidFill>
              </a:rPr>
              <a:t>design flaws, coding errors, or poor authentication and privilege settings.</a:t>
            </a:r>
          </a:p>
          <a:p>
            <a:pPr>
              <a:lnSpc>
                <a:spcPct val="200000"/>
              </a:lnSpc>
            </a:pPr>
            <a:r>
              <a:rPr lang="en-US" dirty="0"/>
              <a:t>Third-party web services may also introduce vulnerabilities outside customer control.</a:t>
            </a:r>
          </a:p>
          <a:p>
            <a:pPr marL="152396" indent="0">
              <a:lnSpc>
                <a:spcPct val="200000"/>
              </a:lnSpc>
              <a:buNone/>
            </a:pPr>
            <a:r>
              <a:rPr lang="en-US" b="1" dirty="0"/>
              <a:t>Customer Actions for Security</a:t>
            </a:r>
          </a:p>
          <a:p>
            <a:pPr>
              <a:lnSpc>
                <a:spcPct val="200000"/>
              </a:lnSpc>
            </a:pPr>
            <a:r>
              <a:rPr lang="en-US" dirty="0"/>
              <a:t>Work with the </a:t>
            </a:r>
            <a:r>
              <a:rPr lang="en-US" dirty="0">
                <a:solidFill>
                  <a:srgbClr val="FF0000"/>
                </a:solidFill>
              </a:rPr>
              <a:t>PaaS vendor or third-party providers to fix vulnerabilities in applications.</a:t>
            </a:r>
          </a:p>
          <a:p>
            <a:pPr>
              <a:lnSpc>
                <a:spcPct val="200000"/>
              </a:lnSpc>
            </a:pPr>
            <a:r>
              <a:rPr lang="en-US" dirty="0"/>
              <a:t>Understand vendor policies, SLAs, and vulnerability disclosure methods.</a:t>
            </a:r>
          </a:p>
          <a:p>
            <a:pPr>
              <a:lnSpc>
                <a:spcPct val="200000"/>
              </a:lnSpc>
            </a:pPr>
            <a:r>
              <a:rPr lang="en-US" dirty="0"/>
              <a:t>Follow </a:t>
            </a:r>
            <a:r>
              <a:rPr lang="en-US" b="1" dirty="0"/>
              <a:t>Software Development Life Cycle (SDLC)</a:t>
            </a:r>
            <a:r>
              <a:rPr lang="en-US" dirty="0"/>
              <a:t> best practices to reduce risks.</a:t>
            </a:r>
          </a:p>
          <a:p>
            <a:endParaRPr lang="en-US" dirty="0"/>
          </a:p>
        </p:txBody>
      </p:sp>
    </p:spTree>
    <p:extLst>
      <p:ext uri="{BB962C8B-B14F-4D97-AF65-F5344CB8AC3E}">
        <p14:creationId xmlns:p14="http://schemas.microsoft.com/office/powerpoint/2010/main" val="27511489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0860E-D083-66B7-1DA8-236A678C36F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5424DA1-2ABD-DDF1-FAA4-E361B3AC4061}"/>
              </a:ext>
            </a:extLst>
          </p:cNvPr>
          <p:cNvSpPr>
            <a:spLocks noGrp="1"/>
          </p:cNvSpPr>
          <p:nvPr>
            <p:ph type="body" idx="1"/>
          </p:nvPr>
        </p:nvSpPr>
        <p:spPr/>
        <p:txBody>
          <a:bodyPr/>
          <a:lstStyle/>
          <a:p>
            <a:pPr marL="152396" indent="0">
              <a:lnSpc>
                <a:spcPct val="250000"/>
              </a:lnSpc>
              <a:buNone/>
            </a:pPr>
            <a:r>
              <a:rPr lang="en-US" b="1" dirty="0"/>
              <a:t>Standard Security Practices</a:t>
            </a:r>
          </a:p>
          <a:p>
            <a:pPr>
              <a:lnSpc>
                <a:spcPct val="250000"/>
              </a:lnSpc>
            </a:pPr>
            <a:r>
              <a:rPr lang="en-US" b="1" dirty="0"/>
              <a:t>White-box testing —</a:t>
            </a:r>
            <a:r>
              <a:rPr lang="en-US" dirty="0"/>
              <a:t> Analyze source code for issues like buffer overflows using tools (e.g., Ounce Labs, Fortify).</a:t>
            </a:r>
          </a:p>
          <a:p>
            <a:pPr>
              <a:lnSpc>
                <a:spcPct val="250000"/>
              </a:lnSpc>
            </a:pPr>
            <a:r>
              <a:rPr lang="en-US" b="1" dirty="0"/>
              <a:t>Black-box testing —</a:t>
            </a:r>
            <a:r>
              <a:rPr lang="en-US" dirty="0"/>
              <a:t> Test without source code to find issues like SQL injection, XSS, or cookie poisoning.</a:t>
            </a:r>
          </a:p>
          <a:p>
            <a:pPr>
              <a:lnSpc>
                <a:spcPct val="250000"/>
              </a:lnSpc>
            </a:pPr>
            <a:r>
              <a:rPr lang="en-US" b="1" dirty="0"/>
              <a:t>Penetration testing —</a:t>
            </a:r>
            <a:r>
              <a:rPr lang="en-US" dirty="0"/>
              <a:t> Simulate real attack scenarios with vendor approval to detect vulnerabilities.</a:t>
            </a:r>
          </a:p>
          <a:p>
            <a:pPr>
              <a:lnSpc>
                <a:spcPct val="250000"/>
              </a:lnSpc>
            </a:pPr>
            <a:r>
              <a:rPr lang="en-US" b="1" dirty="0"/>
              <a:t>Vulnerability alerts —</a:t>
            </a:r>
            <a:r>
              <a:rPr lang="en-US" dirty="0"/>
              <a:t> Stay updated on new risks through PaaS provider alerts, RSS feeds, or web portals.</a:t>
            </a:r>
          </a:p>
          <a:p>
            <a:endParaRPr lang="en-US" dirty="0"/>
          </a:p>
        </p:txBody>
      </p:sp>
    </p:spTree>
    <p:extLst>
      <p:ext uri="{BB962C8B-B14F-4D97-AF65-F5344CB8AC3E}">
        <p14:creationId xmlns:p14="http://schemas.microsoft.com/office/powerpoint/2010/main" val="17674666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14DF8-EE55-BFE1-57F5-7C07BDADF63E}"/>
              </a:ext>
            </a:extLst>
          </p:cNvPr>
          <p:cNvSpPr>
            <a:spLocks noGrp="1"/>
          </p:cNvSpPr>
          <p:nvPr>
            <p:ph type="title"/>
          </p:nvPr>
        </p:nvSpPr>
        <p:spPr/>
        <p:txBody>
          <a:bodyPr/>
          <a:lstStyle/>
          <a:p>
            <a:r>
              <a:rPr lang="en-US" b="1" dirty="0"/>
              <a:t>IaaS VPC Management</a:t>
            </a:r>
            <a:endParaRPr lang="en-US" dirty="0"/>
          </a:p>
        </p:txBody>
      </p:sp>
      <p:sp>
        <p:nvSpPr>
          <p:cNvPr id="3" name="Text Placeholder 2">
            <a:extLst>
              <a:ext uri="{FF2B5EF4-FFF2-40B4-BE49-F238E27FC236}">
                <a16:creationId xmlns:a16="http://schemas.microsoft.com/office/drawing/2014/main" id="{E5FE1B4C-19B9-C698-F12F-19B64B19A3FB}"/>
              </a:ext>
            </a:extLst>
          </p:cNvPr>
          <p:cNvSpPr>
            <a:spLocks noGrp="1"/>
          </p:cNvSpPr>
          <p:nvPr>
            <p:ph type="body" idx="1"/>
          </p:nvPr>
        </p:nvSpPr>
        <p:spPr/>
        <p:txBody>
          <a:bodyPr/>
          <a:lstStyle/>
          <a:p>
            <a:pPr>
              <a:lnSpc>
                <a:spcPct val="150000"/>
              </a:lnSpc>
            </a:pPr>
            <a:r>
              <a:rPr lang="en-US" dirty="0"/>
              <a:t>IaaS VPC management focuses on </a:t>
            </a:r>
            <a:r>
              <a:rPr lang="en-US" b="1" dirty="0">
                <a:solidFill>
                  <a:srgbClr val="FF0000"/>
                </a:solidFill>
              </a:rPr>
              <a:t>the CSP-managed infrastructure</a:t>
            </a:r>
            <a:r>
              <a:rPr lang="en-US" dirty="0"/>
              <a:t>, as well as the </a:t>
            </a:r>
            <a:r>
              <a:rPr lang="en-US" b="1" dirty="0">
                <a:solidFill>
                  <a:srgbClr val="FF0000"/>
                </a:solidFill>
              </a:rPr>
              <a:t>customer infrastructure interfacing with the IaaS service.</a:t>
            </a:r>
          </a:p>
          <a:p>
            <a:pPr>
              <a:lnSpc>
                <a:spcPct val="150000"/>
              </a:lnSpc>
            </a:pPr>
            <a:r>
              <a:rPr lang="en-US" dirty="0"/>
              <a:t> IaaS VPC management diverges from SaaS and PaaS in that the infrastructure delineation, network boundary between customers, and CSP infrastructure are blurred. </a:t>
            </a:r>
          </a:p>
          <a:p>
            <a:pPr>
              <a:lnSpc>
                <a:spcPct val="150000"/>
              </a:lnSpc>
            </a:pPr>
            <a:r>
              <a:rPr lang="en-US" dirty="0"/>
              <a:t>For each layer of infrastructure (network, host, storage), </a:t>
            </a:r>
            <a:r>
              <a:rPr lang="en-US" b="1" dirty="0">
                <a:solidFill>
                  <a:srgbClr val="FF0000"/>
                </a:solidFill>
              </a:rPr>
              <a:t>the customer and CSP have responsibilities in managing VPC in the respective layers from their perspective (i.</a:t>
            </a:r>
            <a:r>
              <a:rPr lang="en-US" dirty="0"/>
              <a:t>e., the CSP is responsible for the common CSP infrastructure available to all customers, and the customer is responsible for the virtual infrastructure available to the customer for the duration of use). </a:t>
            </a:r>
          </a:p>
          <a:p>
            <a:pPr>
              <a:lnSpc>
                <a:spcPct val="150000"/>
              </a:lnSpc>
            </a:pPr>
            <a:r>
              <a:rPr lang="en-US" dirty="0"/>
              <a:t>Hence, </a:t>
            </a:r>
            <a:r>
              <a:rPr lang="en-US" b="1" dirty="0">
                <a:solidFill>
                  <a:srgbClr val="FF0000"/>
                </a:solidFill>
              </a:rPr>
              <a:t>a VPC management program should address both the common and shared infrastructures.</a:t>
            </a:r>
          </a:p>
        </p:txBody>
      </p:sp>
    </p:spTree>
    <p:extLst>
      <p:ext uri="{BB962C8B-B14F-4D97-AF65-F5344CB8AC3E}">
        <p14:creationId xmlns:p14="http://schemas.microsoft.com/office/powerpoint/2010/main" val="42847666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3311-B31A-0313-BAAF-B4F8C5FB9099}"/>
              </a:ext>
            </a:extLst>
          </p:cNvPr>
          <p:cNvSpPr>
            <a:spLocks noGrp="1"/>
          </p:cNvSpPr>
          <p:nvPr>
            <p:ph type="title"/>
          </p:nvPr>
        </p:nvSpPr>
        <p:spPr/>
        <p:txBody>
          <a:bodyPr/>
          <a:lstStyle/>
          <a:p>
            <a:r>
              <a:rPr lang="en-US" dirty="0"/>
              <a:t>IaaS provider responsibilities</a:t>
            </a:r>
          </a:p>
        </p:txBody>
      </p:sp>
      <p:sp>
        <p:nvSpPr>
          <p:cNvPr id="3" name="Text Placeholder 2">
            <a:extLst>
              <a:ext uri="{FF2B5EF4-FFF2-40B4-BE49-F238E27FC236}">
                <a16:creationId xmlns:a16="http://schemas.microsoft.com/office/drawing/2014/main" id="{19995B44-BDBE-C577-EAF9-B44898865F97}"/>
              </a:ext>
            </a:extLst>
          </p:cNvPr>
          <p:cNvSpPr>
            <a:spLocks noGrp="1"/>
          </p:cNvSpPr>
          <p:nvPr>
            <p:ph type="body" idx="1"/>
          </p:nvPr>
        </p:nvSpPr>
        <p:spPr/>
        <p:txBody>
          <a:bodyPr>
            <a:normAutofit lnSpcReduction="10000"/>
          </a:bodyPr>
          <a:lstStyle/>
          <a:p>
            <a:pPr algn="just">
              <a:lnSpc>
                <a:spcPct val="200000"/>
              </a:lnSpc>
            </a:pPr>
            <a:r>
              <a:rPr lang="en-US" dirty="0"/>
              <a:t>Scope — The IaaS CSP manages </a:t>
            </a:r>
            <a:r>
              <a:rPr lang="en-US" b="1" dirty="0">
                <a:solidFill>
                  <a:srgbClr val="FF0000"/>
                </a:solidFill>
              </a:rPr>
              <a:t>VPC for the infrastructure it owns and operates</a:t>
            </a:r>
            <a:r>
              <a:rPr lang="en-US" b="1" dirty="0"/>
              <a:t>.</a:t>
            </a:r>
          </a:p>
          <a:p>
            <a:pPr algn="just">
              <a:lnSpc>
                <a:spcPct val="200000"/>
              </a:lnSpc>
            </a:pPr>
            <a:r>
              <a:rPr lang="en-US" dirty="0"/>
              <a:t>Third-Party Reliance — The CSP is also responsible for VPC management of </a:t>
            </a:r>
            <a:r>
              <a:rPr lang="en-US" dirty="0">
                <a:solidFill>
                  <a:srgbClr val="FF0000"/>
                </a:solidFill>
              </a:rPr>
              <a:t>third-party systems and services it depends on.</a:t>
            </a:r>
          </a:p>
          <a:p>
            <a:pPr algn="just">
              <a:lnSpc>
                <a:spcPct val="200000"/>
              </a:lnSpc>
            </a:pPr>
            <a:r>
              <a:rPr lang="en-US" dirty="0"/>
              <a:t>Infrastructure Coverage — Includes systems, networks, hosts (hypervisors), storage, and applications under CSP control.</a:t>
            </a:r>
          </a:p>
          <a:p>
            <a:pPr algn="just">
              <a:lnSpc>
                <a:spcPct val="200000"/>
              </a:lnSpc>
            </a:pPr>
            <a:r>
              <a:rPr lang="en-US" dirty="0"/>
              <a:t>Management Tools — </a:t>
            </a:r>
            <a:r>
              <a:rPr lang="en-US" dirty="0">
                <a:solidFill>
                  <a:srgbClr val="FF0000"/>
                </a:solidFill>
              </a:rPr>
              <a:t>The web console </a:t>
            </a:r>
            <a:r>
              <a:rPr lang="en-US" dirty="0"/>
              <a:t>or </a:t>
            </a:r>
            <a:r>
              <a:rPr lang="en-US" b="1" dirty="0">
                <a:solidFill>
                  <a:srgbClr val="FF0000"/>
                </a:solidFill>
              </a:rPr>
              <a:t>management station </a:t>
            </a:r>
            <a:r>
              <a:rPr lang="en-US" dirty="0"/>
              <a:t>used by customers to </a:t>
            </a:r>
            <a:r>
              <a:rPr lang="en-US" b="1" dirty="0">
                <a:solidFill>
                  <a:srgbClr val="FF0000"/>
                </a:solidFill>
              </a:rPr>
              <a:t>control virtual infrastructure </a:t>
            </a:r>
            <a:r>
              <a:rPr lang="en-US" dirty="0"/>
              <a:t>is part of the VPC scope.</a:t>
            </a:r>
          </a:p>
          <a:p>
            <a:pPr algn="just">
              <a:lnSpc>
                <a:spcPct val="200000"/>
              </a:lnSpc>
            </a:pPr>
            <a:r>
              <a:rPr lang="en-US" dirty="0"/>
              <a:t>Employee Devices — CSP must secure personal computers and devices used by its employees and contractors.</a:t>
            </a:r>
          </a:p>
        </p:txBody>
      </p:sp>
    </p:spTree>
    <p:extLst>
      <p:ext uri="{BB962C8B-B14F-4D97-AF65-F5344CB8AC3E}">
        <p14:creationId xmlns:p14="http://schemas.microsoft.com/office/powerpoint/2010/main" val="2128314351"/>
      </p:ext>
    </p:extLst>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26056</TotalTime>
  <Words>6590</Words>
  <Application>Microsoft Office PowerPoint</Application>
  <PresentationFormat>Widescreen</PresentationFormat>
  <Paragraphs>497</Paragraphs>
  <Slides>78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78</vt:i4>
      </vt:variant>
    </vt:vector>
  </HeadingPairs>
  <TitlesOfParts>
    <vt:vector size="86" baseType="lpstr">
      <vt:lpstr>Arial</vt:lpstr>
      <vt:lpstr>Calibri</vt:lpstr>
      <vt:lpstr>ITCBaileyQuadCom-Bold</vt:lpstr>
      <vt:lpstr>MeridienLTStd-Italic</vt:lpstr>
      <vt:lpstr>MeridienLTStd-Roman</vt:lpstr>
      <vt:lpstr>Old Standard TT</vt:lpstr>
      <vt:lpstr>Times New Roman</vt:lpstr>
      <vt:lpstr>Paperback</vt:lpstr>
      <vt:lpstr>   Module-4</vt:lpstr>
      <vt:lpstr>Security Management in the Cloud</vt:lpstr>
      <vt:lpstr>PowerPoint Presentation</vt:lpstr>
      <vt:lpstr>USER -Responsibility</vt:lpstr>
      <vt:lpstr>Security management and monitoring scope</vt:lpstr>
      <vt:lpstr>Cloud Security Management and ITIL Framework </vt:lpstr>
      <vt:lpstr>Role of Security Management Frameworks </vt:lpstr>
      <vt:lpstr>ITIL and Continuous Service Improvement </vt:lpstr>
      <vt:lpstr>Goals of the ITIL Security Management Framework </vt:lpstr>
      <vt:lpstr>The ITIL life cycle in an enterprise</vt:lpstr>
      <vt:lpstr>PowerPoint Presentation</vt:lpstr>
      <vt:lpstr>PowerPoint Presentation</vt:lpstr>
      <vt:lpstr>PowerPoint Presentation</vt:lpstr>
      <vt:lpstr>Security Management Standards</vt:lpstr>
      <vt:lpstr>ITIL (Information Technology Infrastructure Library) </vt:lpstr>
      <vt:lpstr>PowerPoint Presentation</vt:lpstr>
      <vt:lpstr>PowerPoint Presentation</vt:lpstr>
      <vt:lpstr>ISO/IEC 27001 – Information Security Management System (ISMS)</vt:lpstr>
      <vt:lpstr>PowerPoint Presentation</vt:lpstr>
      <vt:lpstr>Security Management in the Cloud </vt:lpstr>
      <vt:lpstr>Availability management (ITIL) </vt:lpstr>
      <vt:lpstr>Availability management (ITIL) </vt:lpstr>
      <vt:lpstr>PowerPoint Presentation</vt:lpstr>
      <vt:lpstr>Factors Impacting Availability</vt:lpstr>
      <vt:lpstr>PowerPoint Presentation</vt:lpstr>
      <vt:lpstr>SaaS Availability Management</vt:lpstr>
      <vt:lpstr>SaaS Health Monitoring </vt:lpstr>
      <vt:lpstr>PowerPoint Presentation</vt:lpstr>
      <vt:lpstr>PowerPoint Presentation</vt:lpstr>
      <vt:lpstr>What an RSS item looks like (example)</vt:lpstr>
      <vt:lpstr>PaaS Availability Management</vt:lpstr>
      <vt:lpstr>PowerPoint Presentation</vt:lpstr>
      <vt:lpstr>PowerPoint Presentation</vt:lpstr>
      <vt:lpstr>Example:</vt:lpstr>
      <vt:lpstr>PaaS Quotas &amp; Service Levels</vt:lpstr>
      <vt:lpstr>PowerPoint Presentation</vt:lpstr>
      <vt:lpstr>PowerPoint Presentation</vt:lpstr>
      <vt:lpstr>Customer Responsibility</vt:lpstr>
      <vt:lpstr>PowerPoint Presentation</vt:lpstr>
      <vt:lpstr>PaaS Health Monitoring</vt:lpstr>
      <vt:lpstr>IaaS Availability Management</vt:lpstr>
      <vt:lpstr>Managing IaaS virtual infrastructure in the cloud depends on five factors:</vt:lpstr>
      <vt:lpstr>PowerPoint Presentation</vt:lpstr>
      <vt:lpstr>IaaS Health Monitoring</vt:lpstr>
      <vt:lpstr>Access Control</vt:lpstr>
      <vt:lpstr>Access Control in the Cloud:</vt:lpstr>
      <vt:lpstr>PowerPoint Presentation</vt:lpstr>
      <vt:lpstr>PowerPoint Presentation</vt:lpstr>
      <vt:lpstr>PowerPoint Presentation</vt:lpstr>
      <vt:lpstr>Access Control: SaaS</vt:lpstr>
      <vt:lpstr>2. Focus on User Access Controls </vt:lpstr>
      <vt:lpstr>3. Combined Network and User Controls </vt:lpstr>
      <vt:lpstr>4. Inconsistent IAM Support </vt:lpstr>
      <vt:lpstr>5. Adoption of Standards by Leading Providers </vt:lpstr>
      <vt:lpstr>6. Customer and Enterprise Role </vt:lpstr>
      <vt:lpstr>Access Control: PaaS  </vt:lpstr>
      <vt:lpstr>PowerPoint Presentation</vt:lpstr>
      <vt:lpstr>Access Control: IaaS  </vt:lpstr>
      <vt:lpstr>CSP Infrastructure Access Control  </vt:lpstr>
      <vt:lpstr>Customer virtual infrastructure access control</vt:lpstr>
      <vt:lpstr>PowerPoint Presentation</vt:lpstr>
      <vt:lpstr>2. Virtual Server Access Control </vt:lpstr>
      <vt:lpstr>3.   Cloud Management Station </vt:lpstr>
      <vt:lpstr>PowerPoint Presentation</vt:lpstr>
      <vt:lpstr>PowerPoint Presentation</vt:lpstr>
      <vt:lpstr>Security Vulnerability, Patch, and Configuration Management</vt:lpstr>
      <vt:lpstr>PowerPoint Presentation</vt:lpstr>
      <vt:lpstr>Security Vulnerability Management</vt:lpstr>
      <vt:lpstr>Security Patch Management </vt:lpstr>
      <vt:lpstr>Security Patch Management</vt:lpstr>
      <vt:lpstr>Steps:</vt:lpstr>
      <vt:lpstr>Security Configuration Management</vt:lpstr>
      <vt:lpstr>SaaS VPC Management</vt:lpstr>
      <vt:lpstr>PaaS VPC Management </vt:lpstr>
      <vt:lpstr>PowerPoint Presentation</vt:lpstr>
      <vt:lpstr>PowerPoint Presentation</vt:lpstr>
      <vt:lpstr>IaaS VPC Management</vt:lpstr>
      <vt:lpstr>IaaS provider responsibilities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Harinakshi C</dc:creator>
  <cp:lastModifiedBy>Harinakshi C</cp:lastModifiedBy>
  <cp:revision>9</cp:revision>
  <dcterms:created xsi:type="dcterms:W3CDTF">2025-09-24T15:56:44Z</dcterms:created>
  <dcterms:modified xsi:type="dcterms:W3CDTF">2025-10-13T03:24:15Z</dcterms:modified>
</cp:coreProperties>
</file>